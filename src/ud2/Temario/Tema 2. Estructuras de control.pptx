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70" r:id="rId5"/>
    <p:sldId id="259" r:id="rId6"/>
    <p:sldId id="260" r:id="rId7"/>
    <p:sldId id="261" r:id="rId8"/>
    <p:sldId id="262" r:id="rId9"/>
    <p:sldId id="271" r:id="rId10"/>
    <p:sldId id="263" r:id="rId11"/>
    <p:sldId id="272" r:id="rId12"/>
    <p:sldId id="264" r:id="rId13"/>
    <p:sldId id="265" r:id="rId14"/>
    <p:sldId id="266" r:id="rId15"/>
    <p:sldId id="267" r:id="rId16"/>
    <p:sldId id="268" r:id="rId17"/>
    <p:sldId id="269" r:id="rId18"/>
  </p:sldIdLst>
  <p:sldSz cx="9144000" cy="5143500" type="screen16x9"/>
  <p:notesSz cx="6858000" cy="9144000"/>
  <p:embeddedFontLst>
    <p:embeddedFont>
      <p:font typeface="Roboto" panose="020000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601bf07c5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601bf07c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60437a118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60437a118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59552191-2469-09FA-FFB0-9020C5535FFF}"/>
            </a:ext>
          </a:extLst>
        </p:cNvPr>
        <p:cNvGrpSpPr/>
        <p:nvPr/>
      </p:nvGrpSpPr>
      <p:grpSpPr>
        <a:xfrm>
          <a:off x="0" y="0"/>
          <a:ext cx="0" cy="0"/>
          <a:chOff x="0" y="0"/>
          <a:chExt cx="0" cy="0"/>
        </a:xfrm>
      </p:grpSpPr>
      <p:sp>
        <p:nvSpPr>
          <p:cNvPr id="95" name="Google Shape;95;g60437a1184_0_1:notes">
            <a:extLst>
              <a:ext uri="{FF2B5EF4-FFF2-40B4-BE49-F238E27FC236}">
                <a16:creationId xmlns:a16="http://schemas.microsoft.com/office/drawing/2014/main" id="{D0ED8DB6-DF39-FBC3-E986-52E802B251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60437a1184_0_1:notes">
            <a:extLst>
              <a:ext uri="{FF2B5EF4-FFF2-40B4-BE49-F238E27FC236}">
                <a16:creationId xmlns:a16="http://schemas.microsoft.com/office/drawing/2014/main" id="{B3E45CD8-CA2F-90E9-AFB6-768DDDDDD1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9007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60437a1184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60437a118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60437a118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60437a118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60437a1184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60437a1184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60437a1184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60437a118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6CF9552C-3E60-FBB9-BD00-6E528507F42F}"/>
            </a:ext>
          </a:extLst>
        </p:cNvPr>
        <p:cNvGrpSpPr/>
        <p:nvPr/>
      </p:nvGrpSpPr>
      <p:grpSpPr>
        <a:xfrm>
          <a:off x="0" y="0"/>
          <a:ext cx="0" cy="0"/>
          <a:chOff x="0" y="0"/>
          <a:chExt cx="0" cy="0"/>
        </a:xfrm>
      </p:grpSpPr>
      <p:sp>
        <p:nvSpPr>
          <p:cNvPr id="122" name="Google Shape;122;g60437a1184_0_30:notes">
            <a:extLst>
              <a:ext uri="{FF2B5EF4-FFF2-40B4-BE49-F238E27FC236}">
                <a16:creationId xmlns:a16="http://schemas.microsoft.com/office/drawing/2014/main" id="{EC8DC6E6-C57F-07E9-4EFE-87963BE833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60437a1184_0_30:notes">
            <a:extLst>
              <a:ext uri="{FF2B5EF4-FFF2-40B4-BE49-F238E27FC236}">
                <a16:creationId xmlns:a16="http://schemas.microsoft.com/office/drawing/2014/main" id="{B151701C-BBBA-1661-0BB8-871C6CE2E7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5332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60437a1184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60437a118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1A4CFA4C-2A2E-A719-CE2F-5F162634656D}"/>
            </a:ext>
          </a:extLst>
        </p:cNvPr>
        <p:cNvGrpSpPr/>
        <p:nvPr/>
      </p:nvGrpSpPr>
      <p:grpSpPr>
        <a:xfrm>
          <a:off x="0" y="0"/>
          <a:ext cx="0" cy="0"/>
          <a:chOff x="0" y="0"/>
          <a:chExt cx="0" cy="0"/>
        </a:xfrm>
      </p:grpSpPr>
      <p:sp>
        <p:nvSpPr>
          <p:cNvPr id="128" name="Google Shape;128;g60437a1184_0_37:notes">
            <a:extLst>
              <a:ext uri="{FF2B5EF4-FFF2-40B4-BE49-F238E27FC236}">
                <a16:creationId xmlns:a16="http://schemas.microsoft.com/office/drawing/2014/main" id="{7F1852B0-0F53-D631-DC7A-AB9232050E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60437a1184_0_37:notes">
            <a:extLst>
              <a:ext uri="{FF2B5EF4-FFF2-40B4-BE49-F238E27FC236}">
                <a16:creationId xmlns:a16="http://schemas.microsoft.com/office/drawing/2014/main" id="{B7BCB1AE-9065-355B-358C-02C09498F4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84095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60437a1184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60437a1184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60437a1184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60437a1184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61653bbef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61653bbef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61653bbef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61653bbef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60437a1184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60437a1184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60437a1184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60437a1184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4497976"/>
            <a:ext cx="9144002" cy="645618"/>
            <a:chOff x="0" y="4497976"/>
            <a:chExt cx="9144002" cy="645618"/>
          </a:xfrm>
        </p:grpSpPr>
        <p:sp>
          <p:nvSpPr>
            <p:cNvPr id="30" name="Google Shape;30;p4"/>
            <p:cNvSpPr/>
            <p:nvPr/>
          </p:nvSpPr>
          <p:spPr>
            <a:xfrm>
              <a:off x="8154902" y="4499906"/>
              <a:ext cx="989100" cy="3918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73" y="4499906"/>
              <a:ext cx="989100" cy="3918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85" y="4499906"/>
              <a:ext cx="989100" cy="391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47" y="4497976"/>
              <a:ext cx="989100" cy="3936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
        <p:nvSpPr>
          <p:cNvPr id="38" name="Google Shape;38;p4"/>
          <p:cNvSpPr txBox="1"/>
          <p:nvPr/>
        </p:nvSpPr>
        <p:spPr>
          <a:xfrm>
            <a:off x="169525" y="4826500"/>
            <a:ext cx="3640800" cy="24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000">
                <a:solidFill>
                  <a:srgbClr val="CFE2F3"/>
                </a:solidFill>
                <a:latin typeface="Roboto"/>
                <a:ea typeface="Roboto"/>
                <a:cs typeface="Roboto"/>
                <a:sym typeface="Roboto"/>
              </a:rPr>
              <a:t>Profesor: Juan J. Gallego</a:t>
            </a:r>
            <a:endParaRPr sz="1000">
              <a:solidFill>
                <a:srgbClr val="CFE2F3"/>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1" name="Google Shape;41;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3" name="Google Shape;43;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6" name="Google Shape;46;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9" name="Google Shape;49;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50" name="Google Shape;50;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1"/>
        <p:cNvGrpSpPr/>
        <p:nvPr/>
      </p:nvGrpSpPr>
      <p:grpSpPr>
        <a:xfrm>
          <a:off x="0" y="0"/>
          <a:ext cx="0" cy="0"/>
          <a:chOff x="0" y="0"/>
          <a:chExt cx="0" cy="0"/>
        </a:xfrm>
      </p:grpSpPr>
      <p:grpSp>
        <p:nvGrpSpPr>
          <p:cNvPr id="52" name="Google Shape;52;p8"/>
          <p:cNvGrpSpPr/>
          <p:nvPr/>
        </p:nvGrpSpPr>
        <p:grpSpPr>
          <a:xfrm>
            <a:off x="6098378" y="5"/>
            <a:ext cx="3045625" cy="2030570"/>
            <a:chOff x="6098378" y="5"/>
            <a:chExt cx="3045625" cy="2030570"/>
          </a:xfrm>
        </p:grpSpPr>
        <p:sp>
          <p:nvSpPr>
            <p:cNvPr id="53" name="Google Shape;53;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58;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9" name="Google Shape;59;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0"/>
        <p:cNvGrpSpPr/>
        <p:nvPr/>
      </p:nvGrpSpPr>
      <p:grpSpPr>
        <a:xfrm>
          <a:off x="0" y="0"/>
          <a:ext cx="0" cy="0"/>
          <a:chOff x="0" y="0"/>
          <a:chExt cx="0" cy="0"/>
        </a:xfrm>
      </p:grpSpPr>
      <p:sp>
        <p:nvSpPr>
          <p:cNvPr id="61" name="Google Shape;61;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3" name="Google Shape;63;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4" name="Google Shape;64;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5" name="Google Shape;65;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6" name="Google Shape;66;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7"/>
        <p:cNvGrpSpPr/>
        <p:nvPr/>
      </p:nvGrpSpPr>
      <p:grpSpPr>
        <a:xfrm>
          <a:off x="0" y="0"/>
          <a:ext cx="0" cy="0"/>
          <a:chOff x="0" y="0"/>
          <a:chExt cx="0" cy="0"/>
        </a:xfrm>
      </p:grpSpPr>
      <p:sp>
        <p:nvSpPr>
          <p:cNvPr id="68" name="Google Shape;68;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9" name="Google Shape;69;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0"/>
        <p:cNvGrpSpPr/>
        <p:nvPr/>
      </p:nvGrpSpPr>
      <p:grpSpPr>
        <a:xfrm>
          <a:off x="0" y="0"/>
          <a:ext cx="0" cy="0"/>
          <a:chOff x="0" y="0"/>
          <a:chExt cx="0" cy="0"/>
        </a:xfrm>
      </p:grpSpPr>
      <p:grpSp>
        <p:nvGrpSpPr>
          <p:cNvPr id="71" name="Google Shape;71;p11"/>
          <p:cNvGrpSpPr/>
          <p:nvPr/>
        </p:nvGrpSpPr>
        <p:grpSpPr>
          <a:xfrm>
            <a:off x="6098378" y="5"/>
            <a:ext cx="3045625" cy="2030570"/>
            <a:chOff x="6098378" y="5"/>
            <a:chExt cx="3045625" cy="2030570"/>
          </a:xfrm>
        </p:grpSpPr>
        <p:sp>
          <p:nvSpPr>
            <p:cNvPr id="72" name="Google Shape;72;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8" name="Google Shape;78;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9" name="Google Shape;79;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hyperlink" Target="http://librosweb.es/libro/javascript" TargetMode="External"/><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hyperlink" Target="https://developer.mozilla.org/es/docs/Web/JavaScript/Guide/Bucles_e_iteraci%C3%B3n" TargetMode="External"/><Relationship Id="rId4" Type="http://schemas.openxmlformats.org/officeDocument/2006/relationships/hyperlink" Target="http://www.w3schools.com/j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2400" dirty="0">
                <a:solidFill>
                  <a:srgbClr val="FFFFFF"/>
                </a:solidFill>
              </a:rPr>
              <a:t>TEMA 2. Estructuras de control</a:t>
            </a:r>
            <a:endParaRPr sz="2400" dirty="0">
              <a:solidFill>
                <a:srgbClr val="FFFFFF"/>
              </a:solidFill>
            </a:endParaRPr>
          </a:p>
        </p:txBody>
      </p:sp>
      <p:sp>
        <p:nvSpPr>
          <p:cNvPr id="87" name="Google Shape;87;p13"/>
          <p:cNvSpPr txBox="1">
            <a:spLocks noGrp="1"/>
          </p:cNvSpPr>
          <p:nvPr>
            <p:ph type="subTitle" idx="1"/>
          </p:nvPr>
        </p:nvSpPr>
        <p:spPr>
          <a:xfrm>
            <a:off x="421863" y="3872013"/>
            <a:ext cx="8222100" cy="4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400" dirty="0">
                <a:solidFill>
                  <a:srgbClr val="FFE599"/>
                </a:solidFill>
              </a:rPr>
              <a:t>Desarrollo Web en Entorno Cliente.</a:t>
            </a:r>
            <a:endParaRPr sz="1400" dirty="0">
              <a:solidFill>
                <a:srgbClr val="FFE599"/>
              </a:solidFill>
            </a:endParaRPr>
          </a:p>
          <a:p>
            <a:pPr marL="0" lvl="0" indent="0" algn="l" rtl="0">
              <a:spcBef>
                <a:spcPts val="0"/>
              </a:spcBef>
              <a:spcAft>
                <a:spcPts val="0"/>
              </a:spcAft>
              <a:buNone/>
            </a:pPr>
            <a:endParaRPr sz="1100" dirty="0">
              <a:solidFill>
                <a:srgbClr val="FFE599"/>
              </a:solidFill>
            </a:endParaRPr>
          </a:p>
          <a:p>
            <a:pPr marL="0" lvl="0" indent="0" algn="l" rtl="0">
              <a:spcBef>
                <a:spcPts val="0"/>
              </a:spcBef>
              <a:spcAft>
                <a:spcPts val="0"/>
              </a:spcAft>
              <a:buNone/>
            </a:pPr>
            <a:endParaRPr sz="1100" dirty="0">
              <a:solidFill>
                <a:srgbClr val="FFE59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265500" y="1151100"/>
            <a:ext cx="4045200" cy="1564500"/>
          </a:xfrm>
        </p:spPr>
        <p:txBody>
          <a:bodyPr spcFirstLastPara="1" wrap="square" lIns="91425" tIns="91425" rIns="91425" bIns="91425" anchor="b" anchorCtr="0">
            <a:normAutofit/>
          </a:bodyPr>
          <a:lstStyle/>
          <a:p>
            <a:pPr marL="0" lvl="0" indent="0" rtl="0">
              <a:spcBef>
                <a:spcPts val="0"/>
              </a:spcBef>
              <a:spcAft>
                <a:spcPts val="0"/>
              </a:spcAft>
              <a:buNone/>
            </a:pPr>
            <a:r>
              <a:rPr lang="es"/>
              <a:t>Índice :</a:t>
            </a:r>
            <a:endParaRPr lang="es-ES"/>
          </a:p>
        </p:txBody>
      </p:sp>
      <p:sp>
        <p:nvSpPr>
          <p:cNvPr id="98" name="Subtitle 2">
            <a:extLst>
              <a:ext uri="{FF2B5EF4-FFF2-40B4-BE49-F238E27FC236}">
                <a16:creationId xmlns:a16="http://schemas.microsoft.com/office/drawing/2014/main" id="{0DEAECCA-6949-5E64-E2B5-FC47DD246083}"/>
              </a:ext>
            </a:extLst>
          </p:cNvPr>
          <p:cNvSpPr>
            <a:spLocks noGrp="1"/>
          </p:cNvSpPr>
          <p:nvPr>
            <p:ph type="subTitle" idx="1"/>
          </p:nvPr>
        </p:nvSpPr>
        <p:spPr>
          <a:xfrm>
            <a:off x="265500" y="2769001"/>
            <a:ext cx="4045200" cy="1269300"/>
          </a:xfrm>
        </p:spPr>
        <p:txBody>
          <a:bodyPr/>
          <a:lstStyle/>
          <a:p>
            <a:endParaRPr lang="en-US"/>
          </a:p>
        </p:txBody>
      </p:sp>
      <p:sp>
        <p:nvSpPr>
          <p:cNvPr id="93" name="Google Shape;93;p14"/>
          <p:cNvSpPr txBox="1">
            <a:spLocks noGrp="1"/>
          </p:cNvSpPr>
          <p:nvPr>
            <p:ph type="body" idx="2"/>
          </p:nvPr>
        </p:nvSpPr>
        <p:spPr>
          <a:xfrm>
            <a:off x="4939500" y="724200"/>
            <a:ext cx="3837000" cy="3695100"/>
          </a:xfrm>
        </p:spPr>
        <p:txBody>
          <a:bodyPr spcFirstLastPara="1" wrap="square" lIns="91425" tIns="91425" rIns="91425" bIns="91425" anchor="ctr" anchorCtr="0">
            <a:normAutofit lnSpcReduction="10000"/>
          </a:bodyPr>
          <a:lstStyle/>
          <a:p>
            <a:pPr marL="457200" lvl="0" indent="-342900" rtl="0">
              <a:spcBef>
                <a:spcPts val="0"/>
              </a:spcBef>
              <a:spcAft>
                <a:spcPts val="600"/>
              </a:spcAft>
              <a:buSzPts val="1800"/>
              <a:buChar char="●"/>
            </a:pPr>
            <a:r>
              <a:rPr lang="es" dirty="0"/>
              <a:t>Estructuras de control selectivas  </a:t>
            </a:r>
            <a:endParaRPr lang="en-US" dirty="0"/>
          </a:p>
          <a:p>
            <a:pPr marL="914400" lvl="1" indent="-317500" rtl="0">
              <a:spcBef>
                <a:spcPts val="0"/>
              </a:spcBef>
              <a:spcAft>
                <a:spcPts val="600"/>
              </a:spcAft>
              <a:buSzPts val="1400"/>
              <a:buChar char="○"/>
            </a:pPr>
            <a:r>
              <a:rPr lang="en-US" sz="1800" dirty="0"/>
              <a:t>If - else  </a:t>
            </a:r>
          </a:p>
          <a:p>
            <a:pPr marL="914400" lvl="1" indent="-317500" rtl="0">
              <a:spcBef>
                <a:spcPts val="0"/>
              </a:spcBef>
              <a:spcAft>
                <a:spcPts val="600"/>
              </a:spcAft>
              <a:buSzPts val="1400"/>
              <a:buChar char="○"/>
            </a:pPr>
            <a:r>
              <a:rPr lang="en-US" sz="1800" dirty="0"/>
              <a:t>switch  </a:t>
            </a:r>
          </a:p>
          <a:p>
            <a:pPr lvl="0">
              <a:spcAft>
                <a:spcPts val="600"/>
              </a:spcAft>
            </a:pPr>
            <a:r>
              <a:rPr lang="es" dirty="0"/>
              <a:t>Estructuras de control iterativas (bucles/loop)  </a:t>
            </a:r>
            <a:endParaRPr lang="en-US" dirty="0"/>
          </a:p>
          <a:p>
            <a:pPr marL="914400" marR="0" lvl="1" indent="-317500" rtl="0">
              <a:spcBef>
                <a:spcPts val="0"/>
              </a:spcBef>
              <a:spcAft>
                <a:spcPts val="600"/>
              </a:spcAft>
              <a:buSzPts val="1400"/>
              <a:buChar char="○"/>
            </a:pPr>
            <a:r>
              <a:rPr lang="en-US" sz="1800" dirty="0" err="1"/>
              <a:t>Bucle</a:t>
            </a:r>
            <a:r>
              <a:rPr lang="en-US" sz="1800" dirty="0"/>
              <a:t> while  </a:t>
            </a:r>
          </a:p>
          <a:p>
            <a:pPr marL="914400" marR="0" lvl="1" indent="-317500" rtl="0">
              <a:spcBef>
                <a:spcPts val="0"/>
              </a:spcBef>
              <a:spcAft>
                <a:spcPts val="600"/>
              </a:spcAft>
              <a:buSzPts val="1400"/>
              <a:buChar char="○"/>
            </a:pPr>
            <a:r>
              <a:rPr lang="en-US" sz="1800" dirty="0" err="1"/>
              <a:t>Bucle</a:t>
            </a:r>
            <a:r>
              <a:rPr lang="en-US" sz="1800" dirty="0"/>
              <a:t> for. (for/in , for /of )</a:t>
            </a:r>
          </a:p>
          <a:p>
            <a:pPr marL="914400" marR="0" lvl="1" indent="-317500" rtl="0">
              <a:spcBef>
                <a:spcPts val="0"/>
              </a:spcBef>
              <a:spcAft>
                <a:spcPts val="600"/>
              </a:spcAft>
              <a:buSzPts val="1400"/>
              <a:buChar char="○"/>
            </a:pPr>
            <a:r>
              <a:rPr lang="en-US" sz="1800" dirty="0" err="1"/>
              <a:t>Bucle</a:t>
            </a:r>
            <a:r>
              <a:rPr lang="en-US" sz="1800" dirty="0"/>
              <a:t> do-while</a:t>
            </a:r>
          </a:p>
          <a:p>
            <a:pPr marL="457200" marR="0" lvl="0" indent="-342900" rtl="0">
              <a:spcBef>
                <a:spcPts val="0"/>
              </a:spcBef>
              <a:spcAft>
                <a:spcPts val="600"/>
              </a:spcAft>
              <a:buSzPts val="1800"/>
              <a:buChar char="●"/>
            </a:pPr>
            <a:r>
              <a:rPr lang="en-US" dirty="0" err="1"/>
              <a:t>Bibliografía</a:t>
            </a:r>
            <a:r>
              <a:rPr lang="es" dirty="0"/>
              <a:t>.</a:t>
            </a:r>
            <a:endParaRPr lang="es-E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Estructuras de control</a:t>
            </a:r>
            <a:endParaRPr dirty="0"/>
          </a:p>
        </p:txBody>
      </p:sp>
      <p:sp>
        <p:nvSpPr>
          <p:cNvPr id="99" name="Google Shape;99;p15"/>
          <p:cNvSpPr txBox="1">
            <a:spLocks noGrp="1"/>
          </p:cNvSpPr>
          <p:nvPr>
            <p:ph type="body" idx="4294967295"/>
          </p:nvPr>
        </p:nvSpPr>
        <p:spPr>
          <a:xfrm>
            <a:off x="130628" y="1230313"/>
            <a:ext cx="8391071" cy="3338512"/>
          </a:xfrm>
          <a:prstGeom prst="rect">
            <a:avLst/>
          </a:prstGeom>
        </p:spPr>
        <p:txBody>
          <a:bodyPr spcFirstLastPara="1" wrap="square" lIns="91425" tIns="91425" rIns="91425" bIns="91425" anchor="t" anchorCtr="0">
            <a:noAutofit/>
          </a:bodyPr>
          <a:lstStyle/>
          <a:p>
            <a:pPr marL="0" lvl="0" indent="0">
              <a:buNone/>
            </a:pPr>
            <a:r>
              <a:rPr lang="es-ES" dirty="0"/>
              <a:t>Las estructuras de control de flujo son los bloques de construcción que permiten modificar el orden en el que se ejecutan las instrucciones de un programa. Por defecto, un programa lee y ejecuta el código línea por línea de arriba a abajo (de manera secuencial). Con las estructuras de control, puedes tomar caminos opcionales, repetir bloques de código o romper secuencias. Se dividen principalmente en </a:t>
            </a:r>
            <a:r>
              <a:rPr lang="es-ES" b="1" dirty="0"/>
              <a:t>tres tipos</a:t>
            </a:r>
            <a:r>
              <a:rPr lang="es-ES" dirty="0"/>
              <a:t>:</a:t>
            </a:r>
          </a:p>
          <a:p>
            <a:pPr marL="285750" indent="-285750"/>
            <a:r>
              <a:rPr lang="es-ES" dirty="0"/>
              <a:t>Estructuras Secuenciales</a:t>
            </a:r>
          </a:p>
          <a:p>
            <a:pPr marL="285750" indent="-285750"/>
            <a:r>
              <a:rPr lang="es-ES" dirty="0"/>
              <a:t>Estructuras Selectivas (o Condicionales)</a:t>
            </a:r>
          </a:p>
          <a:p>
            <a:pPr marL="285750" indent="-285750"/>
            <a:r>
              <a:rPr lang="es-ES" dirty="0"/>
              <a:t>Estructuras Iterativas (o Repetitivas / Bucles)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49CE3712-8A3D-1806-D690-916A38456F92}"/>
            </a:ext>
          </a:extLst>
        </p:cNvPr>
        <p:cNvGrpSpPr/>
        <p:nvPr/>
      </p:nvGrpSpPr>
      <p:grpSpPr>
        <a:xfrm>
          <a:off x="0" y="0"/>
          <a:ext cx="0" cy="0"/>
          <a:chOff x="0" y="0"/>
          <a:chExt cx="0" cy="0"/>
        </a:xfrm>
      </p:grpSpPr>
      <p:sp>
        <p:nvSpPr>
          <p:cNvPr id="98" name="Google Shape;98;p15">
            <a:extLst>
              <a:ext uri="{FF2B5EF4-FFF2-40B4-BE49-F238E27FC236}">
                <a16:creationId xmlns:a16="http://schemas.microsoft.com/office/drawing/2014/main" id="{017CF907-2130-EBC1-9834-79301EE83AFC}"/>
              </a:ext>
            </a:extLst>
          </p:cNvPr>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lvl="0"/>
            <a:r>
              <a:rPr lang="es-ES" dirty="0"/>
              <a:t>Estructuras Secuenciales</a:t>
            </a:r>
            <a:endParaRPr dirty="0"/>
          </a:p>
        </p:txBody>
      </p:sp>
      <p:sp>
        <p:nvSpPr>
          <p:cNvPr id="99" name="Google Shape;99;p15">
            <a:extLst>
              <a:ext uri="{FF2B5EF4-FFF2-40B4-BE49-F238E27FC236}">
                <a16:creationId xmlns:a16="http://schemas.microsoft.com/office/drawing/2014/main" id="{6DB73A42-848E-11BB-83FC-5F6ADA6777C0}"/>
              </a:ext>
            </a:extLst>
          </p:cNvPr>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buNone/>
            </a:pPr>
            <a:r>
              <a:rPr lang="es-ES" dirty="0"/>
              <a:t>Es la forma por defecto en la que se ejecuta el código: cada orden o sentencia se ejecuta una detrás de otra en el orden en que fueron escritas. </a:t>
            </a:r>
          </a:p>
          <a:p>
            <a:pPr marL="0" lvl="0" indent="0">
              <a:buNone/>
            </a:pPr>
            <a:endParaRPr lang="es-ES" dirty="0"/>
          </a:p>
          <a:p>
            <a:pPr marL="0" lvl="0" indent="0">
              <a:buNone/>
            </a:pPr>
            <a:r>
              <a:rPr lang="es-ES" dirty="0"/>
              <a:t>Ejemplo:</a:t>
            </a:r>
          </a:p>
          <a:p>
            <a:pPr marL="0" lvl="0" indent="0">
              <a:buNone/>
            </a:pPr>
            <a:endParaRPr lang="es-ES" dirty="0"/>
          </a:p>
          <a:p>
            <a:pPr marL="0" lvl="0" indent="0">
              <a:buNone/>
            </a:pPr>
            <a:endParaRPr lang="es-ES" dirty="0"/>
          </a:p>
        </p:txBody>
      </p:sp>
      <p:pic>
        <p:nvPicPr>
          <p:cNvPr id="3" name="Imagen 2">
            <a:extLst>
              <a:ext uri="{FF2B5EF4-FFF2-40B4-BE49-F238E27FC236}">
                <a16:creationId xmlns:a16="http://schemas.microsoft.com/office/drawing/2014/main" id="{7003D123-371A-08BC-931B-7AA9BAFE248E}"/>
              </a:ext>
            </a:extLst>
          </p:cNvPr>
          <p:cNvPicPr>
            <a:picLocks noChangeAspect="1"/>
          </p:cNvPicPr>
          <p:nvPr/>
        </p:nvPicPr>
        <p:blipFill>
          <a:blip r:embed="rId3"/>
          <a:stretch>
            <a:fillRect/>
          </a:stretch>
        </p:blipFill>
        <p:spPr>
          <a:xfrm>
            <a:off x="526529" y="3076494"/>
            <a:ext cx="7468642" cy="1162212"/>
          </a:xfrm>
          <a:prstGeom prst="rect">
            <a:avLst/>
          </a:prstGeom>
        </p:spPr>
      </p:pic>
    </p:spTree>
    <p:extLst>
      <p:ext uri="{BB962C8B-B14F-4D97-AF65-F5344CB8AC3E}">
        <p14:creationId xmlns:p14="http://schemas.microsoft.com/office/powerpoint/2010/main" val="2971389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lvl="0"/>
            <a:r>
              <a:rPr lang="es-ES" dirty="0"/>
              <a:t>Estructuras Selectivas (o Condicionales)</a:t>
            </a:r>
            <a:endParaRPr dirty="0"/>
          </a:p>
        </p:txBody>
      </p:sp>
      <p:sp>
        <p:nvSpPr>
          <p:cNvPr id="105" name="Google Shape;105;p16"/>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buNone/>
            </a:pPr>
            <a:r>
              <a:rPr lang="es-ES" dirty="0"/>
              <a:t>Permiten evaluar una o varias condiciones Booleanas (true o false) y decidir qué bloque de código ejecutar en función del resultado. Existen 3 tipos:</a:t>
            </a:r>
          </a:p>
          <a:p>
            <a:pPr marL="0" lvl="0" indent="0">
              <a:buNone/>
            </a:pPr>
            <a:endParaRPr lang="es-ES" dirty="0"/>
          </a:p>
          <a:p>
            <a:pPr lvl="0"/>
            <a:r>
              <a:rPr lang="es-ES" b="1" dirty="0"/>
              <a:t>Simple (</a:t>
            </a:r>
            <a:r>
              <a:rPr lang="es-ES" b="1" dirty="0" err="1"/>
              <a:t>if</a:t>
            </a:r>
            <a:r>
              <a:rPr lang="es-ES" b="1" dirty="0"/>
              <a:t>):</a:t>
            </a:r>
            <a:r>
              <a:rPr lang="es-ES" dirty="0"/>
              <a:t> Ejecuta un bloque si la condición es verdadera.</a:t>
            </a:r>
          </a:p>
          <a:p>
            <a:pPr lvl="0"/>
            <a:r>
              <a:rPr lang="es-ES" b="1" dirty="0"/>
              <a:t>Doble (</a:t>
            </a:r>
            <a:r>
              <a:rPr lang="es-ES" b="1" dirty="0" err="1"/>
              <a:t>if</a:t>
            </a:r>
            <a:r>
              <a:rPr lang="es-ES" b="1" dirty="0"/>
              <a:t>...</a:t>
            </a:r>
            <a:r>
              <a:rPr lang="es-ES" b="1" dirty="0" err="1"/>
              <a:t>else</a:t>
            </a:r>
            <a:r>
              <a:rPr lang="es-ES" b="1" dirty="0"/>
              <a:t>):</a:t>
            </a:r>
            <a:r>
              <a:rPr lang="es-ES" dirty="0"/>
              <a:t> Ejecuta un bloque si es verdadera y otro distinto si es falsa.</a:t>
            </a:r>
          </a:p>
          <a:p>
            <a:pPr lvl="0"/>
            <a:r>
              <a:rPr lang="es-ES" b="1" dirty="0"/>
              <a:t>Múltiple (</a:t>
            </a:r>
            <a:r>
              <a:rPr lang="es-ES" b="1" dirty="0" err="1"/>
              <a:t>if</a:t>
            </a:r>
            <a:r>
              <a:rPr lang="es-ES" b="1" dirty="0"/>
              <a:t>...</a:t>
            </a:r>
            <a:r>
              <a:rPr lang="es-ES" b="1" dirty="0" err="1"/>
              <a:t>else</a:t>
            </a:r>
            <a:r>
              <a:rPr lang="es-ES" b="1" dirty="0"/>
              <a:t> </a:t>
            </a:r>
            <a:r>
              <a:rPr lang="es-ES" b="1" dirty="0" err="1"/>
              <a:t>if</a:t>
            </a:r>
            <a:r>
              <a:rPr lang="es-ES" b="1" dirty="0"/>
              <a:t>...</a:t>
            </a:r>
            <a:r>
              <a:rPr lang="es-ES" b="1" dirty="0" err="1"/>
              <a:t>else</a:t>
            </a:r>
            <a:r>
              <a:rPr lang="es-ES" b="1" dirty="0"/>
              <a:t> o switch):</a:t>
            </a:r>
            <a:r>
              <a:rPr lang="es-ES" dirty="0"/>
              <a:t> Permite evaluar varias condiciones consecutivas o elegir entre múltiples opciones posibles según el valor de una variable.</a:t>
            </a:r>
          </a:p>
          <a:p>
            <a:pPr marL="457200" lvl="0" indent="457200" algn="l" rtl="0">
              <a:lnSpc>
                <a:spcPct val="135714"/>
              </a:lnSpc>
              <a:spcBef>
                <a:spcPts val="1600"/>
              </a:spcBef>
              <a:spcAft>
                <a:spcPts val="0"/>
              </a:spcAft>
              <a:buNone/>
            </a:pPr>
            <a:r>
              <a:rPr lang="es" sz="1400" b="1" dirty="0">
                <a:solidFill>
                  <a:srgbClr val="569CD6"/>
                </a:solidFill>
                <a:latin typeface="Courier New"/>
                <a:ea typeface="Courier New"/>
                <a:cs typeface="Courier New"/>
                <a:sym typeface="Courier New"/>
              </a:rPr>
              <a:t>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body" idx="4294967295"/>
          </p:nvPr>
        </p:nvSpPr>
        <p:spPr>
          <a:xfrm>
            <a:off x="0" y="344488"/>
            <a:ext cx="8521700" cy="4300537"/>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t> </a:t>
            </a:r>
            <a:endParaRPr/>
          </a:p>
        </p:txBody>
      </p:sp>
      <p:pic>
        <p:nvPicPr>
          <p:cNvPr id="112" name="Google Shape;112;p17"/>
          <p:cNvPicPr preferRelativeResize="0"/>
          <p:nvPr/>
        </p:nvPicPr>
        <p:blipFill rotWithShape="1">
          <a:blip r:embed="rId3">
            <a:alphaModFix/>
          </a:blip>
          <a:srcRect l="22973" t="23122" r="21949" b="11170"/>
          <a:stretch/>
        </p:blipFill>
        <p:spPr>
          <a:xfrm>
            <a:off x="38125" y="399775"/>
            <a:ext cx="6510326" cy="4368676"/>
          </a:xfrm>
          <a:prstGeom prst="rect">
            <a:avLst/>
          </a:prstGeom>
          <a:noFill/>
          <a:ln>
            <a:noFill/>
          </a:ln>
        </p:spPr>
      </p:pic>
      <p:sp>
        <p:nvSpPr>
          <p:cNvPr id="113" name="Google Shape;113;p17"/>
          <p:cNvSpPr/>
          <p:nvPr/>
        </p:nvSpPr>
        <p:spPr>
          <a:xfrm>
            <a:off x="4896600" y="228475"/>
            <a:ext cx="171300" cy="1713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7"/>
          <p:cNvSpPr txBox="1"/>
          <p:nvPr/>
        </p:nvSpPr>
        <p:spPr>
          <a:xfrm>
            <a:off x="6644825" y="693750"/>
            <a:ext cx="2100900" cy="1878000"/>
          </a:xfrm>
          <a:prstGeom prst="rect">
            <a:avLst/>
          </a:prstGeom>
          <a:solidFill>
            <a:srgbClr val="434343"/>
          </a:solidFill>
          <a:ln w="9525" cap="flat" cmpd="sng">
            <a:solidFill>
              <a:srgbClr val="000000"/>
            </a:solidFill>
            <a:prstDash val="dot"/>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200" b="1">
                <a:solidFill>
                  <a:srgbClr val="569CD6"/>
                </a:solidFill>
                <a:latin typeface="Courier New"/>
                <a:ea typeface="Courier New"/>
                <a:cs typeface="Courier New"/>
                <a:sym typeface="Courier New"/>
              </a:rPr>
              <a:t>var</a:t>
            </a:r>
            <a:r>
              <a:rPr lang="es" sz="1200" b="1">
                <a:solidFill>
                  <a:srgbClr val="D4D4D4"/>
                </a:solidFill>
                <a:latin typeface="Courier New"/>
                <a:ea typeface="Courier New"/>
                <a:cs typeface="Courier New"/>
                <a:sym typeface="Courier New"/>
              </a:rPr>
              <a:t> </a:t>
            </a:r>
            <a:r>
              <a:rPr lang="es" sz="1200" b="1">
                <a:solidFill>
                  <a:srgbClr val="9CDCFE"/>
                </a:solidFill>
                <a:latin typeface="Courier New"/>
                <a:ea typeface="Courier New"/>
                <a:cs typeface="Courier New"/>
                <a:sym typeface="Courier New"/>
              </a:rPr>
              <a:t>n1</a:t>
            </a:r>
            <a:r>
              <a:rPr lang="es" sz="1200" b="1">
                <a:solidFill>
                  <a:srgbClr val="D4D4D4"/>
                </a:solidFill>
                <a:latin typeface="Courier New"/>
                <a:ea typeface="Courier New"/>
                <a:cs typeface="Courier New"/>
                <a:sym typeface="Courier New"/>
              </a:rPr>
              <a:t>=</a:t>
            </a:r>
            <a:r>
              <a:rPr lang="es" sz="1200" b="1">
                <a:solidFill>
                  <a:srgbClr val="B5CEA8"/>
                </a:solidFill>
                <a:latin typeface="Courier New"/>
                <a:ea typeface="Courier New"/>
                <a:cs typeface="Courier New"/>
                <a:sym typeface="Courier New"/>
              </a:rPr>
              <a:t>5</a:t>
            </a:r>
            <a:r>
              <a:rPr lang="es" sz="1200" b="1">
                <a:solidFill>
                  <a:srgbClr val="D4D4D4"/>
                </a:solidFill>
                <a:latin typeface="Courier New"/>
                <a:ea typeface="Courier New"/>
                <a:cs typeface="Courier New"/>
                <a:sym typeface="Courier New"/>
              </a:rPr>
              <a:t>;</a:t>
            </a:r>
            <a:endParaRPr sz="12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b="1">
                <a:solidFill>
                  <a:srgbClr val="569CD6"/>
                </a:solidFill>
                <a:latin typeface="Courier New"/>
                <a:ea typeface="Courier New"/>
                <a:cs typeface="Courier New"/>
                <a:sym typeface="Courier New"/>
              </a:rPr>
              <a:t>var</a:t>
            </a:r>
            <a:r>
              <a:rPr lang="es" sz="1200" b="1">
                <a:solidFill>
                  <a:srgbClr val="D4D4D4"/>
                </a:solidFill>
                <a:latin typeface="Courier New"/>
                <a:ea typeface="Courier New"/>
                <a:cs typeface="Courier New"/>
                <a:sym typeface="Courier New"/>
              </a:rPr>
              <a:t> </a:t>
            </a:r>
            <a:r>
              <a:rPr lang="es" sz="1200" b="1">
                <a:solidFill>
                  <a:srgbClr val="9CDCFE"/>
                </a:solidFill>
                <a:latin typeface="Courier New"/>
                <a:ea typeface="Courier New"/>
                <a:cs typeface="Courier New"/>
                <a:sym typeface="Courier New"/>
              </a:rPr>
              <a:t>n2</a:t>
            </a:r>
            <a:r>
              <a:rPr lang="es" sz="1200" b="1">
                <a:solidFill>
                  <a:srgbClr val="D4D4D4"/>
                </a:solidFill>
                <a:latin typeface="Courier New"/>
                <a:ea typeface="Courier New"/>
                <a:cs typeface="Courier New"/>
                <a:sym typeface="Courier New"/>
              </a:rPr>
              <a:t>=</a:t>
            </a:r>
            <a:r>
              <a:rPr lang="es" sz="1200" b="1">
                <a:solidFill>
                  <a:srgbClr val="B5CEA8"/>
                </a:solidFill>
                <a:latin typeface="Courier New"/>
                <a:ea typeface="Courier New"/>
                <a:cs typeface="Courier New"/>
                <a:sym typeface="Courier New"/>
              </a:rPr>
              <a:t>4</a:t>
            </a:r>
            <a:r>
              <a:rPr lang="es" sz="1200" b="1">
                <a:solidFill>
                  <a:srgbClr val="D4D4D4"/>
                </a:solidFill>
                <a:latin typeface="Courier New"/>
                <a:ea typeface="Courier New"/>
                <a:cs typeface="Courier New"/>
                <a:sym typeface="Courier New"/>
              </a:rPr>
              <a:t>;</a:t>
            </a:r>
            <a:endParaRPr sz="12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b="1">
                <a:solidFill>
                  <a:srgbClr val="C586C0"/>
                </a:solidFill>
                <a:latin typeface="Courier New"/>
                <a:ea typeface="Courier New"/>
                <a:cs typeface="Courier New"/>
                <a:sym typeface="Courier New"/>
              </a:rPr>
              <a:t>if</a:t>
            </a:r>
            <a:r>
              <a:rPr lang="es" sz="1200" b="1">
                <a:solidFill>
                  <a:srgbClr val="D4D4D4"/>
                </a:solidFill>
                <a:latin typeface="Courier New"/>
                <a:ea typeface="Courier New"/>
                <a:cs typeface="Courier New"/>
                <a:sym typeface="Courier New"/>
              </a:rPr>
              <a:t> (</a:t>
            </a:r>
            <a:r>
              <a:rPr lang="es" sz="1200" b="1">
                <a:solidFill>
                  <a:srgbClr val="9CDCFE"/>
                </a:solidFill>
                <a:latin typeface="Courier New"/>
                <a:ea typeface="Courier New"/>
                <a:cs typeface="Courier New"/>
                <a:sym typeface="Courier New"/>
              </a:rPr>
              <a:t>n1</a:t>
            </a:r>
            <a:r>
              <a:rPr lang="es" sz="1200" b="1">
                <a:solidFill>
                  <a:srgbClr val="D4D4D4"/>
                </a:solidFill>
                <a:latin typeface="Courier New"/>
                <a:ea typeface="Courier New"/>
                <a:cs typeface="Courier New"/>
                <a:sym typeface="Courier New"/>
              </a:rPr>
              <a:t> &gt; </a:t>
            </a:r>
            <a:r>
              <a:rPr lang="es" sz="1200" b="1">
                <a:solidFill>
                  <a:srgbClr val="9CDCFE"/>
                </a:solidFill>
                <a:latin typeface="Courier New"/>
                <a:ea typeface="Courier New"/>
                <a:cs typeface="Courier New"/>
                <a:sym typeface="Courier New"/>
              </a:rPr>
              <a:t>n2</a:t>
            </a:r>
            <a:r>
              <a:rPr lang="es" sz="1200" b="1">
                <a:solidFill>
                  <a:srgbClr val="D4D4D4"/>
                </a:solidFill>
                <a:latin typeface="Courier New"/>
                <a:ea typeface="Courier New"/>
                <a:cs typeface="Courier New"/>
                <a:sym typeface="Courier New"/>
              </a:rPr>
              <a:t>){</a:t>
            </a:r>
            <a:endParaRPr sz="12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b="1">
                <a:solidFill>
                  <a:srgbClr val="D4D4D4"/>
                </a:solidFill>
                <a:latin typeface="Courier New"/>
                <a:ea typeface="Courier New"/>
                <a:cs typeface="Courier New"/>
                <a:sym typeface="Courier New"/>
              </a:rPr>
              <a:t>  </a:t>
            </a:r>
            <a:r>
              <a:rPr lang="es" sz="1200" b="1">
                <a:solidFill>
                  <a:srgbClr val="DCDCAA"/>
                </a:solidFill>
                <a:latin typeface="Courier New"/>
                <a:ea typeface="Courier New"/>
                <a:cs typeface="Courier New"/>
                <a:sym typeface="Courier New"/>
              </a:rPr>
              <a:t>alert</a:t>
            </a:r>
            <a:r>
              <a:rPr lang="es" sz="1200" b="1">
                <a:solidFill>
                  <a:srgbClr val="D4D4D4"/>
                </a:solidFill>
                <a:latin typeface="Courier New"/>
                <a:ea typeface="Courier New"/>
                <a:cs typeface="Courier New"/>
                <a:sym typeface="Courier New"/>
              </a:rPr>
              <a:t> (</a:t>
            </a:r>
            <a:r>
              <a:rPr lang="es" sz="1200" b="1">
                <a:solidFill>
                  <a:srgbClr val="CE9178"/>
                </a:solidFill>
                <a:latin typeface="Courier New"/>
                <a:ea typeface="Courier New"/>
                <a:cs typeface="Courier New"/>
                <a:sym typeface="Courier New"/>
              </a:rPr>
              <a:t>"Mayor"</a:t>
            </a:r>
            <a:r>
              <a:rPr lang="es" sz="1200" b="1">
                <a:solidFill>
                  <a:srgbClr val="D4D4D4"/>
                </a:solidFill>
                <a:latin typeface="Courier New"/>
                <a:ea typeface="Courier New"/>
                <a:cs typeface="Courier New"/>
                <a:sym typeface="Courier New"/>
              </a:rPr>
              <a:t>);</a:t>
            </a:r>
            <a:endParaRPr sz="12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b="1">
                <a:solidFill>
                  <a:srgbClr val="D4D4D4"/>
                </a:solidFill>
                <a:latin typeface="Courier New"/>
                <a:ea typeface="Courier New"/>
                <a:cs typeface="Courier New"/>
                <a:sym typeface="Courier New"/>
              </a:rPr>
              <a:t>} </a:t>
            </a:r>
            <a:r>
              <a:rPr lang="es" sz="1200" b="1">
                <a:solidFill>
                  <a:srgbClr val="C586C0"/>
                </a:solidFill>
                <a:latin typeface="Courier New"/>
                <a:ea typeface="Courier New"/>
                <a:cs typeface="Courier New"/>
                <a:sym typeface="Courier New"/>
              </a:rPr>
              <a:t>else</a:t>
            </a:r>
            <a:r>
              <a:rPr lang="es" sz="1200" b="1">
                <a:solidFill>
                  <a:srgbClr val="D4D4D4"/>
                </a:solidFill>
                <a:latin typeface="Courier New"/>
                <a:ea typeface="Courier New"/>
                <a:cs typeface="Courier New"/>
                <a:sym typeface="Courier New"/>
              </a:rPr>
              <a:t> {</a:t>
            </a:r>
            <a:endParaRPr sz="12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b="1">
                <a:solidFill>
                  <a:srgbClr val="D4D4D4"/>
                </a:solidFill>
                <a:latin typeface="Courier New"/>
                <a:ea typeface="Courier New"/>
                <a:cs typeface="Courier New"/>
                <a:sym typeface="Courier New"/>
              </a:rPr>
              <a:t>  </a:t>
            </a:r>
            <a:r>
              <a:rPr lang="es" sz="1200" b="1">
                <a:solidFill>
                  <a:srgbClr val="DCDCAA"/>
                </a:solidFill>
                <a:latin typeface="Courier New"/>
                <a:ea typeface="Courier New"/>
                <a:cs typeface="Courier New"/>
                <a:sym typeface="Courier New"/>
              </a:rPr>
              <a:t>alert</a:t>
            </a:r>
            <a:r>
              <a:rPr lang="es" sz="1200" b="1">
                <a:solidFill>
                  <a:srgbClr val="D4D4D4"/>
                </a:solidFill>
                <a:latin typeface="Courier New"/>
                <a:ea typeface="Courier New"/>
                <a:cs typeface="Courier New"/>
                <a:sym typeface="Courier New"/>
              </a:rPr>
              <a:t> (</a:t>
            </a:r>
            <a:r>
              <a:rPr lang="es" sz="1200" b="1">
                <a:solidFill>
                  <a:srgbClr val="CE9178"/>
                </a:solidFill>
                <a:latin typeface="Courier New"/>
                <a:ea typeface="Courier New"/>
                <a:cs typeface="Courier New"/>
                <a:sym typeface="Courier New"/>
              </a:rPr>
              <a:t>"menor"</a:t>
            </a:r>
            <a:r>
              <a:rPr lang="es" sz="1200" b="1">
                <a:solidFill>
                  <a:srgbClr val="D4D4D4"/>
                </a:solidFill>
                <a:latin typeface="Courier New"/>
                <a:ea typeface="Courier New"/>
                <a:cs typeface="Courier New"/>
                <a:sym typeface="Courier New"/>
              </a:rPr>
              <a:t>);</a:t>
            </a:r>
            <a:endParaRPr sz="12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b="1">
                <a:solidFill>
                  <a:srgbClr val="D4D4D4"/>
                </a:solidFill>
                <a:latin typeface="Courier New"/>
                <a:ea typeface="Courier New"/>
                <a:cs typeface="Courier New"/>
                <a:sym typeface="Courier New"/>
              </a:rPr>
              <a:t>} //Muestra “Mayor”</a:t>
            </a:r>
            <a:endParaRPr sz="1200" b="1">
              <a:solidFill>
                <a:srgbClr val="D4D4D4"/>
              </a:solidFill>
              <a:latin typeface="Courier New"/>
              <a:ea typeface="Courier New"/>
              <a:cs typeface="Courier New"/>
              <a:sym typeface="Courier New"/>
            </a:endParaRPr>
          </a:p>
          <a:p>
            <a:pPr marL="0" lvl="0" indent="0" algn="l" rtl="0">
              <a:spcBef>
                <a:spcPts val="0"/>
              </a:spcBef>
              <a:spcAft>
                <a:spcPts val="0"/>
              </a:spcAft>
              <a:buNone/>
            </a:pPr>
            <a:endParaRPr sz="1200" b="1">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8"/>
          <p:cNvSpPr txBox="1">
            <a:spLocks noGrp="1"/>
          </p:cNvSpPr>
          <p:nvPr>
            <p:ph type="body" idx="4294967295"/>
          </p:nvPr>
        </p:nvSpPr>
        <p:spPr>
          <a:xfrm>
            <a:off x="0" y="268288"/>
            <a:ext cx="8521700" cy="4300537"/>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t> </a:t>
            </a:r>
            <a:endParaRPr/>
          </a:p>
        </p:txBody>
      </p:sp>
      <p:pic>
        <p:nvPicPr>
          <p:cNvPr id="120" name="Google Shape;120;p18"/>
          <p:cNvPicPr preferRelativeResize="0"/>
          <p:nvPr/>
        </p:nvPicPr>
        <p:blipFill rotWithShape="1">
          <a:blip r:embed="rId3">
            <a:alphaModFix/>
          </a:blip>
          <a:srcRect l="22736" t="16381" r="23942" b="8544"/>
          <a:stretch/>
        </p:blipFill>
        <p:spPr>
          <a:xfrm>
            <a:off x="1353494" y="115500"/>
            <a:ext cx="5600957" cy="44362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switch</a:t>
            </a:r>
            <a:endParaRPr dirty="0"/>
          </a:p>
        </p:txBody>
      </p:sp>
      <p:sp>
        <p:nvSpPr>
          <p:cNvPr id="126" name="Google Shape;126;p19"/>
          <p:cNvSpPr txBox="1">
            <a:spLocks noGrp="1"/>
          </p:cNvSpPr>
          <p:nvPr>
            <p:ph type="body" idx="4294967295"/>
          </p:nvPr>
        </p:nvSpPr>
        <p:spPr>
          <a:xfrm>
            <a:off x="0" y="1083356"/>
            <a:ext cx="8521700" cy="3338512"/>
          </a:xfrm>
          <a:prstGeom prst="rect">
            <a:avLst/>
          </a:prstGeom>
        </p:spPr>
        <p:txBody>
          <a:bodyPr spcFirstLastPara="1" wrap="square" lIns="91425" tIns="91425" rIns="91425" bIns="91425" anchor="t" anchorCtr="0">
            <a:noAutofit/>
          </a:bodyPr>
          <a:lstStyle/>
          <a:p>
            <a:pPr marL="0" lvl="0" indent="0">
              <a:spcAft>
                <a:spcPts val="1600"/>
              </a:spcAft>
              <a:buNone/>
            </a:pPr>
            <a:r>
              <a:rPr lang="es-ES" dirty="0"/>
              <a:t>El </a:t>
            </a:r>
            <a:r>
              <a:rPr lang="es-ES" b="1" dirty="0"/>
              <a:t>switch</a:t>
            </a:r>
            <a:r>
              <a:rPr lang="es-ES" dirty="0"/>
              <a:t> en JavaScript evalúa una expresión y ejecuta el bloque de código cuyo valor coincida con dicha expresión (mediante una </a:t>
            </a:r>
            <a:r>
              <a:rPr lang="es-ES" b="1" dirty="0"/>
              <a:t>comparación estricta</a:t>
            </a:r>
            <a:r>
              <a:rPr lang="es-ES" dirty="0"/>
              <a:t>, equivalente a ===). Es una alternativa más limpia a tener múltiples declaraciones </a:t>
            </a:r>
            <a:r>
              <a:rPr lang="es-ES" dirty="0" err="1"/>
              <a:t>if</a:t>
            </a:r>
            <a:r>
              <a:rPr lang="es-ES" dirty="0"/>
              <a:t>...</a:t>
            </a:r>
            <a:r>
              <a:rPr lang="es-ES" dirty="0" err="1"/>
              <a:t>else</a:t>
            </a:r>
            <a:r>
              <a:rPr lang="es-ES" dirty="0"/>
              <a:t> </a:t>
            </a:r>
            <a:r>
              <a:rPr lang="es-ES" dirty="0" err="1"/>
              <a:t>if</a:t>
            </a:r>
            <a:r>
              <a:rPr lang="es-ES" dirty="0"/>
              <a:t>. </a:t>
            </a:r>
          </a:p>
          <a:p>
            <a:pPr marL="0" lvl="0" indent="0">
              <a:spcAft>
                <a:spcPts val="1600"/>
              </a:spcAft>
              <a:buNone/>
            </a:pPr>
            <a:r>
              <a:rPr lang="es-ES" dirty="0"/>
              <a:t>La estructura básica es la siguiente:</a:t>
            </a:r>
          </a:p>
          <a:p>
            <a:pPr marL="0" lvl="0" indent="0">
              <a:spcAft>
                <a:spcPts val="1600"/>
              </a:spcAft>
              <a:buNone/>
            </a:pPr>
            <a:endParaRPr lang="es-ES" dirty="0"/>
          </a:p>
          <a:p>
            <a:pPr marL="0" lvl="0" indent="0">
              <a:spcAft>
                <a:spcPts val="1600"/>
              </a:spcAft>
              <a:buNone/>
            </a:pPr>
            <a:endParaRPr dirty="0"/>
          </a:p>
        </p:txBody>
      </p:sp>
      <p:pic>
        <p:nvPicPr>
          <p:cNvPr id="3" name="Imagen 2">
            <a:extLst>
              <a:ext uri="{FF2B5EF4-FFF2-40B4-BE49-F238E27FC236}">
                <a16:creationId xmlns:a16="http://schemas.microsoft.com/office/drawing/2014/main" id="{5733E916-8DC0-B62D-2072-73F3CD96302C}"/>
              </a:ext>
            </a:extLst>
          </p:cNvPr>
          <p:cNvPicPr>
            <a:picLocks noChangeAspect="1"/>
          </p:cNvPicPr>
          <p:nvPr/>
        </p:nvPicPr>
        <p:blipFill>
          <a:blip r:embed="rId3"/>
          <a:stretch>
            <a:fillRect/>
          </a:stretch>
        </p:blipFill>
        <p:spPr>
          <a:xfrm>
            <a:off x="1972453" y="2978133"/>
            <a:ext cx="4477334" cy="18672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EABDB995-3E3E-0874-7AFC-CA0B2CEDCB28}"/>
            </a:ext>
          </a:extLst>
        </p:cNvPr>
        <p:cNvGrpSpPr/>
        <p:nvPr/>
      </p:nvGrpSpPr>
      <p:grpSpPr>
        <a:xfrm>
          <a:off x="0" y="0"/>
          <a:ext cx="0" cy="0"/>
          <a:chOff x="0" y="0"/>
          <a:chExt cx="0" cy="0"/>
        </a:xfrm>
      </p:grpSpPr>
      <p:sp>
        <p:nvSpPr>
          <p:cNvPr id="125" name="Google Shape;125;p19">
            <a:extLst>
              <a:ext uri="{FF2B5EF4-FFF2-40B4-BE49-F238E27FC236}">
                <a16:creationId xmlns:a16="http://schemas.microsoft.com/office/drawing/2014/main" id="{88003C22-8E88-DA32-AF54-8E87016A9047}"/>
              </a:ext>
            </a:extLst>
          </p:cNvPr>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switch</a:t>
            </a:r>
            <a:endParaRPr dirty="0"/>
          </a:p>
        </p:txBody>
      </p:sp>
      <p:sp>
        <p:nvSpPr>
          <p:cNvPr id="126" name="Google Shape;126;p19">
            <a:extLst>
              <a:ext uri="{FF2B5EF4-FFF2-40B4-BE49-F238E27FC236}">
                <a16:creationId xmlns:a16="http://schemas.microsoft.com/office/drawing/2014/main" id="{5CF4FFF3-69C0-7CF4-4513-4C58EF43FCD5}"/>
              </a:ext>
            </a:extLst>
          </p:cNvPr>
          <p:cNvSpPr txBox="1">
            <a:spLocks noGrp="1"/>
          </p:cNvSpPr>
          <p:nvPr>
            <p:ph type="body" idx="4294967295"/>
          </p:nvPr>
        </p:nvSpPr>
        <p:spPr>
          <a:xfrm>
            <a:off x="0" y="1083356"/>
            <a:ext cx="8521700" cy="3338512"/>
          </a:xfrm>
          <a:prstGeom prst="rect">
            <a:avLst/>
          </a:prstGeom>
        </p:spPr>
        <p:txBody>
          <a:bodyPr spcFirstLastPara="1" wrap="square" lIns="91425" tIns="91425" rIns="91425" bIns="91425" anchor="t" anchorCtr="0">
            <a:noAutofit/>
          </a:bodyPr>
          <a:lstStyle/>
          <a:p>
            <a:pPr marL="114300" indent="0">
              <a:buNone/>
            </a:pPr>
            <a:r>
              <a:rPr lang="es-ES" dirty="0"/>
              <a:t>Componentes clave:</a:t>
            </a:r>
          </a:p>
          <a:p>
            <a:pPr lvl="0"/>
            <a:r>
              <a:rPr lang="es-ES" b="1" dirty="0"/>
              <a:t>switch (</a:t>
            </a:r>
            <a:r>
              <a:rPr lang="es-ES" b="1" dirty="0" err="1"/>
              <a:t>expresion</a:t>
            </a:r>
            <a:r>
              <a:rPr lang="es-ES" b="1" dirty="0"/>
              <a:t>)</a:t>
            </a:r>
            <a:r>
              <a:rPr lang="es-ES" dirty="0"/>
              <a:t>: Evalúa el valor inicial solo una vez.</a:t>
            </a:r>
          </a:p>
          <a:p>
            <a:pPr lvl="0"/>
            <a:r>
              <a:rPr lang="es-ES" b="1" dirty="0"/>
              <a:t>case valor:</a:t>
            </a:r>
            <a:r>
              <a:rPr lang="es-ES" dirty="0"/>
              <a:t>: Compara el resultado de la expresión contra el valor. Debe coincidir tanto en tipo como en contenido (por ejemplo, '5' no es igual a 5).</a:t>
            </a:r>
          </a:p>
          <a:p>
            <a:pPr lvl="0"/>
            <a:r>
              <a:rPr lang="es-ES" b="1" dirty="0"/>
              <a:t>break</a:t>
            </a:r>
            <a:r>
              <a:rPr lang="es-ES" dirty="0"/>
              <a:t>: Detiene la ejecución del switch. Si se omite, el código continuará ejecutando los siguientes casos automáticamente (</a:t>
            </a:r>
            <a:r>
              <a:rPr lang="es-ES" i="1" dirty="0" err="1"/>
              <a:t>fall-through</a:t>
            </a:r>
            <a:r>
              <a:rPr lang="es-ES" dirty="0"/>
              <a:t>), sin importar si coinciden o no.</a:t>
            </a:r>
          </a:p>
          <a:p>
            <a:pPr lvl="0"/>
            <a:r>
              <a:rPr lang="es-ES" b="1" dirty="0"/>
              <a:t>default</a:t>
            </a:r>
            <a:r>
              <a:rPr lang="es-ES" dirty="0"/>
              <a:t>: Opcional. Se ejecuta únicamente si ningún case coincidió. Funciona como el </a:t>
            </a:r>
            <a:r>
              <a:rPr lang="es-ES" dirty="0" err="1"/>
              <a:t>else</a:t>
            </a:r>
            <a:r>
              <a:rPr lang="es-ES" dirty="0"/>
              <a:t> final.</a:t>
            </a:r>
          </a:p>
          <a:p>
            <a:pPr marL="0" lvl="0" indent="0">
              <a:spcAft>
                <a:spcPts val="1600"/>
              </a:spcAft>
              <a:buNone/>
            </a:pPr>
            <a:endParaRPr lang="es-ES" dirty="0"/>
          </a:p>
          <a:p>
            <a:pPr marL="0" lvl="0" indent="0">
              <a:spcAft>
                <a:spcPts val="1600"/>
              </a:spcAft>
              <a:buNone/>
            </a:pPr>
            <a:endParaRPr dirty="0"/>
          </a:p>
        </p:txBody>
      </p:sp>
    </p:spTree>
    <p:extLst>
      <p:ext uri="{BB962C8B-B14F-4D97-AF65-F5344CB8AC3E}">
        <p14:creationId xmlns:p14="http://schemas.microsoft.com/office/powerpoint/2010/main" val="3925228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a:spLocks noGrp="1"/>
          </p:cNvSpPr>
          <p:nvPr>
            <p:ph type="body" idx="4294967295"/>
          </p:nvPr>
        </p:nvSpPr>
        <p:spPr>
          <a:xfrm>
            <a:off x="0" y="322263"/>
            <a:ext cx="8521700" cy="4246562"/>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t> </a:t>
            </a:r>
            <a:endParaRPr/>
          </a:p>
        </p:txBody>
      </p:sp>
      <p:pic>
        <p:nvPicPr>
          <p:cNvPr id="132" name="Google Shape;132;p20"/>
          <p:cNvPicPr preferRelativeResize="0"/>
          <p:nvPr/>
        </p:nvPicPr>
        <p:blipFill rotWithShape="1">
          <a:blip r:embed="rId3">
            <a:alphaModFix/>
          </a:blip>
          <a:srcRect l="15470" t="17425" r="16678" b="10808"/>
          <a:stretch/>
        </p:blipFill>
        <p:spPr>
          <a:xfrm>
            <a:off x="225175" y="538175"/>
            <a:ext cx="6233602" cy="3708674"/>
          </a:xfrm>
          <a:prstGeom prst="rect">
            <a:avLst/>
          </a:prstGeom>
          <a:noFill/>
          <a:ln>
            <a:noFill/>
          </a:ln>
        </p:spPr>
      </p:pic>
      <p:sp>
        <p:nvSpPr>
          <p:cNvPr id="133" name="Google Shape;133;p20"/>
          <p:cNvSpPr txBox="1"/>
          <p:nvPr/>
        </p:nvSpPr>
        <p:spPr>
          <a:xfrm>
            <a:off x="6635825" y="114375"/>
            <a:ext cx="2434800" cy="3558300"/>
          </a:xfrm>
          <a:prstGeom prst="rect">
            <a:avLst/>
          </a:prstGeom>
          <a:solidFill>
            <a:srgbClr val="434343"/>
          </a:solidFill>
          <a:ln w="9525" cap="flat" cmpd="sng">
            <a:solidFill>
              <a:srgbClr val="000000"/>
            </a:solidFill>
            <a:prstDash val="dot"/>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b="1">
                <a:solidFill>
                  <a:srgbClr val="569CD6"/>
                </a:solidFill>
                <a:latin typeface="Courier New"/>
                <a:ea typeface="Courier New"/>
                <a:cs typeface="Courier New"/>
                <a:sym typeface="Courier New"/>
              </a:rPr>
              <a:t>var</a:t>
            </a:r>
            <a:r>
              <a:rPr lang="es" sz="1050" b="1">
                <a:solidFill>
                  <a:srgbClr val="D4D4D4"/>
                </a:solidFill>
                <a:latin typeface="Courier New"/>
                <a:ea typeface="Courier New"/>
                <a:cs typeface="Courier New"/>
                <a:sym typeface="Courier New"/>
              </a:rPr>
              <a:t> </a:t>
            </a:r>
            <a:r>
              <a:rPr lang="es" sz="1050" b="1">
                <a:solidFill>
                  <a:srgbClr val="9CDCFE"/>
                </a:solidFill>
                <a:latin typeface="Courier New"/>
                <a:ea typeface="Courier New"/>
                <a:cs typeface="Courier New"/>
                <a:sym typeface="Courier New"/>
              </a:rPr>
              <a:t>n1</a:t>
            </a:r>
            <a:r>
              <a:rPr lang="es" sz="1050" b="1">
                <a:solidFill>
                  <a:srgbClr val="D4D4D4"/>
                </a:solidFill>
                <a:latin typeface="Courier New"/>
                <a:ea typeface="Courier New"/>
                <a:cs typeface="Courier New"/>
                <a:sym typeface="Courier New"/>
              </a:rPr>
              <a:t>=</a:t>
            </a:r>
            <a:r>
              <a:rPr lang="es" sz="1050" b="1">
                <a:solidFill>
                  <a:srgbClr val="B5CEA8"/>
                </a:solidFill>
                <a:latin typeface="Courier New"/>
                <a:ea typeface="Courier New"/>
                <a:cs typeface="Courier New"/>
                <a:sym typeface="Courier New"/>
              </a:rPr>
              <a:t>3</a:t>
            </a:r>
            <a:r>
              <a:rPr lang="es" sz="1050" b="1">
                <a:solidFill>
                  <a:srgbClr val="D4D4D4"/>
                </a:solidFill>
                <a:latin typeface="Courier New"/>
                <a:ea typeface="Courier New"/>
                <a:cs typeface="Courier New"/>
                <a:sym typeface="Courier New"/>
              </a:rPr>
              <a:t>;</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C586C0"/>
                </a:solidFill>
                <a:latin typeface="Courier New"/>
                <a:ea typeface="Courier New"/>
                <a:cs typeface="Courier New"/>
                <a:sym typeface="Courier New"/>
              </a:rPr>
              <a:t>switch</a:t>
            </a:r>
            <a:r>
              <a:rPr lang="es" sz="1050" b="1">
                <a:solidFill>
                  <a:srgbClr val="D4D4D4"/>
                </a:solidFill>
                <a:latin typeface="Courier New"/>
                <a:ea typeface="Courier New"/>
                <a:cs typeface="Courier New"/>
                <a:sym typeface="Courier New"/>
              </a:rPr>
              <a:t> (</a:t>
            </a:r>
            <a:r>
              <a:rPr lang="es" sz="1050" b="1">
                <a:solidFill>
                  <a:srgbClr val="9CDCFE"/>
                </a:solidFill>
                <a:latin typeface="Courier New"/>
                <a:ea typeface="Courier New"/>
                <a:cs typeface="Courier New"/>
                <a:sym typeface="Courier New"/>
              </a:rPr>
              <a:t>n1</a:t>
            </a:r>
            <a:r>
              <a:rPr lang="es" sz="1050" b="1">
                <a:solidFill>
                  <a:srgbClr val="D4D4D4"/>
                </a:solidFill>
                <a:latin typeface="Courier New"/>
                <a:ea typeface="Courier New"/>
                <a:cs typeface="Courier New"/>
                <a:sym typeface="Courier New"/>
              </a:rPr>
              <a:t>) {</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C586C0"/>
                </a:solidFill>
                <a:latin typeface="Courier New"/>
                <a:ea typeface="Courier New"/>
                <a:cs typeface="Courier New"/>
                <a:sym typeface="Courier New"/>
              </a:rPr>
              <a:t>case</a:t>
            </a:r>
            <a:r>
              <a:rPr lang="es" sz="1050" b="1">
                <a:solidFill>
                  <a:srgbClr val="D4D4D4"/>
                </a:solidFill>
                <a:latin typeface="Courier New"/>
                <a:ea typeface="Courier New"/>
                <a:cs typeface="Courier New"/>
                <a:sym typeface="Courier New"/>
              </a:rPr>
              <a:t> </a:t>
            </a:r>
            <a:r>
              <a:rPr lang="es" sz="1050" b="1">
                <a:solidFill>
                  <a:srgbClr val="B5CEA8"/>
                </a:solidFill>
                <a:latin typeface="Courier New"/>
                <a:ea typeface="Courier New"/>
                <a:cs typeface="Courier New"/>
                <a:sym typeface="Courier New"/>
              </a:rPr>
              <a:t>1</a:t>
            </a:r>
            <a:r>
              <a:rPr lang="es" sz="1050" b="1">
                <a:solidFill>
                  <a:srgbClr val="D4D4D4"/>
                </a:solidFill>
                <a:latin typeface="Courier New"/>
                <a:ea typeface="Courier New"/>
                <a:cs typeface="Courier New"/>
                <a:sym typeface="Courier New"/>
              </a:rPr>
              <a:t>:</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DCDCAA"/>
                </a:solidFill>
                <a:latin typeface="Courier New"/>
                <a:ea typeface="Courier New"/>
                <a:cs typeface="Courier New"/>
                <a:sym typeface="Courier New"/>
              </a:rPr>
              <a:t>alert</a:t>
            </a:r>
            <a:r>
              <a:rPr lang="es" sz="1050" b="1">
                <a:solidFill>
                  <a:srgbClr val="D4D4D4"/>
                </a:solidFill>
                <a:latin typeface="Courier New"/>
                <a:ea typeface="Courier New"/>
                <a:cs typeface="Courier New"/>
                <a:sym typeface="Courier New"/>
              </a:rPr>
              <a:t> (</a:t>
            </a:r>
            <a:r>
              <a:rPr lang="es" sz="1050" b="1">
                <a:solidFill>
                  <a:srgbClr val="CE9178"/>
                </a:solidFill>
                <a:latin typeface="Courier New"/>
                <a:ea typeface="Courier New"/>
                <a:cs typeface="Courier New"/>
                <a:sym typeface="Courier New"/>
              </a:rPr>
              <a:t>"valor 1"</a:t>
            </a:r>
            <a:r>
              <a:rPr lang="es" sz="1050" b="1">
                <a:solidFill>
                  <a:srgbClr val="D4D4D4"/>
                </a:solidFill>
                <a:latin typeface="Courier New"/>
                <a:ea typeface="Courier New"/>
                <a:cs typeface="Courier New"/>
                <a:sym typeface="Courier New"/>
              </a:rPr>
              <a:t>);</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C586C0"/>
                </a:solidFill>
                <a:latin typeface="Courier New"/>
                <a:ea typeface="Courier New"/>
                <a:cs typeface="Courier New"/>
                <a:sym typeface="Courier New"/>
              </a:rPr>
              <a:t>break</a:t>
            </a:r>
            <a:r>
              <a:rPr lang="es" sz="1050" b="1">
                <a:solidFill>
                  <a:srgbClr val="D4D4D4"/>
                </a:solidFill>
                <a:latin typeface="Courier New"/>
                <a:ea typeface="Courier New"/>
                <a:cs typeface="Courier New"/>
                <a:sym typeface="Courier New"/>
              </a:rPr>
              <a:t>;</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C586C0"/>
                </a:solidFill>
                <a:latin typeface="Courier New"/>
                <a:ea typeface="Courier New"/>
                <a:cs typeface="Courier New"/>
                <a:sym typeface="Courier New"/>
              </a:rPr>
              <a:t>case</a:t>
            </a:r>
            <a:r>
              <a:rPr lang="es" sz="1050" b="1">
                <a:solidFill>
                  <a:srgbClr val="D4D4D4"/>
                </a:solidFill>
                <a:latin typeface="Courier New"/>
                <a:ea typeface="Courier New"/>
                <a:cs typeface="Courier New"/>
                <a:sym typeface="Courier New"/>
              </a:rPr>
              <a:t> </a:t>
            </a:r>
            <a:r>
              <a:rPr lang="es" sz="1050" b="1">
                <a:solidFill>
                  <a:srgbClr val="B5CEA8"/>
                </a:solidFill>
                <a:latin typeface="Courier New"/>
                <a:ea typeface="Courier New"/>
                <a:cs typeface="Courier New"/>
                <a:sym typeface="Courier New"/>
              </a:rPr>
              <a:t>2</a:t>
            </a:r>
            <a:r>
              <a:rPr lang="es" sz="1050" b="1">
                <a:solidFill>
                  <a:srgbClr val="D4D4D4"/>
                </a:solidFill>
                <a:latin typeface="Courier New"/>
                <a:ea typeface="Courier New"/>
                <a:cs typeface="Courier New"/>
                <a:sym typeface="Courier New"/>
              </a:rPr>
              <a:t>:</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DCDCAA"/>
                </a:solidFill>
                <a:latin typeface="Courier New"/>
                <a:ea typeface="Courier New"/>
                <a:cs typeface="Courier New"/>
                <a:sym typeface="Courier New"/>
              </a:rPr>
              <a:t>alert</a:t>
            </a:r>
            <a:r>
              <a:rPr lang="es" sz="1050" b="1">
                <a:solidFill>
                  <a:srgbClr val="D4D4D4"/>
                </a:solidFill>
                <a:latin typeface="Courier New"/>
                <a:ea typeface="Courier New"/>
                <a:cs typeface="Courier New"/>
                <a:sym typeface="Courier New"/>
              </a:rPr>
              <a:t> (</a:t>
            </a:r>
            <a:r>
              <a:rPr lang="es" sz="1050" b="1">
                <a:solidFill>
                  <a:srgbClr val="CE9178"/>
                </a:solidFill>
                <a:latin typeface="Courier New"/>
                <a:ea typeface="Courier New"/>
                <a:cs typeface="Courier New"/>
                <a:sym typeface="Courier New"/>
              </a:rPr>
              <a:t>"valor 2"</a:t>
            </a:r>
            <a:r>
              <a:rPr lang="es" sz="1050" b="1">
                <a:solidFill>
                  <a:srgbClr val="D4D4D4"/>
                </a:solidFill>
                <a:latin typeface="Courier New"/>
                <a:ea typeface="Courier New"/>
                <a:cs typeface="Courier New"/>
                <a:sym typeface="Courier New"/>
              </a:rPr>
              <a:t>);</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C586C0"/>
                </a:solidFill>
                <a:latin typeface="Courier New"/>
                <a:ea typeface="Courier New"/>
                <a:cs typeface="Courier New"/>
                <a:sym typeface="Courier New"/>
              </a:rPr>
              <a:t>break</a:t>
            </a:r>
            <a:r>
              <a:rPr lang="es" sz="1050" b="1">
                <a:solidFill>
                  <a:srgbClr val="D4D4D4"/>
                </a:solidFill>
                <a:latin typeface="Courier New"/>
                <a:ea typeface="Courier New"/>
                <a:cs typeface="Courier New"/>
                <a:sym typeface="Courier New"/>
              </a:rPr>
              <a:t>;</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C586C0"/>
                </a:solidFill>
                <a:latin typeface="Courier New"/>
                <a:ea typeface="Courier New"/>
                <a:cs typeface="Courier New"/>
                <a:sym typeface="Courier New"/>
              </a:rPr>
              <a:t>case</a:t>
            </a:r>
            <a:r>
              <a:rPr lang="es" sz="1050" b="1">
                <a:solidFill>
                  <a:srgbClr val="D4D4D4"/>
                </a:solidFill>
                <a:latin typeface="Courier New"/>
                <a:ea typeface="Courier New"/>
                <a:cs typeface="Courier New"/>
                <a:sym typeface="Courier New"/>
              </a:rPr>
              <a:t> </a:t>
            </a:r>
            <a:r>
              <a:rPr lang="es" sz="1050" b="1">
                <a:solidFill>
                  <a:srgbClr val="B5CEA8"/>
                </a:solidFill>
                <a:latin typeface="Courier New"/>
                <a:ea typeface="Courier New"/>
                <a:cs typeface="Courier New"/>
                <a:sym typeface="Courier New"/>
              </a:rPr>
              <a:t>3</a:t>
            </a:r>
            <a:r>
              <a:rPr lang="es" sz="1050" b="1">
                <a:solidFill>
                  <a:srgbClr val="D4D4D4"/>
                </a:solidFill>
                <a:latin typeface="Courier New"/>
                <a:ea typeface="Courier New"/>
                <a:cs typeface="Courier New"/>
                <a:sym typeface="Courier New"/>
              </a:rPr>
              <a:t>:</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DCDCAA"/>
                </a:solidFill>
                <a:latin typeface="Courier New"/>
                <a:ea typeface="Courier New"/>
                <a:cs typeface="Courier New"/>
                <a:sym typeface="Courier New"/>
              </a:rPr>
              <a:t>alert</a:t>
            </a:r>
            <a:r>
              <a:rPr lang="es" sz="1050" b="1">
                <a:solidFill>
                  <a:srgbClr val="D4D4D4"/>
                </a:solidFill>
                <a:latin typeface="Courier New"/>
                <a:ea typeface="Courier New"/>
                <a:cs typeface="Courier New"/>
                <a:sym typeface="Courier New"/>
              </a:rPr>
              <a:t> (</a:t>
            </a:r>
            <a:r>
              <a:rPr lang="es" sz="1050" b="1">
                <a:solidFill>
                  <a:srgbClr val="CE9178"/>
                </a:solidFill>
                <a:latin typeface="Courier New"/>
                <a:ea typeface="Courier New"/>
                <a:cs typeface="Courier New"/>
                <a:sym typeface="Courier New"/>
              </a:rPr>
              <a:t>"valor 3"</a:t>
            </a:r>
            <a:r>
              <a:rPr lang="es" sz="1050" b="1">
                <a:solidFill>
                  <a:srgbClr val="D4D4D4"/>
                </a:solidFill>
                <a:latin typeface="Courier New"/>
                <a:ea typeface="Courier New"/>
                <a:cs typeface="Courier New"/>
                <a:sym typeface="Courier New"/>
              </a:rPr>
              <a:t>); </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C586C0"/>
                </a:solidFill>
                <a:latin typeface="Courier New"/>
                <a:ea typeface="Courier New"/>
                <a:cs typeface="Courier New"/>
                <a:sym typeface="Courier New"/>
              </a:rPr>
              <a:t>break</a:t>
            </a:r>
            <a:r>
              <a:rPr lang="es" sz="1050" b="1">
                <a:solidFill>
                  <a:srgbClr val="D4D4D4"/>
                </a:solidFill>
                <a:latin typeface="Courier New"/>
                <a:ea typeface="Courier New"/>
                <a:cs typeface="Courier New"/>
                <a:sym typeface="Courier New"/>
              </a:rPr>
              <a:t>;  </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C586C0"/>
                </a:solidFill>
                <a:latin typeface="Courier New"/>
                <a:ea typeface="Courier New"/>
                <a:cs typeface="Courier New"/>
                <a:sym typeface="Courier New"/>
              </a:rPr>
              <a:t>default</a:t>
            </a:r>
            <a:r>
              <a:rPr lang="es" sz="1050" b="1">
                <a:solidFill>
                  <a:srgbClr val="D4D4D4"/>
                </a:solidFill>
                <a:latin typeface="Courier New"/>
                <a:ea typeface="Courier New"/>
                <a:cs typeface="Courier New"/>
                <a:sym typeface="Courier New"/>
              </a:rPr>
              <a:t>:</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DCDCAA"/>
                </a:solidFill>
                <a:latin typeface="Courier New"/>
                <a:ea typeface="Courier New"/>
                <a:cs typeface="Courier New"/>
                <a:sym typeface="Courier New"/>
              </a:rPr>
              <a:t>alert</a:t>
            </a:r>
            <a:r>
              <a:rPr lang="es" sz="1050" b="1">
                <a:solidFill>
                  <a:srgbClr val="D4D4D4"/>
                </a:solidFill>
                <a:latin typeface="Courier New"/>
                <a:ea typeface="Courier New"/>
                <a:cs typeface="Courier New"/>
                <a:sym typeface="Courier New"/>
              </a:rPr>
              <a:t>(</a:t>
            </a:r>
            <a:r>
              <a:rPr lang="es" sz="1050" b="1">
                <a:solidFill>
                  <a:srgbClr val="CE9178"/>
                </a:solidFill>
                <a:latin typeface="Courier New"/>
                <a:ea typeface="Courier New"/>
                <a:cs typeface="Courier New"/>
                <a:sym typeface="Courier New"/>
              </a:rPr>
              <a:t>"defecto"</a:t>
            </a:r>
            <a:r>
              <a:rPr lang="es" sz="1050" b="1">
                <a:solidFill>
                  <a:srgbClr val="D4D4D4"/>
                </a:solidFill>
                <a:latin typeface="Courier New"/>
                <a:ea typeface="Courier New"/>
                <a:cs typeface="Courier New"/>
                <a:sym typeface="Courier New"/>
              </a:rPr>
              <a:t>);</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a:t>
            </a:r>
            <a:r>
              <a:rPr lang="es" sz="1050" b="1">
                <a:solidFill>
                  <a:srgbClr val="C586C0"/>
                </a:solidFill>
                <a:latin typeface="Courier New"/>
                <a:ea typeface="Courier New"/>
                <a:cs typeface="Courier New"/>
                <a:sym typeface="Courier New"/>
              </a:rPr>
              <a:t>break</a:t>
            </a:r>
            <a:r>
              <a:rPr lang="es" sz="1050" b="1">
                <a:solidFill>
                  <a:srgbClr val="D4D4D4"/>
                </a:solidFill>
                <a:latin typeface="Courier New"/>
                <a:ea typeface="Courier New"/>
                <a:cs typeface="Courier New"/>
                <a:sym typeface="Courier New"/>
              </a:rPr>
              <a:t>;</a:t>
            </a:r>
            <a:endParaRPr sz="105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a:solidFill>
                  <a:srgbClr val="D4D4D4"/>
                </a:solidFill>
                <a:latin typeface="Courier New"/>
                <a:ea typeface="Courier New"/>
                <a:cs typeface="Courier New"/>
                <a:sym typeface="Courier New"/>
              </a:rPr>
              <a:t>} // Muestra “Valor 3”</a:t>
            </a:r>
            <a:endParaRPr sz="1050" b="1">
              <a:solidFill>
                <a:srgbClr val="D4D4D4"/>
              </a:solidFill>
              <a:latin typeface="Courier New"/>
              <a:ea typeface="Courier New"/>
              <a:cs typeface="Courier New"/>
              <a:sym typeface="Courier New"/>
            </a:endParaRPr>
          </a:p>
          <a:p>
            <a:pPr marL="0" lvl="0" indent="0" algn="l" rtl="0">
              <a:spcBef>
                <a:spcPts val="0"/>
              </a:spcBef>
              <a:spcAft>
                <a:spcPts val="0"/>
              </a:spcAft>
              <a:buNone/>
            </a:pPr>
            <a:endParaRPr b="1">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6902BFC7-0C37-7E50-5B1E-FD0BC75B12D4}"/>
            </a:ext>
          </a:extLst>
        </p:cNvPr>
        <p:cNvGrpSpPr/>
        <p:nvPr/>
      </p:nvGrpSpPr>
      <p:grpSpPr>
        <a:xfrm>
          <a:off x="0" y="0"/>
          <a:ext cx="0" cy="0"/>
          <a:chOff x="0" y="0"/>
          <a:chExt cx="0" cy="0"/>
        </a:xfrm>
      </p:grpSpPr>
      <p:sp>
        <p:nvSpPr>
          <p:cNvPr id="131" name="Google Shape;131;p20">
            <a:extLst>
              <a:ext uri="{FF2B5EF4-FFF2-40B4-BE49-F238E27FC236}">
                <a16:creationId xmlns:a16="http://schemas.microsoft.com/office/drawing/2014/main" id="{B09E2162-ACEF-F789-B3B0-53B37DCB1AF7}"/>
              </a:ext>
            </a:extLst>
          </p:cNvPr>
          <p:cNvSpPr txBox="1">
            <a:spLocks noGrp="1"/>
          </p:cNvSpPr>
          <p:nvPr>
            <p:ph type="body" idx="4294967295"/>
          </p:nvPr>
        </p:nvSpPr>
        <p:spPr>
          <a:xfrm>
            <a:off x="0" y="635771"/>
            <a:ext cx="8521700" cy="4246562"/>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dirty="0"/>
              <a:t> </a:t>
            </a:r>
            <a:endParaRPr dirty="0"/>
          </a:p>
        </p:txBody>
      </p:sp>
      <p:sp>
        <p:nvSpPr>
          <p:cNvPr id="3" name="CuadroTexto 2">
            <a:extLst>
              <a:ext uri="{FF2B5EF4-FFF2-40B4-BE49-F238E27FC236}">
                <a16:creationId xmlns:a16="http://schemas.microsoft.com/office/drawing/2014/main" id="{AB101040-E6BC-AE02-FA8F-86075449199D}"/>
              </a:ext>
            </a:extLst>
          </p:cNvPr>
          <p:cNvSpPr txBox="1"/>
          <p:nvPr/>
        </p:nvSpPr>
        <p:spPr>
          <a:xfrm>
            <a:off x="359228" y="943548"/>
            <a:ext cx="4572000" cy="3813416"/>
          </a:xfrm>
          <a:prstGeom prst="rect">
            <a:avLst/>
          </a:prstGeom>
          <a:solidFill>
            <a:srgbClr val="434343"/>
          </a:solidFill>
          <a:ln w="9525" cap="flat" cmpd="sng">
            <a:solidFill>
              <a:srgbClr val="000000"/>
            </a:solidFill>
            <a:prstDash val="dot"/>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nSpc>
                <a:spcPct val="135714"/>
              </a:lnSpc>
              <a:buNone/>
              <a:defRPr sz="1050" b="1">
                <a:solidFill>
                  <a:srgbClr val="569CD6"/>
                </a:solidFill>
                <a:latin typeface="Courier New"/>
                <a:ea typeface="Courier New"/>
                <a:cs typeface="Courier New"/>
              </a:defRPr>
            </a:lvl1pPr>
          </a:lstStyle>
          <a:p>
            <a:r>
              <a:rPr lang="es-ES" dirty="0" err="1"/>
              <a:t>let</a:t>
            </a:r>
            <a:r>
              <a:rPr lang="es-ES" dirty="0"/>
              <a:t> </a:t>
            </a:r>
            <a:r>
              <a:rPr lang="es-ES" dirty="0" err="1">
                <a:solidFill>
                  <a:schemeClr val="bg1"/>
                </a:solidFill>
              </a:rPr>
              <a:t>dia</a:t>
            </a:r>
            <a:r>
              <a:rPr lang="es-ES" dirty="0"/>
              <a:t> = "Lunes";</a:t>
            </a:r>
          </a:p>
          <a:p>
            <a:endParaRPr lang="es-ES" dirty="0"/>
          </a:p>
          <a:p>
            <a:r>
              <a:rPr lang="es-ES" dirty="0"/>
              <a:t>switch (</a:t>
            </a:r>
            <a:r>
              <a:rPr lang="es-ES" dirty="0" err="1">
                <a:solidFill>
                  <a:schemeClr val="bg1"/>
                </a:solidFill>
              </a:rPr>
              <a:t>dia</a:t>
            </a:r>
            <a:r>
              <a:rPr lang="es-ES" dirty="0"/>
              <a:t>)</a:t>
            </a:r>
            <a:r>
              <a:rPr lang="es-ES" dirty="0">
                <a:solidFill>
                  <a:schemeClr val="bg1"/>
                </a:solidFill>
              </a:rPr>
              <a:t> {</a:t>
            </a:r>
          </a:p>
          <a:p>
            <a:r>
              <a:rPr lang="es-ES" dirty="0"/>
              <a:t>  case </a:t>
            </a:r>
            <a:r>
              <a:rPr lang="es-ES" dirty="0">
                <a:solidFill>
                  <a:srgbClr val="00B050"/>
                </a:solidFill>
              </a:rPr>
              <a:t>"Lunes"</a:t>
            </a:r>
            <a:r>
              <a:rPr lang="es-ES" dirty="0"/>
              <a:t>:</a:t>
            </a:r>
          </a:p>
          <a:p>
            <a:r>
              <a:rPr lang="es-ES" dirty="0"/>
              <a:t>    </a:t>
            </a:r>
            <a:r>
              <a:rPr lang="es-ES" dirty="0">
                <a:solidFill>
                  <a:srgbClr val="FF0000"/>
                </a:solidFill>
              </a:rPr>
              <a:t>console</a:t>
            </a:r>
            <a:r>
              <a:rPr lang="es-ES" dirty="0"/>
              <a:t>.</a:t>
            </a:r>
            <a:r>
              <a:rPr lang="es-ES" dirty="0">
                <a:solidFill>
                  <a:schemeClr val="bg1"/>
                </a:solidFill>
              </a:rPr>
              <a:t>log</a:t>
            </a:r>
            <a:r>
              <a:rPr lang="es-ES" dirty="0"/>
              <a:t>(</a:t>
            </a:r>
            <a:r>
              <a:rPr lang="es-ES" dirty="0">
                <a:solidFill>
                  <a:srgbClr val="00B050"/>
                </a:solidFill>
              </a:rPr>
              <a:t>"Inicio de semana."</a:t>
            </a:r>
            <a:r>
              <a:rPr lang="es-ES" dirty="0"/>
              <a:t>);</a:t>
            </a:r>
          </a:p>
          <a:p>
            <a:r>
              <a:rPr lang="es-ES" dirty="0"/>
              <a:t>    break;</a:t>
            </a:r>
          </a:p>
          <a:p>
            <a:r>
              <a:rPr lang="es-ES" dirty="0"/>
              <a:t>  case </a:t>
            </a:r>
            <a:r>
              <a:rPr lang="es-ES" dirty="0">
                <a:solidFill>
                  <a:srgbClr val="00B050"/>
                </a:solidFill>
              </a:rPr>
              <a:t>"Viernes"</a:t>
            </a:r>
            <a:r>
              <a:rPr lang="es-ES" dirty="0"/>
              <a:t>:</a:t>
            </a:r>
          </a:p>
          <a:p>
            <a:r>
              <a:rPr lang="es-ES" dirty="0"/>
              <a:t>    </a:t>
            </a:r>
            <a:r>
              <a:rPr lang="es-ES" dirty="0">
                <a:solidFill>
                  <a:srgbClr val="FF0000"/>
                </a:solidFill>
              </a:rPr>
              <a:t>console</a:t>
            </a:r>
            <a:r>
              <a:rPr lang="es-ES" dirty="0"/>
              <a:t>.</a:t>
            </a:r>
            <a:r>
              <a:rPr lang="es-ES" dirty="0">
                <a:solidFill>
                  <a:schemeClr val="bg1"/>
                </a:solidFill>
              </a:rPr>
              <a:t>log</a:t>
            </a:r>
            <a:r>
              <a:rPr lang="es-ES" dirty="0"/>
              <a:t>(</a:t>
            </a:r>
            <a:r>
              <a:rPr lang="es-ES" dirty="0">
                <a:solidFill>
                  <a:srgbClr val="00B050"/>
                </a:solidFill>
              </a:rPr>
              <a:t>"Casi el fin de semana."</a:t>
            </a:r>
            <a:r>
              <a:rPr lang="es-ES" dirty="0"/>
              <a:t>);</a:t>
            </a:r>
          </a:p>
          <a:p>
            <a:r>
              <a:rPr lang="es-ES" dirty="0"/>
              <a:t>    break;</a:t>
            </a:r>
          </a:p>
          <a:p>
            <a:r>
              <a:rPr lang="es-ES" dirty="0"/>
              <a:t>  case </a:t>
            </a:r>
            <a:r>
              <a:rPr lang="es-ES" dirty="0">
                <a:solidFill>
                  <a:srgbClr val="00B050"/>
                </a:solidFill>
              </a:rPr>
              <a:t>"Sábado"</a:t>
            </a:r>
            <a:r>
              <a:rPr lang="es-ES" dirty="0"/>
              <a:t>:</a:t>
            </a:r>
          </a:p>
          <a:p>
            <a:r>
              <a:rPr lang="es-ES" dirty="0"/>
              <a:t>  case </a:t>
            </a:r>
            <a:r>
              <a:rPr lang="es-ES" dirty="0">
                <a:solidFill>
                  <a:srgbClr val="00B050"/>
                </a:solidFill>
              </a:rPr>
              <a:t>"Domingo"</a:t>
            </a:r>
            <a:r>
              <a:rPr lang="es-ES" dirty="0"/>
              <a:t>: </a:t>
            </a:r>
            <a:r>
              <a:rPr lang="es-ES" dirty="0">
                <a:solidFill>
                  <a:schemeClr val="bg1">
                    <a:lumMod val="65000"/>
                  </a:schemeClr>
                </a:solidFill>
              </a:rPr>
              <a:t>// Casos agrupados</a:t>
            </a:r>
          </a:p>
          <a:p>
            <a:r>
              <a:rPr lang="es-ES" dirty="0"/>
              <a:t>    </a:t>
            </a:r>
            <a:r>
              <a:rPr lang="es-ES" dirty="0">
                <a:solidFill>
                  <a:srgbClr val="FF0000"/>
                </a:solidFill>
              </a:rPr>
              <a:t>console</a:t>
            </a:r>
            <a:r>
              <a:rPr lang="es-ES" dirty="0"/>
              <a:t>.</a:t>
            </a:r>
            <a:r>
              <a:rPr lang="es-ES" dirty="0">
                <a:solidFill>
                  <a:schemeClr val="bg1"/>
                </a:solidFill>
              </a:rPr>
              <a:t>log</a:t>
            </a:r>
            <a:r>
              <a:rPr lang="es-ES" dirty="0"/>
              <a:t>(</a:t>
            </a:r>
            <a:r>
              <a:rPr lang="es-ES" dirty="0">
                <a:solidFill>
                  <a:srgbClr val="00B050"/>
                </a:solidFill>
              </a:rPr>
              <a:t>"Es fin de semana."</a:t>
            </a:r>
            <a:r>
              <a:rPr lang="es-ES" dirty="0"/>
              <a:t>);</a:t>
            </a:r>
          </a:p>
          <a:p>
            <a:r>
              <a:rPr lang="es-ES" dirty="0"/>
              <a:t>    break;</a:t>
            </a:r>
          </a:p>
          <a:p>
            <a:r>
              <a:rPr lang="es-ES" dirty="0"/>
              <a:t>  default:</a:t>
            </a:r>
          </a:p>
          <a:p>
            <a:r>
              <a:rPr lang="es-ES" dirty="0"/>
              <a:t>    </a:t>
            </a:r>
            <a:r>
              <a:rPr lang="es-ES" dirty="0">
                <a:solidFill>
                  <a:srgbClr val="FF0000"/>
                </a:solidFill>
              </a:rPr>
              <a:t>console</a:t>
            </a:r>
            <a:r>
              <a:rPr lang="es-ES" dirty="0"/>
              <a:t>.</a:t>
            </a:r>
            <a:r>
              <a:rPr lang="es-ES" dirty="0">
                <a:solidFill>
                  <a:schemeClr val="bg1"/>
                </a:solidFill>
              </a:rPr>
              <a:t>log</a:t>
            </a:r>
            <a:r>
              <a:rPr lang="es-ES" dirty="0"/>
              <a:t>(</a:t>
            </a:r>
            <a:r>
              <a:rPr lang="es-ES" dirty="0">
                <a:solidFill>
                  <a:srgbClr val="00B050"/>
                </a:solidFill>
              </a:rPr>
              <a:t>"Día laboral intermedio."</a:t>
            </a:r>
            <a:r>
              <a:rPr lang="es-ES" dirty="0"/>
              <a:t>);</a:t>
            </a:r>
          </a:p>
          <a:p>
            <a:r>
              <a:rPr lang="es-ES" dirty="0"/>
              <a:t>    break;</a:t>
            </a:r>
          </a:p>
          <a:p>
            <a:r>
              <a:rPr lang="es-ES" dirty="0"/>
              <a:t>}</a:t>
            </a:r>
          </a:p>
        </p:txBody>
      </p:sp>
      <p:sp>
        <p:nvSpPr>
          <p:cNvPr id="4" name="CuadroTexto 3">
            <a:extLst>
              <a:ext uri="{FF2B5EF4-FFF2-40B4-BE49-F238E27FC236}">
                <a16:creationId xmlns:a16="http://schemas.microsoft.com/office/drawing/2014/main" id="{4EBD4B0D-543E-1379-671E-1433285BE6E3}"/>
              </a:ext>
            </a:extLst>
          </p:cNvPr>
          <p:cNvSpPr txBox="1"/>
          <p:nvPr/>
        </p:nvSpPr>
        <p:spPr>
          <a:xfrm>
            <a:off x="824593" y="498021"/>
            <a:ext cx="2818400" cy="307777"/>
          </a:xfrm>
          <a:prstGeom prst="rect">
            <a:avLst/>
          </a:prstGeom>
          <a:noFill/>
        </p:spPr>
        <p:txBody>
          <a:bodyPr wrap="none" rtlCol="0">
            <a:spAutoFit/>
          </a:bodyPr>
          <a:lstStyle/>
          <a:p>
            <a:r>
              <a:rPr lang="es-ES" b="1" dirty="0"/>
              <a:t>Ejemplos de casos agrupados:</a:t>
            </a:r>
          </a:p>
        </p:txBody>
      </p:sp>
      <p:sp>
        <p:nvSpPr>
          <p:cNvPr id="5" name="CuadroTexto 4">
            <a:extLst>
              <a:ext uri="{FF2B5EF4-FFF2-40B4-BE49-F238E27FC236}">
                <a16:creationId xmlns:a16="http://schemas.microsoft.com/office/drawing/2014/main" id="{FF955E44-EFA9-3245-7D2F-FDCBC00FBEE8}"/>
              </a:ext>
            </a:extLst>
          </p:cNvPr>
          <p:cNvSpPr txBox="1"/>
          <p:nvPr/>
        </p:nvSpPr>
        <p:spPr>
          <a:xfrm>
            <a:off x="5253814" y="1258220"/>
            <a:ext cx="3530958" cy="3184072"/>
          </a:xfrm>
          <a:prstGeom prst="rect">
            <a:avLst/>
          </a:prstGeom>
          <a:solidFill>
            <a:srgbClr val="434343"/>
          </a:solidFill>
          <a:ln w="9525" cap="flat" cmpd="sng">
            <a:solidFill>
              <a:srgbClr val="000000"/>
            </a:solidFill>
            <a:prstDash val="dot"/>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RPr/>
            </a:defPPr>
            <a:lvl1pPr marL="0" indent="0">
              <a:lnSpc>
                <a:spcPct val="135714"/>
              </a:lnSpc>
              <a:buNone/>
              <a:defRPr sz="1050" b="1">
                <a:solidFill>
                  <a:srgbClr val="569CD6"/>
                </a:solidFill>
                <a:latin typeface="Courier New"/>
                <a:ea typeface="Courier New"/>
                <a:cs typeface="Courier New"/>
              </a:defRPr>
            </a:lvl1pPr>
          </a:lstStyle>
          <a:p>
            <a:r>
              <a:rPr lang="es-ES" dirty="0" err="1"/>
              <a:t>let</a:t>
            </a:r>
            <a:r>
              <a:rPr lang="es-ES" dirty="0"/>
              <a:t> </a:t>
            </a:r>
            <a:r>
              <a:rPr lang="es-ES" dirty="0">
                <a:solidFill>
                  <a:schemeClr val="bg1"/>
                </a:solidFill>
              </a:rPr>
              <a:t>fruta</a:t>
            </a:r>
            <a:r>
              <a:rPr lang="es-ES" dirty="0"/>
              <a:t> = "manzana";</a:t>
            </a:r>
          </a:p>
          <a:p>
            <a:endParaRPr lang="es-ES" dirty="0"/>
          </a:p>
          <a:p>
            <a:r>
              <a:rPr lang="es-ES" dirty="0"/>
              <a:t>switch (</a:t>
            </a:r>
            <a:r>
              <a:rPr lang="es-ES" dirty="0">
                <a:solidFill>
                  <a:schemeClr val="bg1"/>
                </a:solidFill>
              </a:rPr>
              <a:t>fruta</a:t>
            </a:r>
            <a:r>
              <a:rPr lang="es-ES" dirty="0"/>
              <a:t>) {</a:t>
            </a:r>
          </a:p>
          <a:p>
            <a:r>
              <a:rPr lang="es-ES" dirty="0"/>
              <a:t>  case </a:t>
            </a:r>
            <a:r>
              <a:rPr lang="es-ES" dirty="0">
                <a:solidFill>
                  <a:srgbClr val="00B050"/>
                </a:solidFill>
              </a:rPr>
              <a:t>"manzana"</a:t>
            </a:r>
            <a:r>
              <a:rPr lang="es-ES" dirty="0"/>
              <a:t>:</a:t>
            </a:r>
          </a:p>
          <a:p>
            <a:r>
              <a:rPr lang="es-ES" dirty="0"/>
              <a:t>  case </a:t>
            </a:r>
            <a:r>
              <a:rPr lang="es-ES" dirty="0">
                <a:solidFill>
                  <a:srgbClr val="00B050"/>
                </a:solidFill>
              </a:rPr>
              <a:t>"pera"</a:t>
            </a:r>
            <a:r>
              <a:rPr lang="es-ES" dirty="0"/>
              <a:t>:</a:t>
            </a:r>
          </a:p>
          <a:p>
            <a:r>
              <a:rPr lang="es-ES" dirty="0"/>
              <a:t>  case </a:t>
            </a:r>
            <a:r>
              <a:rPr lang="es-ES" dirty="0">
                <a:solidFill>
                  <a:srgbClr val="00B050"/>
                </a:solidFill>
              </a:rPr>
              <a:t>"plátano"</a:t>
            </a:r>
            <a:r>
              <a:rPr lang="es-ES" dirty="0"/>
              <a:t>:</a:t>
            </a:r>
          </a:p>
          <a:p>
            <a:r>
              <a:rPr lang="es-ES" dirty="0"/>
              <a:t>    </a:t>
            </a:r>
            <a:r>
              <a:rPr lang="es-ES" dirty="0">
                <a:solidFill>
                  <a:srgbClr val="FF0000"/>
                </a:solidFill>
              </a:rPr>
              <a:t>console</a:t>
            </a:r>
            <a:r>
              <a:rPr lang="es-ES" dirty="0"/>
              <a:t>.</a:t>
            </a:r>
            <a:r>
              <a:rPr lang="es-ES" dirty="0">
                <a:solidFill>
                  <a:schemeClr val="bg1"/>
                </a:solidFill>
              </a:rPr>
              <a:t>log</a:t>
            </a:r>
            <a:r>
              <a:rPr lang="es-ES" dirty="0"/>
              <a:t>(</a:t>
            </a:r>
            <a:r>
              <a:rPr lang="es-ES" dirty="0">
                <a:solidFill>
                  <a:srgbClr val="00B050"/>
                </a:solidFill>
              </a:rPr>
              <a:t>"Es una fruta común."</a:t>
            </a:r>
            <a:r>
              <a:rPr lang="es-ES" dirty="0"/>
              <a:t>);</a:t>
            </a:r>
          </a:p>
          <a:p>
            <a:r>
              <a:rPr lang="es-ES" dirty="0"/>
              <a:t>    break;</a:t>
            </a:r>
          </a:p>
          <a:p>
            <a:r>
              <a:rPr lang="es-ES" dirty="0"/>
              <a:t>  default:</a:t>
            </a:r>
          </a:p>
          <a:p>
            <a:r>
              <a:rPr lang="es-ES" dirty="0"/>
              <a:t>    </a:t>
            </a:r>
            <a:r>
              <a:rPr lang="es-ES" dirty="0">
                <a:solidFill>
                  <a:srgbClr val="FF0000"/>
                </a:solidFill>
              </a:rPr>
              <a:t>console</a:t>
            </a:r>
            <a:r>
              <a:rPr lang="es-ES" dirty="0"/>
              <a:t>.</a:t>
            </a:r>
            <a:r>
              <a:rPr lang="es-ES" dirty="0">
                <a:solidFill>
                  <a:schemeClr val="bg1"/>
                </a:solidFill>
              </a:rPr>
              <a:t>log</a:t>
            </a:r>
            <a:r>
              <a:rPr lang="es-ES" dirty="0"/>
              <a:t>(</a:t>
            </a:r>
            <a:r>
              <a:rPr lang="es-ES" dirty="0">
                <a:solidFill>
                  <a:srgbClr val="00B050"/>
                </a:solidFill>
              </a:rPr>
              <a:t>"Fruta desconocida."</a:t>
            </a:r>
            <a:r>
              <a:rPr lang="es-ES" dirty="0"/>
              <a:t>);</a:t>
            </a:r>
          </a:p>
          <a:p>
            <a:r>
              <a:rPr lang="es-ES" dirty="0"/>
              <a:t>}</a:t>
            </a:r>
          </a:p>
        </p:txBody>
      </p:sp>
    </p:spTree>
    <p:extLst>
      <p:ext uri="{BB962C8B-B14F-4D97-AF65-F5344CB8AC3E}">
        <p14:creationId xmlns:p14="http://schemas.microsoft.com/office/powerpoint/2010/main" val="1438987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Bucle iterativo while</a:t>
            </a:r>
            <a:endParaRPr/>
          </a:p>
        </p:txBody>
      </p:sp>
      <p:sp>
        <p:nvSpPr>
          <p:cNvPr id="139" name="Google Shape;139;p21"/>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t> </a:t>
            </a:r>
            <a:endParaRPr/>
          </a:p>
        </p:txBody>
      </p:sp>
      <p:pic>
        <p:nvPicPr>
          <p:cNvPr id="140" name="Google Shape;140;p21"/>
          <p:cNvPicPr preferRelativeResize="0"/>
          <p:nvPr/>
        </p:nvPicPr>
        <p:blipFill rotWithShape="1">
          <a:blip r:embed="rId3">
            <a:alphaModFix/>
          </a:blip>
          <a:srcRect l="18277" t="17083" r="20203" b="29584"/>
          <a:stretch/>
        </p:blipFill>
        <p:spPr>
          <a:xfrm>
            <a:off x="2598975" y="968550"/>
            <a:ext cx="6321576" cy="3082525"/>
          </a:xfrm>
          <a:prstGeom prst="rect">
            <a:avLst/>
          </a:prstGeom>
          <a:noFill/>
          <a:ln>
            <a:noFill/>
          </a:ln>
        </p:spPr>
      </p:pic>
      <p:sp>
        <p:nvSpPr>
          <p:cNvPr id="141" name="Google Shape;141;p21"/>
          <p:cNvSpPr txBox="1"/>
          <p:nvPr/>
        </p:nvSpPr>
        <p:spPr>
          <a:xfrm>
            <a:off x="214925" y="2788175"/>
            <a:ext cx="5175600" cy="19332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b="1">
                <a:solidFill>
                  <a:srgbClr val="D4D4D4"/>
                </a:solidFill>
                <a:latin typeface="Courier New"/>
                <a:ea typeface="Courier New"/>
                <a:cs typeface="Courier New"/>
                <a:sym typeface="Courier New"/>
              </a:rPr>
              <a:t>            </a:t>
            </a:r>
            <a:r>
              <a:rPr lang="es" b="1">
                <a:solidFill>
                  <a:srgbClr val="569CD6"/>
                </a:solidFill>
                <a:latin typeface="Courier New"/>
                <a:ea typeface="Courier New"/>
                <a:cs typeface="Courier New"/>
                <a:sym typeface="Courier New"/>
              </a:rPr>
              <a:t>var</a:t>
            </a:r>
            <a:r>
              <a:rPr lang="es" b="1">
                <a:solidFill>
                  <a:srgbClr val="D4D4D4"/>
                </a:solidFill>
                <a:latin typeface="Courier New"/>
                <a:ea typeface="Courier New"/>
                <a:cs typeface="Courier New"/>
                <a:sym typeface="Courier New"/>
              </a:rPr>
              <a:t> </a:t>
            </a:r>
            <a:r>
              <a:rPr lang="es" b="1">
                <a:solidFill>
                  <a:srgbClr val="9CDCFE"/>
                </a:solidFill>
                <a:latin typeface="Courier New"/>
                <a:ea typeface="Courier New"/>
                <a:cs typeface="Courier New"/>
                <a:sym typeface="Courier New"/>
              </a:rPr>
              <a:t>x</a:t>
            </a:r>
            <a:r>
              <a:rPr lang="es" b="1">
                <a:solidFill>
                  <a:srgbClr val="D4D4D4"/>
                </a:solidFill>
                <a:latin typeface="Courier New"/>
                <a:ea typeface="Courier New"/>
                <a:cs typeface="Courier New"/>
                <a:sym typeface="Courier New"/>
              </a:rPr>
              <a:t>=</a:t>
            </a:r>
            <a:r>
              <a:rPr lang="es" b="1">
                <a:solidFill>
                  <a:srgbClr val="B5CEA8"/>
                </a:solidFill>
                <a:latin typeface="Courier New"/>
                <a:ea typeface="Courier New"/>
                <a:cs typeface="Courier New"/>
                <a:sym typeface="Courier New"/>
              </a:rPr>
              <a:t>1</a:t>
            </a:r>
            <a:r>
              <a:rPr lang="es" b="1">
                <a:solidFill>
                  <a:srgbClr val="D4D4D4"/>
                </a:solidFill>
                <a:latin typeface="Courier New"/>
                <a:ea typeface="Courier New"/>
                <a:cs typeface="Courier New"/>
                <a:sym typeface="Courier New"/>
              </a:rPr>
              <a:t>;</a:t>
            </a:r>
            <a:endParaRPr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b="1">
                <a:solidFill>
                  <a:srgbClr val="D4D4D4"/>
                </a:solidFill>
                <a:latin typeface="Courier New"/>
                <a:ea typeface="Courier New"/>
                <a:cs typeface="Courier New"/>
                <a:sym typeface="Courier New"/>
              </a:rPr>
              <a:t>            </a:t>
            </a:r>
            <a:r>
              <a:rPr lang="es" b="1">
                <a:solidFill>
                  <a:srgbClr val="C586C0"/>
                </a:solidFill>
                <a:latin typeface="Courier New"/>
                <a:ea typeface="Courier New"/>
                <a:cs typeface="Courier New"/>
                <a:sym typeface="Courier New"/>
              </a:rPr>
              <a:t>while</a:t>
            </a:r>
            <a:r>
              <a:rPr lang="es" b="1">
                <a:solidFill>
                  <a:srgbClr val="D4D4D4"/>
                </a:solidFill>
                <a:latin typeface="Courier New"/>
                <a:ea typeface="Courier New"/>
                <a:cs typeface="Courier New"/>
                <a:sym typeface="Courier New"/>
              </a:rPr>
              <a:t> (</a:t>
            </a:r>
            <a:r>
              <a:rPr lang="es" b="1">
                <a:solidFill>
                  <a:srgbClr val="9CDCFE"/>
                </a:solidFill>
                <a:latin typeface="Courier New"/>
                <a:ea typeface="Courier New"/>
                <a:cs typeface="Courier New"/>
                <a:sym typeface="Courier New"/>
              </a:rPr>
              <a:t>x</a:t>
            </a:r>
            <a:r>
              <a:rPr lang="es" b="1">
                <a:solidFill>
                  <a:srgbClr val="D4D4D4"/>
                </a:solidFill>
                <a:latin typeface="Courier New"/>
                <a:ea typeface="Courier New"/>
                <a:cs typeface="Courier New"/>
                <a:sym typeface="Courier New"/>
              </a:rPr>
              <a:t>&lt;=</a:t>
            </a:r>
            <a:r>
              <a:rPr lang="es" b="1">
                <a:solidFill>
                  <a:srgbClr val="B5CEA8"/>
                </a:solidFill>
                <a:latin typeface="Courier New"/>
                <a:ea typeface="Courier New"/>
                <a:cs typeface="Courier New"/>
                <a:sym typeface="Courier New"/>
              </a:rPr>
              <a:t>5</a:t>
            </a:r>
            <a:r>
              <a:rPr lang="es" b="1">
                <a:solidFill>
                  <a:srgbClr val="D4D4D4"/>
                </a:solidFill>
                <a:latin typeface="Courier New"/>
                <a:ea typeface="Courier New"/>
                <a:cs typeface="Courier New"/>
                <a:sym typeface="Courier New"/>
              </a:rPr>
              <a:t>){</a:t>
            </a:r>
            <a:endParaRPr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b="1">
                <a:solidFill>
                  <a:srgbClr val="D4D4D4"/>
                </a:solidFill>
                <a:latin typeface="Courier New"/>
                <a:ea typeface="Courier New"/>
                <a:cs typeface="Courier New"/>
                <a:sym typeface="Courier New"/>
              </a:rPr>
              <a:t>                </a:t>
            </a:r>
            <a:r>
              <a:rPr lang="es" b="1">
                <a:solidFill>
                  <a:srgbClr val="DCDCAA"/>
                </a:solidFill>
                <a:latin typeface="Courier New"/>
                <a:ea typeface="Courier New"/>
                <a:cs typeface="Courier New"/>
                <a:sym typeface="Courier New"/>
              </a:rPr>
              <a:t>alert</a:t>
            </a:r>
            <a:r>
              <a:rPr lang="es" b="1">
                <a:solidFill>
                  <a:srgbClr val="D4D4D4"/>
                </a:solidFill>
                <a:latin typeface="Courier New"/>
                <a:ea typeface="Courier New"/>
                <a:cs typeface="Courier New"/>
                <a:sym typeface="Courier New"/>
              </a:rPr>
              <a:t> (</a:t>
            </a:r>
            <a:r>
              <a:rPr lang="es" b="1">
                <a:solidFill>
                  <a:srgbClr val="CE9178"/>
                </a:solidFill>
                <a:latin typeface="Courier New"/>
                <a:ea typeface="Courier New"/>
                <a:cs typeface="Courier New"/>
                <a:sym typeface="Courier New"/>
              </a:rPr>
              <a:t>"Valor de X : "</a:t>
            </a:r>
            <a:r>
              <a:rPr lang="es" b="1">
                <a:solidFill>
                  <a:srgbClr val="D4D4D4"/>
                </a:solidFill>
                <a:latin typeface="Courier New"/>
                <a:ea typeface="Courier New"/>
                <a:cs typeface="Courier New"/>
                <a:sym typeface="Courier New"/>
              </a:rPr>
              <a:t> + </a:t>
            </a:r>
            <a:r>
              <a:rPr lang="es" b="1">
                <a:solidFill>
                  <a:srgbClr val="9CDCFE"/>
                </a:solidFill>
                <a:latin typeface="Courier New"/>
                <a:ea typeface="Courier New"/>
                <a:cs typeface="Courier New"/>
                <a:sym typeface="Courier New"/>
              </a:rPr>
              <a:t>x</a:t>
            </a:r>
            <a:r>
              <a:rPr lang="es" b="1">
                <a:solidFill>
                  <a:srgbClr val="D4D4D4"/>
                </a:solidFill>
                <a:latin typeface="Courier New"/>
                <a:ea typeface="Courier New"/>
                <a:cs typeface="Courier New"/>
                <a:sym typeface="Courier New"/>
              </a:rPr>
              <a:t>);</a:t>
            </a:r>
            <a:endParaRPr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b="1">
                <a:solidFill>
                  <a:srgbClr val="D4D4D4"/>
                </a:solidFill>
                <a:latin typeface="Courier New"/>
                <a:ea typeface="Courier New"/>
                <a:cs typeface="Courier New"/>
                <a:sym typeface="Courier New"/>
              </a:rPr>
              <a:t>                </a:t>
            </a:r>
            <a:r>
              <a:rPr lang="es" b="1">
                <a:solidFill>
                  <a:srgbClr val="9CDCFE"/>
                </a:solidFill>
                <a:latin typeface="Courier New"/>
                <a:ea typeface="Courier New"/>
                <a:cs typeface="Courier New"/>
                <a:sym typeface="Courier New"/>
              </a:rPr>
              <a:t>x</a:t>
            </a:r>
            <a:r>
              <a:rPr lang="es" b="1">
                <a:solidFill>
                  <a:srgbClr val="D4D4D4"/>
                </a:solidFill>
                <a:latin typeface="Courier New"/>
                <a:ea typeface="Courier New"/>
                <a:cs typeface="Courier New"/>
                <a:sym typeface="Courier New"/>
              </a:rPr>
              <a:t>++;</a:t>
            </a:r>
            <a:endParaRPr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b="1">
                <a:solidFill>
                  <a:srgbClr val="D4D4D4"/>
                </a:solidFill>
                <a:latin typeface="Courier New"/>
                <a:ea typeface="Courier New"/>
                <a:cs typeface="Courier New"/>
                <a:sym typeface="Courier New"/>
              </a:rPr>
              <a:t>            }</a:t>
            </a:r>
            <a:endParaRPr b="1">
              <a:solidFill>
                <a:srgbClr val="D4D4D4"/>
              </a:solidFill>
              <a:latin typeface="Courier New"/>
              <a:ea typeface="Courier New"/>
              <a:cs typeface="Courier New"/>
              <a:sym typeface="Courier New"/>
            </a:endParaRPr>
          </a:p>
          <a:p>
            <a:pPr marL="0" lvl="0" indent="0" algn="l" rtl="0">
              <a:spcBef>
                <a:spcPts val="0"/>
              </a:spcBef>
              <a:spcAft>
                <a:spcPts val="0"/>
              </a:spcAft>
              <a:buNone/>
            </a:pPr>
            <a:endParaRPr b="1">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Bucle iterativo for</a:t>
            </a:r>
            <a:endParaRPr/>
          </a:p>
        </p:txBody>
      </p:sp>
      <p:sp>
        <p:nvSpPr>
          <p:cNvPr id="147" name="Google Shape;147;p22"/>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Es un bucle iterativo que se ejecuta un número determinado de veces, aunque estas pueden ser variables. Tiene tres secciones: inicialización, condición y modificación.</a:t>
            </a:r>
            <a:endParaRPr/>
          </a:p>
          <a:p>
            <a:pPr marL="0" lvl="0" indent="0" algn="l" rtl="0">
              <a:spcBef>
                <a:spcPts val="1600"/>
              </a:spcBef>
              <a:spcAft>
                <a:spcPts val="1600"/>
              </a:spcAft>
              <a:buNone/>
            </a:pPr>
            <a:endParaRPr/>
          </a:p>
        </p:txBody>
      </p:sp>
      <p:pic>
        <p:nvPicPr>
          <p:cNvPr id="148" name="Google Shape;148;p22"/>
          <p:cNvPicPr preferRelativeResize="0"/>
          <p:nvPr/>
        </p:nvPicPr>
        <p:blipFill rotWithShape="1">
          <a:blip r:embed="rId3">
            <a:alphaModFix/>
          </a:blip>
          <a:srcRect l="19567" t="26460" r="16799" b="29790"/>
          <a:stretch/>
        </p:blipFill>
        <p:spPr>
          <a:xfrm>
            <a:off x="3218250" y="2166175"/>
            <a:ext cx="5818598" cy="2250299"/>
          </a:xfrm>
          <a:prstGeom prst="rect">
            <a:avLst/>
          </a:prstGeom>
          <a:noFill/>
          <a:ln>
            <a:noFill/>
          </a:ln>
        </p:spPr>
      </p:pic>
      <p:sp>
        <p:nvSpPr>
          <p:cNvPr id="149" name="Google Shape;149;p22"/>
          <p:cNvSpPr/>
          <p:nvPr/>
        </p:nvSpPr>
        <p:spPr>
          <a:xfrm>
            <a:off x="7889825" y="1981075"/>
            <a:ext cx="171300" cy="1713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2"/>
          <p:cNvSpPr txBox="1"/>
          <p:nvPr/>
        </p:nvSpPr>
        <p:spPr>
          <a:xfrm>
            <a:off x="211925" y="3481800"/>
            <a:ext cx="3457500" cy="12303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300" b="1">
                <a:solidFill>
                  <a:srgbClr val="569CD6"/>
                </a:solidFill>
                <a:latin typeface="Courier New"/>
                <a:ea typeface="Courier New"/>
                <a:cs typeface="Courier New"/>
                <a:sym typeface="Courier New"/>
              </a:rPr>
              <a:t>var</a:t>
            </a:r>
            <a:r>
              <a:rPr lang="es" sz="1300" b="1">
                <a:solidFill>
                  <a:srgbClr val="D4D4D4"/>
                </a:solidFill>
                <a:latin typeface="Courier New"/>
                <a:ea typeface="Courier New"/>
                <a:cs typeface="Courier New"/>
                <a:sym typeface="Courier New"/>
              </a:rPr>
              <a:t> </a:t>
            </a:r>
            <a:r>
              <a:rPr lang="es" sz="1300" b="1">
                <a:solidFill>
                  <a:srgbClr val="9CDCFE"/>
                </a:solidFill>
                <a:latin typeface="Courier New"/>
                <a:ea typeface="Courier New"/>
                <a:cs typeface="Courier New"/>
                <a:sym typeface="Courier New"/>
              </a:rPr>
              <a:t>x</a:t>
            </a:r>
            <a:r>
              <a:rPr lang="es" sz="1300" b="1">
                <a:solidFill>
                  <a:srgbClr val="D4D4D4"/>
                </a:solidFill>
                <a:latin typeface="Courier New"/>
                <a:ea typeface="Courier New"/>
                <a:cs typeface="Courier New"/>
                <a:sym typeface="Courier New"/>
              </a:rPr>
              <a:t>;</a:t>
            </a:r>
            <a:endParaRPr sz="13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300" b="1">
                <a:solidFill>
                  <a:srgbClr val="C586C0"/>
                </a:solidFill>
                <a:latin typeface="Courier New"/>
                <a:ea typeface="Courier New"/>
                <a:cs typeface="Courier New"/>
                <a:sym typeface="Courier New"/>
              </a:rPr>
              <a:t>for</a:t>
            </a:r>
            <a:r>
              <a:rPr lang="es" sz="1300" b="1">
                <a:solidFill>
                  <a:srgbClr val="D4D4D4"/>
                </a:solidFill>
                <a:latin typeface="Courier New"/>
                <a:ea typeface="Courier New"/>
                <a:cs typeface="Courier New"/>
                <a:sym typeface="Courier New"/>
              </a:rPr>
              <a:t> ( </a:t>
            </a:r>
            <a:r>
              <a:rPr lang="es" sz="1300" b="1">
                <a:solidFill>
                  <a:srgbClr val="9CDCFE"/>
                </a:solidFill>
                <a:latin typeface="Courier New"/>
                <a:ea typeface="Courier New"/>
                <a:cs typeface="Courier New"/>
                <a:sym typeface="Courier New"/>
              </a:rPr>
              <a:t>x</a:t>
            </a:r>
            <a:r>
              <a:rPr lang="es" sz="1300" b="1">
                <a:solidFill>
                  <a:srgbClr val="D4D4D4"/>
                </a:solidFill>
                <a:latin typeface="Courier New"/>
                <a:ea typeface="Courier New"/>
                <a:cs typeface="Courier New"/>
                <a:sym typeface="Courier New"/>
              </a:rPr>
              <a:t> = </a:t>
            </a:r>
            <a:r>
              <a:rPr lang="es" sz="1300" b="1">
                <a:solidFill>
                  <a:srgbClr val="B5CEA8"/>
                </a:solidFill>
                <a:latin typeface="Courier New"/>
                <a:ea typeface="Courier New"/>
                <a:cs typeface="Courier New"/>
                <a:sym typeface="Courier New"/>
              </a:rPr>
              <a:t>1</a:t>
            </a:r>
            <a:r>
              <a:rPr lang="es" sz="1300" b="1">
                <a:solidFill>
                  <a:srgbClr val="D4D4D4"/>
                </a:solidFill>
                <a:latin typeface="Courier New"/>
                <a:ea typeface="Courier New"/>
                <a:cs typeface="Courier New"/>
                <a:sym typeface="Courier New"/>
              </a:rPr>
              <a:t>; </a:t>
            </a:r>
            <a:r>
              <a:rPr lang="es" sz="1300" b="1">
                <a:solidFill>
                  <a:srgbClr val="9CDCFE"/>
                </a:solidFill>
                <a:latin typeface="Courier New"/>
                <a:ea typeface="Courier New"/>
                <a:cs typeface="Courier New"/>
                <a:sym typeface="Courier New"/>
              </a:rPr>
              <a:t>x</a:t>
            </a:r>
            <a:r>
              <a:rPr lang="es" sz="1300" b="1">
                <a:solidFill>
                  <a:srgbClr val="D4D4D4"/>
                </a:solidFill>
                <a:latin typeface="Courier New"/>
                <a:ea typeface="Courier New"/>
                <a:cs typeface="Courier New"/>
                <a:sym typeface="Courier New"/>
              </a:rPr>
              <a:t> &lt;= </a:t>
            </a:r>
            <a:r>
              <a:rPr lang="es" sz="1300" b="1">
                <a:solidFill>
                  <a:srgbClr val="B5CEA8"/>
                </a:solidFill>
                <a:latin typeface="Courier New"/>
                <a:ea typeface="Courier New"/>
                <a:cs typeface="Courier New"/>
                <a:sym typeface="Courier New"/>
              </a:rPr>
              <a:t>5</a:t>
            </a:r>
            <a:r>
              <a:rPr lang="es" sz="1300" b="1">
                <a:solidFill>
                  <a:srgbClr val="D4D4D4"/>
                </a:solidFill>
                <a:latin typeface="Courier New"/>
                <a:ea typeface="Courier New"/>
                <a:cs typeface="Courier New"/>
                <a:sym typeface="Courier New"/>
              </a:rPr>
              <a:t>; </a:t>
            </a:r>
            <a:r>
              <a:rPr lang="es" sz="1300" b="1">
                <a:solidFill>
                  <a:srgbClr val="9CDCFE"/>
                </a:solidFill>
                <a:latin typeface="Courier New"/>
                <a:ea typeface="Courier New"/>
                <a:cs typeface="Courier New"/>
                <a:sym typeface="Courier New"/>
              </a:rPr>
              <a:t>x</a:t>
            </a:r>
            <a:r>
              <a:rPr lang="es" sz="1300" b="1">
                <a:solidFill>
                  <a:srgbClr val="D4D4D4"/>
                </a:solidFill>
                <a:latin typeface="Courier New"/>
                <a:ea typeface="Courier New"/>
                <a:cs typeface="Courier New"/>
                <a:sym typeface="Courier New"/>
              </a:rPr>
              <a:t>++ ){</a:t>
            </a:r>
            <a:endParaRPr sz="13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300" b="1">
                <a:solidFill>
                  <a:srgbClr val="D4D4D4"/>
                </a:solidFill>
                <a:latin typeface="Courier New"/>
                <a:ea typeface="Courier New"/>
                <a:cs typeface="Courier New"/>
                <a:sym typeface="Courier New"/>
              </a:rPr>
              <a:t>    </a:t>
            </a:r>
            <a:r>
              <a:rPr lang="es" sz="1300" b="1">
                <a:solidFill>
                  <a:srgbClr val="DCDCAA"/>
                </a:solidFill>
                <a:latin typeface="Courier New"/>
                <a:ea typeface="Courier New"/>
                <a:cs typeface="Courier New"/>
                <a:sym typeface="Courier New"/>
              </a:rPr>
              <a:t>alert</a:t>
            </a:r>
            <a:r>
              <a:rPr lang="es" sz="1300" b="1">
                <a:solidFill>
                  <a:srgbClr val="D4D4D4"/>
                </a:solidFill>
                <a:latin typeface="Courier New"/>
                <a:ea typeface="Courier New"/>
                <a:cs typeface="Courier New"/>
                <a:sym typeface="Courier New"/>
              </a:rPr>
              <a:t> (</a:t>
            </a:r>
            <a:r>
              <a:rPr lang="es" sz="1300" b="1">
                <a:solidFill>
                  <a:srgbClr val="CE9178"/>
                </a:solidFill>
                <a:latin typeface="Courier New"/>
                <a:ea typeface="Courier New"/>
                <a:cs typeface="Courier New"/>
                <a:sym typeface="Courier New"/>
              </a:rPr>
              <a:t>"Valor de X : "</a:t>
            </a:r>
            <a:r>
              <a:rPr lang="es" sz="1300" b="1">
                <a:solidFill>
                  <a:srgbClr val="D4D4D4"/>
                </a:solidFill>
                <a:latin typeface="Courier New"/>
                <a:ea typeface="Courier New"/>
                <a:cs typeface="Courier New"/>
                <a:sym typeface="Courier New"/>
              </a:rPr>
              <a:t> + </a:t>
            </a:r>
            <a:r>
              <a:rPr lang="es" sz="1300" b="1">
                <a:solidFill>
                  <a:srgbClr val="9CDCFE"/>
                </a:solidFill>
                <a:latin typeface="Courier New"/>
                <a:ea typeface="Courier New"/>
                <a:cs typeface="Courier New"/>
                <a:sym typeface="Courier New"/>
              </a:rPr>
              <a:t>x</a:t>
            </a:r>
            <a:r>
              <a:rPr lang="es" sz="1300" b="1">
                <a:solidFill>
                  <a:srgbClr val="D4D4D4"/>
                </a:solidFill>
                <a:latin typeface="Courier New"/>
                <a:ea typeface="Courier New"/>
                <a:cs typeface="Courier New"/>
                <a:sym typeface="Courier New"/>
              </a:rPr>
              <a:t>);</a:t>
            </a:r>
            <a:endParaRPr sz="13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300" b="1">
                <a:solidFill>
                  <a:srgbClr val="D4D4D4"/>
                </a:solidFill>
                <a:latin typeface="Courier New"/>
                <a:ea typeface="Courier New"/>
                <a:cs typeface="Courier New"/>
                <a:sym typeface="Courier New"/>
              </a:rPr>
              <a:t>}</a:t>
            </a:r>
            <a:endParaRPr sz="1300" b="1">
              <a:solidFill>
                <a:srgbClr val="D4D4D4"/>
              </a:solidFill>
              <a:latin typeface="Courier New"/>
              <a:ea typeface="Courier New"/>
              <a:cs typeface="Courier New"/>
              <a:sym typeface="Courier New"/>
            </a:endParaRPr>
          </a:p>
          <a:p>
            <a:pPr marL="0" lvl="0" indent="0" algn="l" rtl="0">
              <a:spcBef>
                <a:spcPts val="0"/>
              </a:spcBef>
              <a:spcAft>
                <a:spcPts val="0"/>
              </a:spcAft>
              <a:buNone/>
            </a:pPr>
            <a:endParaRPr sz="1300" b="1">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3"/>
          <p:cNvSpPr txBox="1">
            <a:spLocks noGrp="1"/>
          </p:cNvSpPr>
          <p:nvPr>
            <p:ph type="title" idx="4294967295"/>
          </p:nvPr>
        </p:nvSpPr>
        <p:spPr>
          <a:xfrm>
            <a:off x="0" y="409575"/>
            <a:ext cx="15748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for / in</a:t>
            </a:r>
            <a:endParaRPr/>
          </a:p>
        </p:txBody>
      </p:sp>
      <p:sp>
        <p:nvSpPr>
          <p:cNvPr id="156" name="Google Shape;156;p23"/>
          <p:cNvSpPr txBox="1">
            <a:spLocks noGrp="1"/>
          </p:cNvSpPr>
          <p:nvPr>
            <p:ph type="body" idx="4294967295"/>
          </p:nvPr>
        </p:nvSpPr>
        <p:spPr>
          <a:xfrm>
            <a:off x="0" y="1263650"/>
            <a:ext cx="3000375" cy="99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Recorre las propiedades de un objeto.</a:t>
            </a:r>
            <a:endParaRPr/>
          </a:p>
          <a:p>
            <a:pPr marL="0" lvl="0" indent="0" algn="l" rtl="0">
              <a:spcBef>
                <a:spcPts val="1600"/>
              </a:spcBef>
              <a:spcAft>
                <a:spcPts val="1600"/>
              </a:spcAft>
              <a:buNone/>
            </a:pPr>
            <a:endParaRPr/>
          </a:p>
        </p:txBody>
      </p:sp>
      <p:sp>
        <p:nvSpPr>
          <p:cNvPr id="157" name="Google Shape;157;p23"/>
          <p:cNvSpPr txBox="1"/>
          <p:nvPr/>
        </p:nvSpPr>
        <p:spPr>
          <a:xfrm>
            <a:off x="3537150" y="157100"/>
            <a:ext cx="5313900" cy="4265100"/>
          </a:xfrm>
          <a:prstGeom prst="rect">
            <a:avLst/>
          </a:prstGeom>
          <a:solidFill>
            <a:srgbClr val="434343"/>
          </a:solidFill>
          <a:ln w="9525" cap="flat" cmpd="sng">
            <a:solidFill>
              <a:srgbClr val="000000"/>
            </a:solidFill>
            <a:prstDash val="dot"/>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DOCTYPE</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html</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html</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body</a:t>
            </a:r>
            <a:r>
              <a:rPr lang="es" sz="1050" dirty="0">
                <a:solidFill>
                  <a:srgbClr val="808080"/>
                </a:solidFill>
                <a:latin typeface="Courier New"/>
                <a:ea typeface="Courier New"/>
                <a:cs typeface="Courier New"/>
                <a:sym typeface="Courier New"/>
              </a:rPr>
              <a:t>&gt;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p</a:t>
            </a:r>
            <a:r>
              <a:rPr lang="es" sz="1050" dirty="0">
                <a:solidFill>
                  <a:srgbClr val="808080"/>
                </a:solidFill>
                <a:latin typeface="Courier New"/>
                <a:ea typeface="Courier New"/>
                <a:cs typeface="Courier New"/>
                <a:sym typeface="Courier New"/>
              </a:rPr>
              <a:t>&gt;</a:t>
            </a:r>
            <a:r>
              <a:rPr lang="es" sz="1050" dirty="0">
                <a:solidFill>
                  <a:srgbClr val="D4D4D4"/>
                </a:solidFill>
                <a:latin typeface="Courier New"/>
                <a:ea typeface="Courier New"/>
                <a:cs typeface="Courier New"/>
                <a:sym typeface="Courier New"/>
              </a:rPr>
              <a:t>Haz click para recorrer las propiedades del objeto.</a:t>
            </a: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p</a:t>
            </a:r>
            <a:r>
              <a:rPr lang="es" sz="1050" dirty="0">
                <a:solidFill>
                  <a:srgbClr val="808080"/>
                </a:solidFill>
                <a:latin typeface="Courier New"/>
                <a:ea typeface="Courier New"/>
                <a:cs typeface="Courier New"/>
                <a:sym typeface="Courier New"/>
              </a:rPr>
              <a:t>&gt;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button</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onclick</a:t>
            </a:r>
            <a:r>
              <a:rPr lang="es" sz="1050" dirty="0">
                <a:solidFill>
                  <a:srgbClr val="D4D4D4"/>
                </a:solidFill>
                <a:latin typeface="Courier New"/>
                <a:ea typeface="Courier New"/>
                <a:cs typeface="Courier New"/>
                <a:sym typeface="Courier New"/>
              </a:rPr>
              <a:t>=</a:t>
            </a:r>
            <a:r>
              <a:rPr lang="es" sz="1050" dirty="0">
                <a:solidFill>
                  <a:srgbClr val="CE9178"/>
                </a:solidFill>
                <a:latin typeface="Courier New"/>
                <a:ea typeface="Courier New"/>
                <a:cs typeface="Courier New"/>
                <a:sym typeface="Courier New"/>
              </a:rPr>
              <a:t>"</a:t>
            </a:r>
            <a:r>
              <a:rPr lang="es" sz="1050" dirty="0">
                <a:solidFill>
                  <a:srgbClr val="DCDCAA"/>
                </a:solidFill>
                <a:latin typeface="Courier New"/>
                <a:ea typeface="Courier New"/>
                <a:cs typeface="Courier New"/>
                <a:sym typeface="Courier New"/>
              </a:rPr>
              <a:t>myFunction</a:t>
            </a:r>
            <a:r>
              <a:rPr lang="es" sz="1050" dirty="0">
                <a:solidFill>
                  <a:srgbClr val="CE9178"/>
                </a:solidFill>
                <a:latin typeface="Courier New"/>
                <a:ea typeface="Courier New"/>
                <a:cs typeface="Courier New"/>
                <a:sym typeface="Courier New"/>
              </a:rPr>
              <a:t>()"</a:t>
            </a:r>
            <a:r>
              <a:rPr lang="es" sz="1050" dirty="0">
                <a:solidFill>
                  <a:srgbClr val="808080"/>
                </a:solidFill>
                <a:latin typeface="Courier New"/>
                <a:ea typeface="Courier New"/>
                <a:cs typeface="Courier New"/>
                <a:sym typeface="Courier New"/>
              </a:rPr>
              <a:t>&gt;</a:t>
            </a:r>
            <a:r>
              <a:rPr lang="es" sz="1050" dirty="0">
                <a:solidFill>
                  <a:srgbClr val="D4D4D4"/>
                </a:solidFill>
                <a:latin typeface="Courier New"/>
                <a:ea typeface="Courier New"/>
                <a:cs typeface="Courier New"/>
                <a:sym typeface="Courier New"/>
              </a:rPr>
              <a:t>Click</a:t>
            </a: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button</a:t>
            </a:r>
            <a:r>
              <a:rPr lang="es" sz="1050" dirty="0">
                <a:solidFill>
                  <a:srgbClr val="808080"/>
                </a:solidFill>
                <a:latin typeface="Courier New"/>
                <a:ea typeface="Courier New"/>
                <a:cs typeface="Courier New"/>
                <a:sym typeface="Courier New"/>
              </a:rPr>
              <a:t>&gt;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p</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id</a:t>
            </a:r>
            <a:r>
              <a:rPr lang="es" sz="1050" dirty="0">
                <a:solidFill>
                  <a:srgbClr val="D4D4D4"/>
                </a:solidFill>
                <a:latin typeface="Courier New"/>
                <a:ea typeface="Courier New"/>
                <a:cs typeface="Courier New"/>
                <a:sym typeface="Courier New"/>
              </a:rPr>
              <a:t>=</a:t>
            </a:r>
            <a:r>
              <a:rPr lang="es" sz="1050" dirty="0">
                <a:solidFill>
                  <a:srgbClr val="CE9178"/>
                </a:solidFill>
                <a:latin typeface="Courier New"/>
                <a:ea typeface="Courier New"/>
                <a:cs typeface="Courier New"/>
                <a:sym typeface="Courier New"/>
              </a:rPr>
              <a:t>"demo"</a:t>
            </a:r>
            <a:r>
              <a:rPr lang="es" sz="1050" dirty="0">
                <a:solidFill>
                  <a:srgbClr val="808080"/>
                </a:solidFill>
                <a:latin typeface="Courier New"/>
                <a:ea typeface="Courier New"/>
                <a:cs typeface="Courier New"/>
                <a:sym typeface="Courier New"/>
              </a:rPr>
              <a:t>&gt;&lt;/</a:t>
            </a:r>
            <a:r>
              <a:rPr lang="es" sz="1050" dirty="0">
                <a:solidFill>
                  <a:srgbClr val="569CD6"/>
                </a:solidFill>
                <a:latin typeface="Courier New"/>
                <a:ea typeface="Courier New"/>
                <a:cs typeface="Courier New"/>
                <a:sym typeface="Courier New"/>
              </a:rPr>
              <a:t>p</a:t>
            </a:r>
            <a:r>
              <a:rPr lang="es" sz="1050" dirty="0">
                <a:solidFill>
                  <a:srgbClr val="808080"/>
                </a:solidFill>
                <a:latin typeface="Courier New"/>
                <a:ea typeface="Courier New"/>
                <a:cs typeface="Courier New"/>
                <a:sym typeface="Courier New"/>
              </a:rPr>
              <a:t>&gt;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script</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569CD6"/>
                </a:solidFill>
                <a:latin typeface="Courier New"/>
                <a:ea typeface="Courier New"/>
                <a:cs typeface="Courier New"/>
                <a:sym typeface="Courier New"/>
              </a:rPr>
              <a:t>function</a:t>
            </a:r>
            <a:r>
              <a:rPr lang="es" sz="1050" dirty="0">
                <a:solidFill>
                  <a:srgbClr val="D4D4D4"/>
                </a:solidFill>
                <a:latin typeface="Courier New"/>
                <a:ea typeface="Courier New"/>
                <a:cs typeface="Courier New"/>
                <a:sym typeface="Courier New"/>
              </a:rPr>
              <a:t> </a:t>
            </a:r>
            <a:r>
              <a:rPr lang="es" sz="1050" dirty="0">
                <a:solidFill>
                  <a:srgbClr val="DCDCAA"/>
                </a:solidFill>
                <a:latin typeface="Courier New"/>
                <a:ea typeface="Courier New"/>
                <a:cs typeface="Courier New"/>
                <a:sym typeface="Courier New"/>
              </a:rPr>
              <a:t>myFunction</a:t>
            </a:r>
            <a:r>
              <a:rPr lang="es" sz="1050" dirty="0">
                <a:solidFill>
                  <a:srgbClr val="D4D4D4"/>
                </a:solidFill>
                <a:latin typeface="Courier New"/>
                <a:ea typeface="Courier New"/>
                <a:cs typeface="Courier New"/>
                <a:sym typeface="Courier New"/>
              </a:rPr>
              <a:t>() {</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569CD6"/>
                </a:solidFill>
                <a:latin typeface="Courier New"/>
                <a:ea typeface="Courier New"/>
                <a:cs typeface="Courier New"/>
                <a:sym typeface="Courier New"/>
              </a:rPr>
              <a:t>var</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persona</a:t>
            </a:r>
            <a:r>
              <a:rPr lang="es" sz="1050" dirty="0">
                <a:solidFill>
                  <a:srgbClr val="D4D4D4"/>
                </a:solidFill>
                <a:latin typeface="Courier New"/>
                <a:ea typeface="Courier New"/>
                <a:cs typeface="Courier New"/>
                <a:sym typeface="Courier New"/>
              </a:rPr>
              <a:t> = {</a:t>
            </a:r>
            <a:r>
              <a:rPr lang="es" sz="1050" dirty="0">
                <a:solidFill>
                  <a:srgbClr val="9CDCFE"/>
                </a:solidFill>
                <a:latin typeface="Courier New"/>
                <a:ea typeface="Courier New"/>
                <a:cs typeface="Courier New"/>
                <a:sym typeface="Courier New"/>
              </a:rPr>
              <a:t>nombre:</a:t>
            </a:r>
            <a:r>
              <a:rPr lang="es" sz="1050" dirty="0">
                <a:solidFill>
                  <a:srgbClr val="CE9178"/>
                </a:solidFill>
                <a:latin typeface="Courier New"/>
                <a:ea typeface="Courier New"/>
                <a:cs typeface="Courier New"/>
                <a:sym typeface="Courier New"/>
              </a:rPr>
              <a:t>“John"</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apellido:</a:t>
            </a:r>
            <a:r>
              <a:rPr lang="es" sz="1050" dirty="0">
                <a:solidFill>
                  <a:srgbClr val="CE9178"/>
                </a:solidFill>
                <a:latin typeface="Courier New"/>
                <a:ea typeface="Courier New"/>
                <a:cs typeface="Courier New"/>
                <a:sym typeface="Courier New"/>
              </a:rPr>
              <a:t>“Doe"</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edad:</a:t>
            </a:r>
            <a:r>
              <a:rPr lang="es" sz="1050" dirty="0">
                <a:solidFill>
                  <a:srgbClr val="B5CEA8"/>
                </a:solidFill>
                <a:latin typeface="Courier New"/>
                <a:ea typeface="Courier New"/>
                <a:cs typeface="Courier New"/>
                <a:sym typeface="Courier New"/>
              </a:rPr>
              <a:t>39</a:t>
            </a:r>
            <a:r>
              <a:rPr lang="es" sz="1050" dirty="0">
                <a:solidFill>
                  <a:srgbClr val="D4D4D4"/>
                </a:solidFill>
                <a:latin typeface="Courier New"/>
                <a:ea typeface="Courier New"/>
                <a:cs typeface="Courier New"/>
                <a:sym typeface="Courier New"/>
              </a:rPr>
              <a:t>};  </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569CD6"/>
                </a:solidFill>
                <a:latin typeface="Courier New"/>
                <a:ea typeface="Courier New"/>
                <a:cs typeface="Courier New"/>
                <a:sym typeface="Courier New"/>
              </a:rPr>
              <a:t>var</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text</a:t>
            </a:r>
            <a:r>
              <a:rPr lang="es" sz="1050" dirty="0">
                <a:solidFill>
                  <a:srgbClr val="D4D4D4"/>
                </a:solidFill>
                <a:latin typeface="Courier New"/>
                <a:ea typeface="Courier New"/>
                <a:cs typeface="Courier New"/>
                <a:sym typeface="Courier New"/>
              </a:rPr>
              <a:t> = </a:t>
            </a:r>
            <a:r>
              <a:rPr lang="es" sz="1050" dirty="0">
                <a:solidFill>
                  <a:srgbClr val="CE9178"/>
                </a:solidFill>
                <a:latin typeface="Courier New"/>
                <a:ea typeface="Courier New"/>
                <a:cs typeface="Courier New"/>
                <a:sym typeface="Courier New"/>
              </a:rPr>
              <a:t>""</a:t>
            </a: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569CD6"/>
                </a:solidFill>
                <a:latin typeface="Courier New"/>
                <a:ea typeface="Courier New"/>
                <a:cs typeface="Courier New"/>
                <a:sym typeface="Courier New"/>
              </a:rPr>
              <a:t>var</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x</a:t>
            </a: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C586C0"/>
                </a:solidFill>
                <a:latin typeface="Courier New"/>
                <a:ea typeface="Courier New"/>
                <a:cs typeface="Courier New"/>
                <a:sym typeface="Courier New"/>
              </a:rPr>
              <a:t>for</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x</a:t>
            </a:r>
            <a:r>
              <a:rPr lang="es" sz="1050" dirty="0">
                <a:solidFill>
                  <a:srgbClr val="D4D4D4"/>
                </a:solidFill>
                <a:latin typeface="Courier New"/>
                <a:ea typeface="Courier New"/>
                <a:cs typeface="Courier New"/>
                <a:sym typeface="Courier New"/>
              </a:rPr>
              <a:t> </a:t>
            </a:r>
            <a:r>
              <a:rPr lang="es" sz="1050" dirty="0">
                <a:solidFill>
                  <a:srgbClr val="569CD6"/>
                </a:solidFill>
                <a:latin typeface="Courier New"/>
                <a:ea typeface="Courier New"/>
                <a:cs typeface="Courier New"/>
                <a:sym typeface="Courier New"/>
              </a:rPr>
              <a:t>in</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persona</a:t>
            </a:r>
            <a:r>
              <a:rPr lang="es" sz="1050" dirty="0">
                <a:solidFill>
                  <a:srgbClr val="D4D4D4"/>
                </a:solidFill>
                <a:latin typeface="Courier New"/>
                <a:ea typeface="Courier New"/>
                <a:cs typeface="Courier New"/>
                <a:sym typeface="Courier New"/>
              </a:rPr>
              <a:t>) {</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text</a:t>
            </a:r>
            <a:r>
              <a:rPr lang="es" sz="1050" dirty="0">
                <a:solidFill>
                  <a:srgbClr val="D4D4D4"/>
                </a:solidFill>
                <a:latin typeface="Courier New"/>
                <a:ea typeface="Courier New"/>
                <a:cs typeface="Courier New"/>
                <a:sym typeface="Courier New"/>
              </a:rPr>
              <a:t> += </a:t>
            </a:r>
            <a:r>
              <a:rPr lang="es" sz="1050" dirty="0">
                <a:solidFill>
                  <a:srgbClr val="9CDCFE"/>
                </a:solidFill>
                <a:latin typeface="Courier New"/>
                <a:ea typeface="Courier New"/>
                <a:cs typeface="Courier New"/>
                <a:sym typeface="Courier New"/>
              </a:rPr>
              <a:t>persona</a:t>
            </a:r>
            <a:r>
              <a:rPr lang="es" sz="1050" dirty="0">
                <a:solidFill>
                  <a:srgbClr val="D4D4D4"/>
                </a:solidFill>
                <a:latin typeface="Courier New"/>
                <a:ea typeface="Courier New"/>
                <a:cs typeface="Courier New"/>
                <a:sym typeface="Courier New"/>
              </a:rPr>
              <a:t>[</a:t>
            </a:r>
            <a:r>
              <a:rPr lang="es" sz="1050" dirty="0">
                <a:solidFill>
                  <a:srgbClr val="9CDCFE"/>
                </a:solidFill>
                <a:latin typeface="Courier New"/>
                <a:ea typeface="Courier New"/>
                <a:cs typeface="Courier New"/>
                <a:sym typeface="Courier New"/>
              </a:rPr>
              <a:t>x</a:t>
            </a:r>
            <a:r>
              <a:rPr lang="es" sz="1050" dirty="0">
                <a:solidFill>
                  <a:srgbClr val="D4D4D4"/>
                </a:solidFill>
                <a:latin typeface="Courier New"/>
                <a:ea typeface="Courier New"/>
                <a:cs typeface="Courier New"/>
                <a:sym typeface="Courier New"/>
              </a:rPr>
              <a:t>] + </a:t>
            </a:r>
            <a:r>
              <a:rPr lang="es" sz="1050" dirty="0">
                <a:solidFill>
                  <a:srgbClr val="CE9178"/>
                </a:solidFill>
                <a:latin typeface="Courier New"/>
                <a:ea typeface="Courier New"/>
                <a:cs typeface="Courier New"/>
                <a:sym typeface="Courier New"/>
              </a:rPr>
              <a:t>" "</a:t>
            </a: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document</a:t>
            </a:r>
            <a:r>
              <a:rPr lang="es" sz="1050" dirty="0">
                <a:solidFill>
                  <a:srgbClr val="D4D4D4"/>
                </a:solidFill>
                <a:latin typeface="Courier New"/>
                <a:ea typeface="Courier New"/>
                <a:cs typeface="Courier New"/>
                <a:sym typeface="Courier New"/>
              </a:rPr>
              <a:t>.</a:t>
            </a:r>
            <a:r>
              <a:rPr lang="es" sz="1050" dirty="0">
                <a:solidFill>
                  <a:srgbClr val="DCDCAA"/>
                </a:solidFill>
                <a:latin typeface="Courier New"/>
                <a:ea typeface="Courier New"/>
                <a:cs typeface="Courier New"/>
                <a:sym typeface="Courier New"/>
              </a:rPr>
              <a:t>getElementById</a:t>
            </a:r>
            <a:r>
              <a:rPr lang="es" sz="1050" dirty="0">
                <a:solidFill>
                  <a:srgbClr val="D4D4D4"/>
                </a:solidFill>
                <a:latin typeface="Courier New"/>
                <a:ea typeface="Courier New"/>
                <a:cs typeface="Courier New"/>
                <a:sym typeface="Courier New"/>
              </a:rPr>
              <a:t>(</a:t>
            </a:r>
            <a:r>
              <a:rPr lang="es" sz="1050" dirty="0">
                <a:solidFill>
                  <a:srgbClr val="CE9178"/>
                </a:solidFill>
                <a:latin typeface="Courier New"/>
                <a:ea typeface="Courier New"/>
                <a:cs typeface="Courier New"/>
                <a:sym typeface="Courier New"/>
              </a:rPr>
              <a:t>"demo"</a:t>
            </a:r>
            <a:r>
              <a:rPr lang="es" sz="1050" dirty="0">
                <a:solidFill>
                  <a:srgbClr val="D4D4D4"/>
                </a:solidFill>
                <a:latin typeface="Courier New"/>
                <a:ea typeface="Courier New"/>
                <a:cs typeface="Courier New"/>
                <a:sym typeface="Courier New"/>
              </a:rPr>
              <a:t>).</a:t>
            </a:r>
            <a:r>
              <a:rPr lang="es" sz="1050" dirty="0">
                <a:solidFill>
                  <a:srgbClr val="9CDCFE"/>
                </a:solidFill>
                <a:latin typeface="Courier New"/>
                <a:ea typeface="Courier New"/>
                <a:cs typeface="Courier New"/>
                <a:sym typeface="Courier New"/>
              </a:rPr>
              <a:t>innerHTML</a:t>
            </a:r>
            <a:r>
              <a:rPr lang="es" sz="1050" dirty="0">
                <a:solidFill>
                  <a:srgbClr val="D4D4D4"/>
                </a:solidFill>
                <a:latin typeface="Courier New"/>
                <a:ea typeface="Courier New"/>
                <a:cs typeface="Courier New"/>
                <a:sym typeface="Courier New"/>
              </a:rPr>
              <a:t> = </a:t>
            </a:r>
            <a:r>
              <a:rPr lang="es" sz="1050" dirty="0">
                <a:solidFill>
                  <a:srgbClr val="9CDCFE"/>
                </a:solidFill>
                <a:latin typeface="Courier New"/>
                <a:ea typeface="Courier New"/>
                <a:cs typeface="Courier New"/>
                <a:sym typeface="Courier New"/>
              </a:rPr>
              <a:t>text</a:t>
            </a: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script</a:t>
            </a:r>
            <a:r>
              <a:rPr lang="es" sz="1050" dirty="0">
                <a:solidFill>
                  <a:srgbClr val="808080"/>
                </a:solidFill>
                <a:latin typeface="Courier New"/>
                <a:ea typeface="Courier New"/>
                <a:cs typeface="Courier New"/>
                <a:sym typeface="Courier New"/>
              </a:rPr>
              <a:t>&gt;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body</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html</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spcBef>
                <a:spcPts val="0"/>
              </a:spcBef>
              <a:spcAft>
                <a:spcPts val="0"/>
              </a:spcAft>
              <a:buNone/>
            </a:pPr>
            <a:endParaRPr dirty="0">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4"/>
          <p:cNvSpPr txBox="1">
            <a:spLocks noGrp="1"/>
          </p:cNvSpPr>
          <p:nvPr>
            <p:ph type="title" idx="4294967295"/>
          </p:nvPr>
        </p:nvSpPr>
        <p:spPr>
          <a:xfrm>
            <a:off x="0" y="409575"/>
            <a:ext cx="15748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for / of</a:t>
            </a:r>
            <a:endParaRPr/>
          </a:p>
        </p:txBody>
      </p:sp>
      <p:sp>
        <p:nvSpPr>
          <p:cNvPr id="163" name="Google Shape;163;p24"/>
          <p:cNvSpPr txBox="1">
            <a:spLocks noGrp="1"/>
          </p:cNvSpPr>
          <p:nvPr>
            <p:ph type="body" idx="4294967295"/>
          </p:nvPr>
        </p:nvSpPr>
        <p:spPr>
          <a:xfrm>
            <a:off x="0" y="1263650"/>
            <a:ext cx="3000375" cy="130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Recorre los elementos de un objeto iterable. </a:t>
            </a:r>
            <a:endParaRPr/>
          </a:p>
          <a:p>
            <a:pPr marL="0" lvl="0" indent="0" algn="l" rtl="0">
              <a:spcBef>
                <a:spcPts val="1600"/>
              </a:spcBef>
              <a:spcAft>
                <a:spcPts val="0"/>
              </a:spcAft>
              <a:buNone/>
            </a:pPr>
            <a:r>
              <a:rPr lang="es"/>
              <a:t>(ej: un array).</a:t>
            </a:r>
            <a:endParaRPr/>
          </a:p>
          <a:p>
            <a:pPr marL="0" lvl="0" indent="0" algn="l" rtl="0">
              <a:spcBef>
                <a:spcPts val="1600"/>
              </a:spcBef>
              <a:spcAft>
                <a:spcPts val="1600"/>
              </a:spcAft>
              <a:buNone/>
            </a:pPr>
            <a:endParaRPr/>
          </a:p>
        </p:txBody>
      </p:sp>
      <p:sp>
        <p:nvSpPr>
          <p:cNvPr id="164" name="Google Shape;164;p24"/>
          <p:cNvSpPr txBox="1"/>
          <p:nvPr/>
        </p:nvSpPr>
        <p:spPr>
          <a:xfrm>
            <a:off x="3311100" y="873875"/>
            <a:ext cx="4554300" cy="28647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DOCTYPE</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html</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html</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body</a:t>
            </a:r>
            <a:r>
              <a:rPr lang="es" sz="1050" dirty="0">
                <a:solidFill>
                  <a:srgbClr val="808080"/>
                </a:solidFill>
                <a:latin typeface="Courier New"/>
                <a:ea typeface="Courier New"/>
                <a:cs typeface="Courier New"/>
                <a:sym typeface="Courier New"/>
              </a:rPr>
              <a:t>&gt;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script</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569CD6"/>
                </a:solidFill>
                <a:latin typeface="Courier New"/>
                <a:ea typeface="Courier New"/>
                <a:cs typeface="Courier New"/>
                <a:sym typeface="Courier New"/>
              </a:rPr>
              <a:t>var</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coches</a:t>
            </a:r>
            <a:r>
              <a:rPr lang="es" sz="1050" dirty="0">
                <a:solidFill>
                  <a:srgbClr val="D4D4D4"/>
                </a:solidFill>
                <a:latin typeface="Courier New"/>
                <a:ea typeface="Courier New"/>
                <a:cs typeface="Courier New"/>
                <a:sym typeface="Courier New"/>
              </a:rPr>
              <a:t> = [</a:t>
            </a:r>
            <a:r>
              <a:rPr lang="es" sz="1050" dirty="0">
                <a:solidFill>
                  <a:srgbClr val="CE9178"/>
                </a:solidFill>
                <a:latin typeface="Courier New"/>
                <a:ea typeface="Courier New"/>
                <a:cs typeface="Courier New"/>
                <a:sym typeface="Courier New"/>
              </a:rPr>
              <a:t>'BMW'</a:t>
            </a:r>
            <a:r>
              <a:rPr lang="es" sz="1050" dirty="0">
                <a:solidFill>
                  <a:srgbClr val="D4D4D4"/>
                </a:solidFill>
                <a:latin typeface="Courier New"/>
                <a:ea typeface="Courier New"/>
                <a:cs typeface="Courier New"/>
                <a:sym typeface="Courier New"/>
              </a:rPr>
              <a:t>, </a:t>
            </a:r>
            <a:r>
              <a:rPr lang="es" sz="1050" dirty="0">
                <a:solidFill>
                  <a:srgbClr val="CE9178"/>
                </a:solidFill>
                <a:latin typeface="Courier New"/>
                <a:ea typeface="Courier New"/>
                <a:cs typeface="Courier New"/>
                <a:sym typeface="Courier New"/>
              </a:rPr>
              <a:t>'Volvo'</a:t>
            </a:r>
            <a:r>
              <a:rPr lang="es" sz="1050" dirty="0">
                <a:solidFill>
                  <a:srgbClr val="D4D4D4"/>
                </a:solidFill>
                <a:latin typeface="Courier New"/>
                <a:ea typeface="Courier New"/>
                <a:cs typeface="Courier New"/>
                <a:sym typeface="Courier New"/>
              </a:rPr>
              <a:t>, </a:t>
            </a:r>
            <a:r>
              <a:rPr lang="es" sz="1050" dirty="0">
                <a:solidFill>
                  <a:srgbClr val="CE9178"/>
                </a:solidFill>
                <a:latin typeface="Courier New"/>
                <a:ea typeface="Courier New"/>
                <a:cs typeface="Courier New"/>
                <a:sym typeface="Courier New"/>
              </a:rPr>
              <a:t>'Mini'</a:t>
            </a: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569CD6"/>
                </a:solidFill>
                <a:latin typeface="Courier New"/>
                <a:ea typeface="Courier New"/>
                <a:cs typeface="Courier New"/>
                <a:sym typeface="Courier New"/>
              </a:rPr>
              <a:t>var</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x</a:t>
            </a: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C586C0"/>
                </a:solidFill>
                <a:latin typeface="Courier New"/>
                <a:ea typeface="Courier New"/>
                <a:cs typeface="Courier New"/>
                <a:sym typeface="Courier New"/>
              </a:rPr>
              <a:t>for</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x</a:t>
            </a:r>
            <a:r>
              <a:rPr lang="es" sz="1050" dirty="0">
                <a:solidFill>
                  <a:srgbClr val="D4D4D4"/>
                </a:solidFill>
                <a:latin typeface="Courier New"/>
                <a:ea typeface="Courier New"/>
                <a:cs typeface="Courier New"/>
                <a:sym typeface="Courier New"/>
              </a:rPr>
              <a:t> </a:t>
            </a:r>
            <a:r>
              <a:rPr lang="es" sz="1050" dirty="0">
                <a:solidFill>
                  <a:srgbClr val="569CD6"/>
                </a:solidFill>
                <a:latin typeface="Courier New"/>
                <a:ea typeface="Courier New"/>
                <a:cs typeface="Courier New"/>
                <a:sym typeface="Courier New"/>
              </a:rPr>
              <a:t>of</a:t>
            </a: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coches</a:t>
            </a:r>
            <a:r>
              <a:rPr lang="es" sz="1050" dirty="0">
                <a:solidFill>
                  <a:srgbClr val="D4D4D4"/>
                </a:solidFill>
                <a:latin typeface="Courier New"/>
                <a:ea typeface="Courier New"/>
                <a:cs typeface="Courier New"/>
                <a:sym typeface="Courier New"/>
              </a:rPr>
              <a:t>) {</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  </a:t>
            </a:r>
            <a:r>
              <a:rPr lang="es" sz="1050" dirty="0">
                <a:solidFill>
                  <a:srgbClr val="9CDCFE"/>
                </a:solidFill>
                <a:latin typeface="Courier New"/>
                <a:ea typeface="Courier New"/>
                <a:cs typeface="Courier New"/>
                <a:sym typeface="Courier New"/>
              </a:rPr>
              <a:t>document</a:t>
            </a:r>
            <a:r>
              <a:rPr lang="es" sz="1050" dirty="0">
                <a:solidFill>
                  <a:srgbClr val="D4D4D4"/>
                </a:solidFill>
                <a:latin typeface="Courier New"/>
                <a:ea typeface="Courier New"/>
                <a:cs typeface="Courier New"/>
                <a:sym typeface="Courier New"/>
              </a:rPr>
              <a:t>.</a:t>
            </a:r>
            <a:r>
              <a:rPr lang="es" sz="1050" dirty="0">
                <a:solidFill>
                  <a:srgbClr val="DCDCAA"/>
                </a:solidFill>
                <a:latin typeface="Courier New"/>
                <a:ea typeface="Courier New"/>
                <a:cs typeface="Courier New"/>
                <a:sym typeface="Courier New"/>
              </a:rPr>
              <a:t>write</a:t>
            </a:r>
            <a:r>
              <a:rPr lang="es" sz="1050" dirty="0">
                <a:solidFill>
                  <a:srgbClr val="D4D4D4"/>
                </a:solidFill>
                <a:latin typeface="Courier New"/>
                <a:ea typeface="Courier New"/>
                <a:cs typeface="Courier New"/>
                <a:sym typeface="Courier New"/>
              </a:rPr>
              <a:t>(</a:t>
            </a:r>
            <a:r>
              <a:rPr lang="es" sz="1050" dirty="0">
                <a:solidFill>
                  <a:srgbClr val="9CDCFE"/>
                </a:solidFill>
                <a:latin typeface="Courier New"/>
                <a:ea typeface="Courier New"/>
                <a:cs typeface="Courier New"/>
                <a:sym typeface="Courier New"/>
              </a:rPr>
              <a:t>x</a:t>
            </a:r>
            <a:r>
              <a:rPr lang="es" sz="1050" dirty="0">
                <a:solidFill>
                  <a:srgbClr val="D4D4D4"/>
                </a:solidFill>
                <a:latin typeface="Courier New"/>
                <a:ea typeface="Courier New"/>
                <a:cs typeface="Courier New"/>
                <a:sym typeface="Courier New"/>
              </a:rPr>
              <a:t> + </a:t>
            </a:r>
            <a:r>
              <a:rPr lang="es" sz="1050" dirty="0">
                <a:solidFill>
                  <a:srgbClr val="CE9178"/>
                </a:solidFill>
                <a:latin typeface="Courier New"/>
                <a:ea typeface="Courier New"/>
                <a:cs typeface="Courier New"/>
                <a:sym typeface="Courier New"/>
              </a:rPr>
              <a:t>"&lt;br&gt;"</a:t>
            </a: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D4D4D4"/>
                </a:solidFill>
                <a:latin typeface="Courier New"/>
                <a:ea typeface="Courier New"/>
                <a:cs typeface="Courier New"/>
                <a:sym typeface="Courier New"/>
              </a:rPr>
              <a:t>}</a:t>
            </a:r>
            <a:endParaRPr sz="1050"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script</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body</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rgbClr val="808080"/>
                </a:solidFill>
                <a:latin typeface="Courier New"/>
                <a:ea typeface="Courier New"/>
                <a:cs typeface="Courier New"/>
                <a:sym typeface="Courier New"/>
              </a:rPr>
              <a:t>&lt;/</a:t>
            </a:r>
            <a:r>
              <a:rPr lang="es" sz="1050" dirty="0">
                <a:solidFill>
                  <a:srgbClr val="569CD6"/>
                </a:solidFill>
                <a:latin typeface="Courier New"/>
                <a:ea typeface="Courier New"/>
                <a:cs typeface="Courier New"/>
                <a:sym typeface="Courier New"/>
              </a:rPr>
              <a:t>html</a:t>
            </a:r>
            <a:r>
              <a:rPr lang="es" sz="1050" dirty="0">
                <a:solidFill>
                  <a:srgbClr val="808080"/>
                </a:solidFill>
                <a:latin typeface="Courier New"/>
                <a:ea typeface="Courier New"/>
                <a:cs typeface="Courier New"/>
                <a:sym typeface="Courier New"/>
              </a:rPr>
              <a:t>&gt;</a:t>
            </a:r>
            <a:endParaRPr sz="1050" dirty="0">
              <a:solidFill>
                <a:srgbClr val="808080"/>
              </a:solidFill>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Bucle iterativo do-while</a:t>
            </a:r>
            <a:endParaRPr/>
          </a:p>
        </p:txBody>
      </p:sp>
      <p:sp>
        <p:nvSpPr>
          <p:cNvPr id="170" name="Google Shape;170;p25"/>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t> </a:t>
            </a:r>
            <a:endParaRPr/>
          </a:p>
        </p:txBody>
      </p:sp>
      <p:pic>
        <p:nvPicPr>
          <p:cNvPr id="171" name="Google Shape;171;p25"/>
          <p:cNvPicPr preferRelativeResize="0"/>
          <p:nvPr/>
        </p:nvPicPr>
        <p:blipFill rotWithShape="1">
          <a:blip r:embed="rId3">
            <a:alphaModFix/>
          </a:blip>
          <a:srcRect l="20819" t="27443" r="23635" b="28689"/>
          <a:stretch/>
        </p:blipFill>
        <p:spPr>
          <a:xfrm>
            <a:off x="2969975" y="1037175"/>
            <a:ext cx="5584776" cy="2480825"/>
          </a:xfrm>
          <a:prstGeom prst="rect">
            <a:avLst/>
          </a:prstGeom>
          <a:noFill/>
          <a:ln>
            <a:noFill/>
          </a:ln>
        </p:spPr>
      </p:pic>
      <p:sp>
        <p:nvSpPr>
          <p:cNvPr id="172" name="Google Shape;172;p25"/>
          <p:cNvSpPr/>
          <p:nvPr/>
        </p:nvSpPr>
        <p:spPr>
          <a:xfrm>
            <a:off x="6768600" y="865875"/>
            <a:ext cx="171300" cy="171300"/>
          </a:xfrm>
          <a:prstGeom prst="ellipse">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5"/>
          <p:cNvSpPr txBox="1"/>
          <p:nvPr/>
        </p:nvSpPr>
        <p:spPr>
          <a:xfrm>
            <a:off x="650950" y="2660125"/>
            <a:ext cx="3446700" cy="15444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300" b="1">
                <a:solidFill>
                  <a:srgbClr val="569CD6"/>
                </a:solidFill>
                <a:latin typeface="Courier New"/>
                <a:ea typeface="Courier New"/>
                <a:cs typeface="Courier New"/>
                <a:sym typeface="Courier New"/>
              </a:rPr>
              <a:t>var</a:t>
            </a:r>
            <a:r>
              <a:rPr lang="es" sz="1300" b="1">
                <a:solidFill>
                  <a:srgbClr val="D4D4D4"/>
                </a:solidFill>
                <a:latin typeface="Courier New"/>
                <a:ea typeface="Courier New"/>
                <a:cs typeface="Courier New"/>
                <a:sym typeface="Courier New"/>
              </a:rPr>
              <a:t> </a:t>
            </a:r>
            <a:r>
              <a:rPr lang="es" sz="1300" b="1">
                <a:solidFill>
                  <a:srgbClr val="9CDCFE"/>
                </a:solidFill>
                <a:latin typeface="Courier New"/>
                <a:ea typeface="Courier New"/>
                <a:cs typeface="Courier New"/>
                <a:sym typeface="Courier New"/>
              </a:rPr>
              <a:t>x</a:t>
            </a:r>
            <a:r>
              <a:rPr lang="es" sz="1300" b="1">
                <a:solidFill>
                  <a:srgbClr val="D4D4D4"/>
                </a:solidFill>
                <a:latin typeface="Courier New"/>
                <a:ea typeface="Courier New"/>
                <a:cs typeface="Courier New"/>
                <a:sym typeface="Courier New"/>
              </a:rPr>
              <a:t> = </a:t>
            </a:r>
            <a:r>
              <a:rPr lang="es" sz="1300" b="1">
                <a:solidFill>
                  <a:srgbClr val="B5CEA8"/>
                </a:solidFill>
                <a:latin typeface="Courier New"/>
                <a:ea typeface="Courier New"/>
                <a:cs typeface="Courier New"/>
                <a:sym typeface="Courier New"/>
              </a:rPr>
              <a:t>1</a:t>
            </a:r>
            <a:r>
              <a:rPr lang="es" sz="1300" b="1">
                <a:solidFill>
                  <a:srgbClr val="D4D4D4"/>
                </a:solidFill>
                <a:latin typeface="Courier New"/>
                <a:ea typeface="Courier New"/>
                <a:cs typeface="Courier New"/>
                <a:sym typeface="Courier New"/>
              </a:rPr>
              <a:t>;</a:t>
            </a:r>
            <a:endParaRPr sz="13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300" b="1">
                <a:solidFill>
                  <a:srgbClr val="C586C0"/>
                </a:solidFill>
                <a:latin typeface="Courier New"/>
                <a:ea typeface="Courier New"/>
                <a:cs typeface="Courier New"/>
                <a:sym typeface="Courier New"/>
              </a:rPr>
              <a:t>do</a:t>
            </a:r>
            <a:r>
              <a:rPr lang="es" sz="1300" b="1">
                <a:solidFill>
                  <a:srgbClr val="D4D4D4"/>
                </a:solidFill>
                <a:latin typeface="Courier New"/>
                <a:ea typeface="Courier New"/>
                <a:cs typeface="Courier New"/>
                <a:sym typeface="Courier New"/>
              </a:rPr>
              <a:t> {  </a:t>
            </a:r>
            <a:endParaRPr sz="13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300" b="1">
                <a:solidFill>
                  <a:srgbClr val="D4D4D4"/>
                </a:solidFill>
                <a:latin typeface="Courier New"/>
                <a:ea typeface="Courier New"/>
                <a:cs typeface="Courier New"/>
                <a:sym typeface="Courier New"/>
              </a:rPr>
              <a:t>    </a:t>
            </a:r>
            <a:r>
              <a:rPr lang="es" sz="1300" b="1">
                <a:solidFill>
                  <a:srgbClr val="DCDCAA"/>
                </a:solidFill>
                <a:latin typeface="Courier New"/>
                <a:ea typeface="Courier New"/>
                <a:cs typeface="Courier New"/>
                <a:sym typeface="Courier New"/>
              </a:rPr>
              <a:t>alert</a:t>
            </a:r>
            <a:r>
              <a:rPr lang="es" sz="1300" b="1">
                <a:solidFill>
                  <a:srgbClr val="D4D4D4"/>
                </a:solidFill>
                <a:latin typeface="Courier New"/>
                <a:ea typeface="Courier New"/>
                <a:cs typeface="Courier New"/>
                <a:sym typeface="Courier New"/>
              </a:rPr>
              <a:t> (</a:t>
            </a:r>
            <a:r>
              <a:rPr lang="es" sz="1300" b="1">
                <a:solidFill>
                  <a:srgbClr val="CE9178"/>
                </a:solidFill>
                <a:latin typeface="Courier New"/>
                <a:ea typeface="Courier New"/>
                <a:cs typeface="Courier New"/>
                <a:sym typeface="Courier New"/>
              </a:rPr>
              <a:t>"Valor de X : "</a:t>
            </a:r>
            <a:r>
              <a:rPr lang="es" sz="1300" b="1">
                <a:solidFill>
                  <a:srgbClr val="D4D4D4"/>
                </a:solidFill>
                <a:latin typeface="Courier New"/>
                <a:ea typeface="Courier New"/>
                <a:cs typeface="Courier New"/>
                <a:sym typeface="Courier New"/>
              </a:rPr>
              <a:t> + </a:t>
            </a:r>
            <a:r>
              <a:rPr lang="es" sz="1300" b="1">
                <a:solidFill>
                  <a:srgbClr val="9CDCFE"/>
                </a:solidFill>
                <a:latin typeface="Courier New"/>
                <a:ea typeface="Courier New"/>
                <a:cs typeface="Courier New"/>
                <a:sym typeface="Courier New"/>
              </a:rPr>
              <a:t>x</a:t>
            </a:r>
            <a:r>
              <a:rPr lang="es" sz="1300" b="1">
                <a:solidFill>
                  <a:srgbClr val="D4D4D4"/>
                </a:solidFill>
                <a:latin typeface="Courier New"/>
                <a:ea typeface="Courier New"/>
                <a:cs typeface="Courier New"/>
                <a:sym typeface="Courier New"/>
              </a:rPr>
              <a:t>);</a:t>
            </a:r>
            <a:endParaRPr sz="13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300" b="1">
                <a:solidFill>
                  <a:srgbClr val="D4D4D4"/>
                </a:solidFill>
                <a:latin typeface="Courier New"/>
                <a:ea typeface="Courier New"/>
                <a:cs typeface="Courier New"/>
                <a:sym typeface="Courier New"/>
              </a:rPr>
              <a:t>    </a:t>
            </a:r>
            <a:r>
              <a:rPr lang="es" sz="1300" b="1">
                <a:solidFill>
                  <a:srgbClr val="9CDCFE"/>
                </a:solidFill>
                <a:latin typeface="Courier New"/>
                <a:ea typeface="Courier New"/>
                <a:cs typeface="Courier New"/>
                <a:sym typeface="Courier New"/>
              </a:rPr>
              <a:t>x</a:t>
            </a:r>
            <a:r>
              <a:rPr lang="es" sz="1300" b="1">
                <a:solidFill>
                  <a:srgbClr val="D4D4D4"/>
                </a:solidFill>
                <a:latin typeface="Courier New"/>
                <a:ea typeface="Courier New"/>
                <a:cs typeface="Courier New"/>
                <a:sym typeface="Courier New"/>
              </a:rPr>
              <a:t>++;</a:t>
            </a:r>
            <a:endParaRPr sz="1300" b="1">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300" b="1">
                <a:solidFill>
                  <a:srgbClr val="D4D4D4"/>
                </a:solidFill>
                <a:latin typeface="Courier New"/>
                <a:ea typeface="Courier New"/>
                <a:cs typeface="Courier New"/>
                <a:sym typeface="Courier New"/>
              </a:rPr>
              <a:t>} </a:t>
            </a:r>
            <a:r>
              <a:rPr lang="es" sz="1300" b="1">
                <a:solidFill>
                  <a:srgbClr val="C586C0"/>
                </a:solidFill>
                <a:latin typeface="Courier New"/>
                <a:ea typeface="Courier New"/>
                <a:cs typeface="Courier New"/>
                <a:sym typeface="Courier New"/>
              </a:rPr>
              <a:t>while</a:t>
            </a:r>
            <a:r>
              <a:rPr lang="es" sz="1300" b="1">
                <a:solidFill>
                  <a:srgbClr val="D4D4D4"/>
                </a:solidFill>
                <a:latin typeface="Courier New"/>
                <a:ea typeface="Courier New"/>
                <a:cs typeface="Courier New"/>
                <a:sym typeface="Courier New"/>
              </a:rPr>
              <a:t> (</a:t>
            </a:r>
            <a:r>
              <a:rPr lang="es" sz="1300" b="1">
                <a:solidFill>
                  <a:srgbClr val="9CDCFE"/>
                </a:solidFill>
                <a:latin typeface="Courier New"/>
                <a:ea typeface="Courier New"/>
                <a:cs typeface="Courier New"/>
                <a:sym typeface="Courier New"/>
              </a:rPr>
              <a:t>x</a:t>
            </a:r>
            <a:r>
              <a:rPr lang="es" sz="1300" b="1">
                <a:solidFill>
                  <a:srgbClr val="D4D4D4"/>
                </a:solidFill>
                <a:latin typeface="Courier New"/>
                <a:ea typeface="Courier New"/>
                <a:cs typeface="Courier New"/>
                <a:sym typeface="Courier New"/>
              </a:rPr>
              <a:t> &lt;= </a:t>
            </a:r>
            <a:r>
              <a:rPr lang="es" sz="1300" b="1">
                <a:solidFill>
                  <a:srgbClr val="B5CEA8"/>
                </a:solidFill>
                <a:latin typeface="Courier New"/>
                <a:ea typeface="Courier New"/>
                <a:cs typeface="Courier New"/>
                <a:sym typeface="Courier New"/>
              </a:rPr>
              <a:t>5</a:t>
            </a:r>
            <a:r>
              <a:rPr lang="es" sz="1300" b="1">
                <a:solidFill>
                  <a:srgbClr val="D4D4D4"/>
                </a:solidFill>
                <a:latin typeface="Courier New"/>
                <a:ea typeface="Courier New"/>
                <a:cs typeface="Courier New"/>
                <a:sym typeface="Courier New"/>
              </a:rPr>
              <a:t>);</a:t>
            </a:r>
            <a:endParaRPr sz="1300" b="1">
              <a:solidFill>
                <a:srgbClr val="D4D4D4"/>
              </a:solidFill>
              <a:latin typeface="Courier New"/>
              <a:ea typeface="Courier New"/>
              <a:cs typeface="Courier New"/>
              <a:sym typeface="Courier New"/>
            </a:endParaRPr>
          </a:p>
          <a:p>
            <a:pPr marL="0" lvl="0" indent="0" algn="l" rtl="0">
              <a:spcBef>
                <a:spcPts val="0"/>
              </a:spcBef>
              <a:spcAft>
                <a:spcPts val="0"/>
              </a:spcAft>
              <a:buNone/>
            </a:pPr>
            <a:endParaRPr sz="1300" b="1">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6"/>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Bibliografía</a:t>
            </a:r>
            <a:endParaRPr/>
          </a:p>
        </p:txBody>
      </p:sp>
      <p:sp>
        <p:nvSpPr>
          <p:cNvPr id="179" name="Google Shape;179;p26"/>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s" u="sng">
                <a:solidFill>
                  <a:schemeClr val="hlink"/>
                </a:solidFill>
                <a:hlinkClick r:id="rId3"/>
              </a:rPr>
              <a:t>LibrosWeb  </a:t>
            </a:r>
            <a:endParaRPr/>
          </a:p>
          <a:p>
            <a:pPr marL="457200" lvl="0" indent="-342900" algn="l" rtl="0">
              <a:spcBef>
                <a:spcPts val="0"/>
              </a:spcBef>
              <a:spcAft>
                <a:spcPts val="0"/>
              </a:spcAft>
              <a:buSzPts val="1800"/>
              <a:buChar char="●"/>
            </a:pPr>
            <a:r>
              <a:rPr lang="es" u="sng">
                <a:solidFill>
                  <a:schemeClr val="hlink"/>
                </a:solidFill>
                <a:hlinkClick r:id="rId4"/>
              </a:rPr>
              <a:t>W3Schools</a:t>
            </a:r>
            <a:endParaRPr/>
          </a:p>
          <a:p>
            <a:pPr marL="457200" lvl="0" indent="-342900" algn="l" rtl="0">
              <a:spcBef>
                <a:spcPts val="0"/>
              </a:spcBef>
              <a:spcAft>
                <a:spcPts val="0"/>
              </a:spcAft>
              <a:buSzPts val="1800"/>
              <a:buChar char="●"/>
            </a:pPr>
            <a:r>
              <a:rPr lang="es" u="sng">
                <a:solidFill>
                  <a:schemeClr val="hlink"/>
                </a:solidFill>
                <a:hlinkClick r:id="rId5"/>
              </a:rPr>
              <a:t>Developer Mozilla Docs</a:t>
            </a:r>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993</Words>
  <Application>Microsoft Office PowerPoint</Application>
  <PresentationFormat>Presentación en pantalla (16:9)</PresentationFormat>
  <Paragraphs>151</Paragraphs>
  <Slides>17</Slides>
  <Notes>17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Courier New</vt:lpstr>
      <vt:lpstr>Roboto</vt:lpstr>
      <vt:lpstr>Arial</vt:lpstr>
      <vt:lpstr>Geometric</vt:lpstr>
      <vt:lpstr>TEMA 2. Estructuras de control</vt:lpstr>
      <vt:lpstr>Índice :</vt:lpstr>
      <vt:lpstr>Estructuras de control</vt:lpstr>
      <vt:lpstr>Estructuras Secuenciales</vt:lpstr>
      <vt:lpstr>Estructuras Selectivas (o Condicionales)</vt:lpstr>
      <vt:lpstr>Presentación de PowerPoint</vt:lpstr>
      <vt:lpstr>Presentación de PowerPoint</vt:lpstr>
      <vt:lpstr>switch</vt:lpstr>
      <vt:lpstr>switch</vt:lpstr>
      <vt:lpstr>Presentación de PowerPoint</vt:lpstr>
      <vt:lpstr>Presentación de PowerPoint</vt:lpstr>
      <vt:lpstr>Bucle iterativo while</vt:lpstr>
      <vt:lpstr>Bucle iterativo for</vt:lpstr>
      <vt:lpstr>for / in</vt:lpstr>
      <vt:lpstr>for / of</vt:lpstr>
      <vt:lpstr>Bucle iterativo do-while</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Francisco  Jose</cp:lastModifiedBy>
  <cp:revision>11</cp:revision>
  <dcterms:modified xsi:type="dcterms:W3CDTF">2026-09-23T19:19:28Z</dcterms:modified>
</cp:coreProperties>
</file>