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embeddedFontLst>
    <p:embeddedFont>
      <p:font typeface="Roboto" panose="02000000000000000000" pitchFamily="2"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601bf07c5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601bf07c5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617a654a93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617a654a9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617a654a93_1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617a654a93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617a654a93_1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617a654a93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617a654a93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617a654a93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617a654a93_2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617a654a93_2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617a654a93_2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617a654a93_2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61aa327e9d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61aa327e9d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61aa327e9d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61aa327e9d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61bc8e317f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61bc8e317f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61aa327e9d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61aa327e9d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61aa327e9d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61aa327e9d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61aa327e9d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61aa327e9d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61aa327e9d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61aa327e9d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60437a1184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60437a1184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0" y="4497976"/>
            <a:ext cx="9144002" cy="645618"/>
            <a:chOff x="0" y="4497976"/>
            <a:chExt cx="9144002" cy="645618"/>
          </a:xfrm>
        </p:grpSpPr>
        <p:sp>
          <p:nvSpPr>
            <p:cNvPr id="30" name="Google Shape;30;p4"/>
            <p:cNvSpPr/>
            <p:nvPr/>
          </p:nvSpPr>
          <p:spPr>
            <a:xfrm>
              <a:off x="8154902" y="4499906"/>
              <a:ext cx="989100" cy="3918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flipH="1">
              <a:off x="6181173" y="4499906"/>
              <a:ext cx="989100" cy="3918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7170285" y="4499906"/>
              <a:ext cx="989100" cy="391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rot="10800000">
              <a:off x="8154747" y="4497976"/>
              <a:ext cx="989100" cy="3936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7" name="Google Shape;37;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
        <p:nvSpPr>
          <p:cNvPr id="38" name="Google Shape;38;p4"/>
          <p:cNvSpPr txBox="1"/>
          <p:nvPr/>
        </p:nvSpPr>
        <p:spPr>
          <a:xfrm>
            <a:off x="169525" y="4826500"/>
            <a:ext cx="3640800" cy="24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000">
                <a:solidFill>
                  <a:srgbClr val="CFE2F3"/>
                </a:solidFill>
                <a:latin typeface="Roboto"/>
                <a:ea typeface="Roboto"/>
                <a:cs typeface="Roboto"/>
                <a:sym typeface="Roboto"/>
              </a:rPr>
              <a:t>Profesor: Juan J. Gallego</a:t>
            </a:r>
            <a:endParaRPr sz="1000">
              <a:solidFill>
                <a:srgbClr val="CFE2F3"/>
              </a:solidFill>
              <a:latin typeface="Roboto"/>
              <a:ea typeface="Roboto"/>
              <a:cs typeface="Roboto"/>
              <a:sym typeface="Robo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9"/>
        <p:cNvGrpSpPr/>
        <p:nvPr/>
      </p:nvGrpSpPr>
      <p:grpSpPr>
        <a:xfrm>
          <a:off x="0" y="0"/>
          <a:ext cx="0" cy="0"/>
          <a:chOff x="0" y="0"/>
          <a:chExt cx="0" cy="0"/>
        </a:xfrm>
      </p:grpSpPr>
      <p:sp>
        <p:nvSpPr>
          <p:cNvPr id="40" name="Google Shape;40;p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1" name="Google Shape;41;p5"/>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2" name="Google Shape;42;p5"/>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3" name="Google Shape;43;p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4"/>
        <p:cNvGrpSpPr/>
        <p:nvPr/>
      </p:nvGrpSpPr>
      <p:grpSpPr>
        <a:xfrm>
          <a:off x="0" y="0"/>
          <a:ext cx="0" cy="0"/>
          <a:chOff x="0" y="0"/>
          <a:chExt cx="0" cy="0"/>
        </a:xfrm>
      </p:grpSpPr>
      <p:sp>
        <p:nvSpPr>
          <p:cNvPr id="45" name="Google Shape;45;p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6" name="Google Shape;46;p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9" name="Google Shape;49;p7"/>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50" name="Google Shape;50;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1"/>
        <p:cNvGrpSpPr/>
        <p:nvPr/>
      </p:nvGrpSpPr>
      <p:grpSpPr>
        <a:xfrm>
          <a:off x="0" y="0"/>
          <a:ext cx="0" cy="0"/>
          <a:chOff x="0" y="0"/>
          <a:chExt cx="0" cy="0"/>
        </a:xfrm>
      </p:grpSpPr>
      <p:grpSp>
        <p:nvGrpSpPr>
          <p:cNvPr id="52" name="Google Shape;52;p8"/>
          <p:cNvGrpSpPr/>
          <p:nvPr/>
        </p:nvGrpSpPr>
        <p:grpSpPr>
          <a:xfrm>
            <a:off x="6098378" y="5"/>
            <a:ext cx="3045625" cy="2030570"/>
            <a:chOff x="6098378" y="5"/>
            <a:chExt cx="3045625" cy="2030570"/>
          </a:xfrm>
        </p:grpSpPr>
        <p:sp>
          <p:nvSpPr>
            <p:cNvPr id="53" name="Google Shape;53;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 name="Google Shape;58;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59" name="Google Shape;59;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0"/>
        <p:cNvGrpSpPr/>
        <p:nvPr/>
      </p:nvGrpSpPr>
      <p:grpSpPr>
        <a:xfrm>
          <a:off x="0" y="0"/>
          <a:ext cx="0" cy="0"/>
          <a:chOff x="0" y="0"/>
          <a:chExt cx="0" cy="0"/>
        </a:xfrm>
      </p:grpSpPr>
      <p:sp>
        <p:nvSpPr>
          <p:cNvPr id="61" name="Google Shape;61;p9"/>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2" name="Google Shape;62;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3" name="Google Shape;63;p9"/>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4" name="Google Shape;64;p9"/>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5" name="Google Shape;65;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66" name="Google Shape;66;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7"/>
        <p:cNvGrpSpPr/>
        <p:nvPr/>
      </p:nvGrpSpPr>
      <p:grpSpPr>
        <a:xfrm>
          <a:off x="0" y="0"/>
          <a:ext cx="0" cy="0"/>
          <a:chOff x="0" y="0"/>
          <a:chExt cx="0" cy="0"/>
        </a:xfrm>
      </p:grpSpPr>
      <p:sp>
        <p:nvSpPr>
          <p:cNvPr id="68" name="Google Shape;68;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69" name="Google Shape;69;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0"/>
        <p:cNvGrpSpPr/>
        <p:nvPr/>
      </p:nvGrpSpPr>
      <p:grpSpPr>
        <a:xfrm>
          <a:off x="0" y="0"/>
          <a:ext cx="0" cy="0"/>
          <a:chOff x="0" y="0"/>
          <a:chExt cx="0" cy="0"/>
        </a:xfrm>
      </p:grpSpPr>
      <p:grpSp>
        <p:nvGrpSpPr>
          <p:cNvPr id="71" name="Google Shape;71;p11"/>
          <p:cNvGrpSpPr/>
          <p:nvPr/>
        </p:nvGrpSpPr>
        <p:grpSpPr>
          <a:xfrm>
            <a:off x="6098378" y="5"/>
            <a:ext cx="3045625" cy="2030570"/>
            <a:chOff x="6098378" y="5"/>
            <a:chExt cx="3045625" cy="2030570"/>
          </a:xfrm>
        </p:grpSpPr>
        <p:sp>
          <p:nvSpPr>
            <p:cNvPr id="72" name="Google Shape;72;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8" name="Google Shape;78;p11"/>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1600"/>
              </a:spcBef>
              <a:spcAft>
                <a:spcPts val="0"/>
              </a:spcAft>
              <a:buClr>
                <a:schemeClr val="lt1"/>
              </a:buClr>
              <a:buSzPts val="1400"/>
              <a:buChar char="○"/>
              <a:defRPr>
                <a:solidFill>
                  <a:schemeClr val="lt1"/>
                </a:solidFill>
              </a:defRPr>
            </a:lvl2pPr>
            <a:lvl3pPr marL="1371600" lvl="2" indent="-317500" algn="ctr">
              <a:spcBef>
                <a:spcPts val="1600"/>
              </a:spcBef>
              <a:spcAft>
                <a:spcPts val="0"/>
              </a:spcAft>
              <a:buClr>
                <a:schemeClr val="lt1"/>
              </a:buClr>
              <a:buSzPts val="1400"/>
              <a:buChar char="■"/>
              <a:defRPr>
                <a:solidFill>
                  <a:schemeClr val="lt1"/>
                </a:solidFill>
              </a:defRPr>
            </a:lvl3pPr>
            <a:lvl4pPr marL="1828800" lvl="3" indent="-317500" algn="ctr">
              <a:spcBef>
                <a:spcPts val="1600"/>
              </a:spcBef>
              <a:spcAft>
                <a:spcPts val="0"/>
              </a:spcAft>
              <a:buClr>
                <a:schemeClr val="lt1"/>
              </a:buClr>
              <a:buSzPts val="1400"/>
              <a:buChar char="●"/>
              <a:defRPr>
                <a:solidFill>
                  <a:schemeClr val="lt1"/>
                </a:solidFill>
              </a:defRPr>
            </a:lvl4pPr>
            <a:lvl5pPr marL="2286000" lvl="4" indent="-317500" algn="ctr">
              <a:spcBef>
                <a:spcPts val="1600"/>
              </a:spcBef>
              <a:spcAft>
                <a:spcPts val="0"/>
              </a:spcAft>
              <a:buClr>
                <a:schemeClr val="lt1"/>
              </a:buClr>
              <a:buSzPts val="1400"/>
              <a:buChar char="○"/>
              <a:defRPr>
                <a:solidFill>
                  <a:schemeClr val="lt1"/>
                </a:solidFill>
              </a:defRPr>
            </a:lvl5pPr>
            <a:lvl6pPr marL="2743200" lvl="5" indent="-317500" algn="ctr">
              <a:spcBef>
                <a:spcPts val="1600"/>
              </a:spcBef>
              <a:spcAft>
                <a:spcPts val="0"/>
              </a:spcAft>
              <a:buClr>
                <a:schemeClr val="lt1"/>
              </a:buClr>
              <a:buSzPts val="1400"/>
              <a:buChar char="■"/>
              <a:defRPr>
                <a:solidFill>
                  <a:schemeClr val="lt1"/>
                </a:solidFill>
              </a:defRPr>
            </a:lvl6pPr>
            <a:lvl7pPr marL="3200400" lvl="6" indent="-317500" algn="ctr">
              <a:spcBef>
                <a:spcPts val="1600"/>
              </a:spcBef>
              <a:spcAft>
                <a:spcPts val="0"/>
              </a:spcAft>
              <a:buClr>
                <a:schemeClr val="lt1"/>
              </a:buClr>
              <a:buSzPts val="1400"/>
              <a:buChar char="●"/>
              <a:defRPr>
                <a:solidFill>
                  <a:schemeClr val="lt1"/>
                </a:solidFill>
              </a:defRPr>
            </a:lvl7pPr>
            <a:lvl8pPr marL="3657600" lvl="7" indent="-317500" algn="ctr">
              <a:spcBef>
                <a:spcPts val="1600"/>
              </a:spcBef>
              <a:spcAft>
                <a:spcPts val="0"/>
              </a:spcAft>
              <a:buClr>
                <a:schemeClr val="lt1"/>
              </a:buClr>
              <a:buSzPts val="1400"/>
              <a:buChar char="○"/>
              <a:defRPr>
                <a:solidFill>
                  <a:schemeClr val="lt1"/>
                </a:solidFill>
              </a:defRPr>
            </a:lvl8pPr>
            <a:lvl9pPr marL="4114800" lvl="8" indent="-317500" algn="ctr">
              <a:spcBef>
                <a:spcPts val="1600"/>
              </a:spcBef>
              <a:spcAft>
                <a:spcPts val="1600"/>
              </a:spcAft>
              <a:buClr>
                <a:schemeClr val="lt1"/>
              </a:buClr>
              <a:buSzPts val="1400"/>
              <a:buChar char="■"/>
              <a:defRPr>
                <a:solidFill>
                  <a:schemeClr val="lt1"/>
                </a:solidFill>
              </a:defRPr>
            </a:lvl9pPr>
          </a:lstStyle>
          <a:p>
            <a:endParaRPr/>
          </a:p>
        </p:txBody>
      </p:sp>
      <p:sp>
        <p:nvSpPr>
          <p:cNvPr id="79" name="Google Shape;79;p1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hyperlink" Target="https://uniwebsidad.com/libros/javascript/capitulo-4/funciones" TargetMode="External"/><Relationship Id="rId2" Type="http://schemas.openxmlformats.org/officeDocument/2006/relationships/notesSlide" Target="../notesSlides/notesSlide16.xml"/><Relationship Id="rId1" Type="http://schemas.openxmlformats.org/officeDocument/2006/relationships/slideLayout" Target="../slideLayouts/slideLayout11.xml"/><Relationship Id="rId5" Type="http://schemas.openxmlformats.org/officeDocument/2006/relationships/hyperlink" Target="https://developer.mozilla.org/es/docs/Web/JavaScript/Guide/Funciones" TargetMode="External"/><Relationship Id="rId4" Type="http://schemas.openxmlformats.org/officeDocument/2006/relationships/hyperlink" Target="https://www.w3schools.com/js/js_function_definition.as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sz="2400">
                <a:solidFill>
                  <a:srgbClr val="FFFFFF"/>
                </a:solidFill>
              </a:rPr>
              <a:t>TEMA 3. Funciones</a:t>
            </a:r>
            <a:endParaRPr sz="2400">
              <a:solidFill>
                <a:srgbClr val="FFFFFF"/>
              </a:solidFill>
            </a:endParaRPr>
          </a:p>
        </p:txBody>
      </p:sp>
      <p:sp>
        <p:nvSpPr>
          <p:cNvPr id="87" name="Google Shape;87;p13"/>
          <p:cNvSpPr txBox="1">
            <a:spLocks noGrp="1"/>
          </p:cNvSpPr>
          <p:nvPr>
            <p:ph type="subTitle" idx="1"/>
          </p:nvPr>
        </p:nvSpPr>
        <p:spPr>
          <a:xfrm>
            <a:off x="421863" y="3872013"/>
            <a:ext cx="8222100" cy="43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400" dirty="0">
                <a:solidFill>
                  <a:srgbClr val="FFE599"/>
                </a:solidFill>
              </a:rPr>
              <a:t>Desarrollo Web en Entorno Cliente.</a:t>
            </a:r>
            <a:endParaRPr sz="1400" dirty="0">
              <a:solidFill>
                <a:srgbClr val="FFE599"/>
              </a:solidFill>
            </a:endParaRPr>
          </a:p>
          <a:p>
            <a:pPr marL="0" lvl="0" indent="0" algn="l" rtl="0">
              <a:spcBef>
                <a:spcPts val="0"/>
              </a:spcBef>
              <a:spcAft>
                <a:spcPts val="0"/>
              </a:spcAft>
              <a:buNone/>
            </a:pPr>
            <a:endParaRPr sz="1100" dirty="0">
              <a:solidFill>
                <a:srgbClr val="FFE599"/>
              </a:solidFill>
            </a:endParaRPr>
          </a:p>
          <a:p>
            <a:pPr marL="0" lvl="0" indent="0" algn="l" rtl="0">
              <a:spcBef>
                <a:spcPts val="0"/>
              </a:spcBef>
              <a:spcAft>
                <a:spcPts val="0"/>
              </a:spcAft>
              <a:buNone/>
            </a:pPr>
            <a:endParaRPr sz="1100" dirty="0">
              <a:solidFill>
                <a:srgbClr val="FFE59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idx="4294967295"/>
          </p:nvPr>
        </p:nvSpPr>
        <p:spPr>
          <a:xfrm>
            <a:off x="0" y="4095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Índice :</a:t>
            </a:r>
            <a:endParaRPr/>
          </a:p>
        </p:txBody>
      </p:sp>
      <p:sp>
        <p:nvSpPr>
          <p:cNvPr id="93" name="Google Shape;93;p14"/>
          <p:cNvSpPr txBox="1">
            <a:spLocks noGrp="1"/>
          </p:cNvSpPr>
          <p:nvPr>
            <p:ph type="body" idx="4294967295"/>
          </p:nvPr>
        </p:nvSpPr>
        <p:spPr>
          <a:xfrm>
            <a:off x="0" y="1066800"/>
            <a:ext cx="8521700" cy="3338513"/>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s"/>
              <a:t>Funciones definidas por el usuario.</a:t>
            </a:r>
            <a:endParaRPr/>
          </a:p>
          <a:p>
            <a:pPr marL="914400" lvl="1" indent="-317500" algn="l" rtl="0">
              <a:spcBef>
                <a:spcPts val="0"/>
              </a:spcBef>
              <a:spcAft>
                <a:spcPts val="0"/>
              </a:spcAft>
              <a:buSzPts val="1400"/>
              <a:buChar char="○"/>
            </a:pPr>
            <a:r>
              <a:rPr lang="es"/>
              <a:t>Definición de una función.</a:t>
            </a:r>
            <a:endParaRPr/>
          </a:p>
          <a:p>
            <a:pPr marL="914400" marR="0" lvl="1" indent="-317500" algn="l" rtl="0">
              <a:lnSpc>
                <a:spcPct val="115000"/>
              </a:lnSpc>
              <a:spcBef>
                <a:spcPts val="0"/>
              </a:spcBef>
              <a:spcAft>
                <a:spcPts val="0"/>
              </a:spcAft>
              <a:buSzPts val="1400"/>
              <a:buChar char="○"/>
            </a:pPr>
            <a:r>
              <a:rPr lang="es"/>
              <a:t>Definición de función como una expresión.</a:t>
            </a:r>
            <a:endParaRPr/>
          </a:p>
          <a:p>
            <a:pPr marL="914400" marR="0" lvl="1" indent="-317500" algn="l" rtl="0">
              <a:lnSpc>
                <a:spcPct val="115000"/>
              </a:lnSpc>
              <a:spcBef>
                <a:spcPts val="0"/>
              </a:spcBef>
              <a:spcAft>
                <a:spcPts val="0"/>
              </a:spcAft>
              <a:buSzPts val="1400"/>
              <a:buChar char="○"/>
            </a:pPr>
            <a:r>
              <a:rPr lang="es"/>
              <a:t>Función autoinvocada.</a:t>
            </a:r>
            <a:endParaRPr/>
          </a:p>
          <a:p>
            <a:pPr marL="914400" marR="0" lvl="1" indent="-317500" algn="l" rtl="0">
              <a:lnSpc>
                <a:spcPct val="115000"/>
              </a:lnSpc>
              <a:spcBef>
                <a:spcPts val="0"/>
              </a:spcBef>
              <a:spcAft>
                <a:spcPts val="0"/>
              </a:spcAft>
              <a:buSzPts val="1400"/>
              <a:buChar char="○"/>
            </a:pPr>
            <a:r>
              <a:rPr lang="es"/>
              <a:t>Definición de función con constructor. Function</a:t>
            </a:r>
            <a:endParaRPr/>
          </a:p>
          <a:p>
            <a:pPr marL="914400" marR="0" lvl="1" indent="-317500" algn="l" rtl="0">
              <a:lnSpc>
                <a:spcPct val="115000"/>
              </a:lnSpc>
              <a:spcBef>
                <a:spcPts val="0"/>
              </a:spcBef>
              <a:spcAft>
                <a:spcPts val="0"/>
              </a:spcAft>
              <a:buSzPts val="1400"/>
              <a:buChar char="○"/>
            </a:pPr>
            <a:r>
              <a:rPr lang="es"/>
              <a:t>Funciones flecha (arrow).</a:t>
            </a:r>
            <a:endParaRPr/>
          </a:p>
          <a:p>
            <a:pPr marL="914400" marR="0" lvl="1" indent="-317500" algn="l" rtl="0">
              <a:lnSpc>
                <a:spcPct val="115000"/>
              </a:lnSpc>
              <a:spcBef>
                <a:spcPts val="0"/>
              </a:spcBef>
              <a:spcAft>
                <a:spcPts val="0"/>
              </a:spcAft>
              <a:buSzPts val="1400"/>
              <a:buChar char="○"/>
            </a:pPr>
            <a:r>
              <a:rPr lang="es"/>
              <a:t>Parámetros de una función.</a:t>
            </a:r>
            <a:endParaRPr/>
          </a:p>
          <a:p>
            <a:pPr marL="914400" marR="0" lvl="1" indent="-317500" algn="l" rtl="0">
              <a:lnSpc>
                <a:spcPct val="115000"/>
              </a:lnSpc>
              <a:spcBef>
                <a:spcPts val="0"/>
              </a:spcBef>
              <a:spcAft>
                <a:spcPts val="0"/>
              </a:spcAft>
              <a:buSzPts val="1400"/>
              <a:buChar char="○"/>
            </a:pPr>
            <a:r>
              <a:rPr lang="es"/>
              <a:t>Paso por valor y paso por referencia.</a:t>
            </a:r>
            <a:endParaRPr/>
          </a:p>
          <a:p>
            <a:pPr marL="914400" lvl="1" indent="-317500" algn="l" rtl="0">
              <a:lnSpc>
                <a:spcPct val="100000"/>
              </a:lnSpc>
              <a:spcBef>
                <a:spcPts val="0"/>
              </a:spcBef>
              <a:spcAft>
                <a:spcPts val="0"/>
              </a:spcAft>
              <a:buSzPts val="1400"/>
              <a:buChar char="○"/>
            </a:pPr>
            <a:r>
              <a:rPr lang="es"/>
              <a:t>Ámbito o alcance de las variables.</a:t>
            </a:r>
            <a:endParaRPr/>
          </a:p>
          <a:p>
            <a:pPr marL="914400" lvl="1" indent="-317500" algn="l" rtl="0">
              <a:lnSpc>
                <a:spcPct val="100000"/>
              </a:lnSpc>
              <a:spcBef>
                <a:spcPts val="0"/>
              </a:spcBef>
              <a:spcAft>
                <a:spcPts val="0"/>
              </a:spcAft>
              <a:buSzPts val="1400"/>
              <a:buChar char="○"/>
            </a:pPr>
            <a:r>
              <a:rPr lang="es"/>
              <a:t>Función cierre (closure).</a:t>
            </a:r>
            <a:endParaRPr/>
          </a:p>
          <a:p>
            <a:pPr marL="914400" lvl="0" indent="0" algn="l" rtl="0">
              <a:lnSpc>
                <a:spcPct val="100000"/>
              </a:lnSpc>
              <a:spcBef>
                <a:spcPts val="0"/>
              </a:spcBef>
              <a:spcAft>
                <a:spcPts val="0"/>
              </a:spcAft>
              <a:buNone/>
            </a:pPr>
            <a:endParaRPr/>
          </a:p>
          <a:p>
            <a:pPr marL="457200" lvl="0" indent="-342900" algn="l" rtl="0">
              <a:spcBef>
                <a:spcPts val="0"/>
              </a:spcBef>
              <a:spcAft>
                <a:spcPts val="0"/>
              </a:spcAft>
              <a:buSzPts val="1800"/>
              <a:buChar char="●"/>
            </a:pPr>
            <a:r>
              <a:rPr lang="es" sz="1800"/>
              <a:t>Bibliografía</a:t>
            </a:r>
            <a:r>
              <a:rPr lang="es"/>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idx="4294967295"/>
          </p:nvPr>
        </p:nvSpPr>
        <p:spPr>
          <a:xfrm>
            <a:off x="0" y="3333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Funciones definidas por el usuario.</a:t>
            </a:r>
            <a:endParaRPr sz="2000"/>
          </a:p>
        </p:txBody>
      </p:sp>
      <p:sp>
        <p:nvSpPr>
          <p:cNvPr id="99" name="Google Shape;99;p15"/>
          <p:cNvSpPr txBox="1">
            <a:spLocks noGrp="1"/>
          </p:cNvSpPr>
          <p:nvPr>
            <p:ph type="body" idx="4294967295"/>
          </p:nvPr>
        </p:nvSpPr>
        <p:spPr>
          <a:xfrm>
            <a:off x="0" y="1230313"/>
            <a:ext cx="8521700" cy="333851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Las funciones son bloques  de código que al ejecutarse, realizan una determinada tarea. Una función ejecuta su código definido cuando es invocada o llamada, ya sea por algún evento, por código o autoinvocada.</a:t>
            </a:r>
            <a:endParaRPr/>
          </a:p>
          <a:p>
            <a:pPr marL="0" lvl="0" indent="0" algn="l" rtl="0">
              <a:spcBef>
                <a:spcPts val="1600"/>
              </a:spcBef>
              <a:spcAft>
                <a:spcPts val="0"/>
              </a:spcAft>
              <a:buNone/>
            </a:pPr>
            <a:r>
              <a:rPr lang="es"/>
              <a:t>En JS existen varias formas de definir una función pero la sintaxis básica es la siguiente :</a:t>
            </a:r>
            <a:endParaRPr/>
          </a:p>
          <a:p>
            <a:pPr marL="0" lvl="0" indent="0" algn="l" rtl="0">
              <a:spcBef>
                <a:spcPts val="1600"/>
              </a:spcBef>
              <a:spcAft>
                <a:spcPts val="1600"/>
              </a:spcAft>
              <a:buNone/>
            </a:pPr>
            <a:endParaRPr/>
          </a:p>
        </p:txBody>
      </p:sp>
      <p:sp>
        <p:nvSpPr>
          <p:cNvPr id="102" name="Google Shape;102;p15"/>
          <p:cNvSpPr txBox="1">
            <a:spLocks noGrp="1"/>
          </p:cNvSpPr>
          <p:nvPr>
            <p:ph type="title" idx="4294967295"/>
          </p:nvPr>
        </p:nvSpPr>
        <p:spPr>
          <a:xfrm>
            <a:off x="0" y="7905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2000"/>
              <a:t>Definición de una función.</a:t>
            </a:r>
            <a:endParaRPr sz="2000"/>
          </a:p>
        </p:txBody>
      </p:sp>
      <p:sp>
        <p:nvSpPr>
          <p:cNvPr id="100" name="Google Shape;100;p15"/>
          <p:cNvSpPr txBox="1"/>
          <p:nvPr/>
        </p:nvSpPr>
        <p:spPr>
          <a:xfrm>
            <a:off x="1701400" y="2838450"/>
            <a:ext cx="4550700" cy="921600"/>
          </a:xfrm>
          <a:prstGeom prst="rect">
            <a:avLst/>
          </a:prstGeom>
          <a:solidFill>
            <a:srgbClr val="434343"/>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050">
                <a:solidFill>
                  <a:srgbClr val="569CD6"/>
                </a:solidFill>
                <a:latin typeface="Courier New"/>
                <a:ea typeface="Courier New"/>
                <a:cs typeface="Courier New"/>
                <a:sym typeface="Courier New"/>
              </a:rPr>
              <a:t>function</a:t>
            </a: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nombreFuncion</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parametro1</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parametro2 ,</a:t>
            </a:r>
            <a:r>
              <a:rPr lang="es" sz="1050">
                <a:solidFill>
                  <a:srgbClr val="D4D4D4"/>
                </a:solidFill>
                <a:latin typeface="Courier New"/>
                <a:ea typeface="Courier New"/>
                <a:cs typeface="Courier New"/>
                <a:sym typeface="Courier New"/>
              </a:rPr>
              <a:t> ...)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6A9955"/>
                </a:solidFill>
                <a:latin typeface="Courier New"/>
                <a:ea typeface="Courier New"/>
                <a:cs typeface="Courier New"/>
                <a:sym typeface="Courier New"/>
              </a:rPr>
              <a:t>// código a ejecutar</a:t>
            </a:r>
            <a:endParaRPr sz="1050">
              <a:solidFill>
                <a:srgbClr val="6A9955"/>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a:p>
            <a:pPr marL="0" lvl="0" indent="0" algn="l" rtl="0">
              <a:spcBef>
                <a:spcPts val="0"/>
              </a:spcBef>
              <a:spcAft>
                <a:spcPts val="0"/>
              </a:spcAft>
              <a:buNone/>
            </a:pPr>
            <a:endParaRPr>
              <a:latin typeface="Roboto"/>
              <a:ea typeface="Roboto"/>
              <a:cs typeface="Roboto"/>
              <a:sym typeface="Roboto"/>
            </a:endParaRPr>
          </a:p>
        </p:txBody>
      </p:sp>
      <p:sp>
        <p:nvSpPr>
          <p:cNvPr id="101" name="Google Shape;101;p15"/>
          <p:cNvSpPr txBox="1"/>
          <p:nvPr/>
        </p:nvSpPr>
        <p:spPr>
          <a:xfrm>
            <a:off x="1713300" y="3958825"/>
            <a:ext cx="4550700" cy="822600"/>
          </a:xfrm>
          <a:prstGeom prst="rect">
            <a:avLst/>
          </a:prstGeom>
          <a:solidFill>
            <a:srgbClr val="434343"/>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050">
                <a:solidFill>
                  <a:srgbClr val="6A9955"/>
                </a:solidFill>
                <a:latin typeface="Courier New"/>
                <a:ea typeface="Courier New"/>
                <a:cs typeface="Courier New"/>
                <a:sym typeface="Courier New"/>
              </a:rPr>
              <a:t>// Llamada a la función …</a:t>
            </a:r>
            <a:endParaRPr sz="1050">
              <a:solidFill>
                <a:srgbClr val="6A9955"/>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CDCAA"/>
                </a:solidFill>
                <a:latin typeface="Courier New"/>
                <a:ea typeface="Courier New"/>
                <a:cs typeface="Courier New"/>
                <a:sym typeface="Courier New"/>
              </a:rPr>
              <a:t> nombreFuncion (valor1 , valor2 , ... ) ;</a:t>
            </a:r>
            <a:endParaRPr sz="1050">
              <a:solidFill>
                <a:srgbClr val="6A9955"/>
              </a:solidFill>
              <a:latin typeface="Courier New"/>
              <a:ea typeface="Courier New"/>
              <a:cs typeface="Courier New"/>
              <a:sym typeface="Courier New"/>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6"/>
          <p:cNvSpPr txBox="1">
            <a:spLocks noGrp="1"/>
          </p:cNvSpPr>
          <p:nvPr>
            <p:ph type="body" idx="4294967295"/>
          </p:nvPr>
        </p:nvSpPr>
        <p:spPr>
          <a:xfrm>
            <a:off x="0" y="203200"/>
            <a:ext cx="8521700" cy="43656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dirty="0">
                <a:solidFill>
                  <a:srgbClr val="4A86E8"/>
                </a:solidFill>
              </a:rPr>
              <a:t>Ejemplo :</a:t>
            </a:r>
            <a:endParaRPr dirty="0">
              <a:solidFill>
                <a:srgbClr val="4A86E8"/>
              </a:solidFill>
            </a:endParaRPr>
          </a:p>
          <a:p>
            <a:pPr marL="0" lvl="0" indent="0" algn="l" rtl="0">
              <a:spcBef>
                <a:spcPts val="1600"/>
              </a:spcBef>
              <a:spcAft>
                <a:spcPts val="1600"/>
              </a:spcAft>
              <a:buNone/>
            </a:pPr>
            <a:endParaRPr dirty="0">
              <a:solidFill>
                <a:srgbClr val="4A86E8"/>
              </a:solidFill>
            </a:endParaRPr>
          </a:p>
        </p:txBody>
      </p:sp>
      <p:sp>
        <p:nvSpPr>
          <p:cNvPr id="108" name="Google Shape;108;p16"/>
          <p:cNvSpPr txBox="1"/>
          <p:nvPr/>
        </p:nvSpPr>
        <p:spPr>
          <a:xfrm>
            <a:off x="3482575" y="200050"/>
            <a:ext cx="5025600" cy="4257600"/>
          </a:xfrm>
          <a:prstGeom prst="rect">
            <a:avLst/>
          </a:prstGeom>
          <a:solidFill>
            <a:srgbClr val="434343"/>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DOCTYPE</a:t>
            </a:r>
            <a:r>
              <a:rPr lang="es" sz="1050" dirty="0">
                <a:solidFill>
                  <a:srgbClr val="D4D4D4"/>
                </a:solidFill>
                <a:latin typeface="Courier New"/>
                <a:ea typeface="Courier New"/>
                <a:cs typeface="Courier New"/>
                <a:sym typeface="Courier New"/>
              </a:rPr>
              <a:t> </a:t>
            </a:r>
            <a:r>
              <a:rPr lang="es" sz="1050" dirty="0">
                <a:solidFill>
                  <a:srgbClr val="9CDCFE"/>
                </a:solidFill>
                <a:latin typeface="Courier New"/>
                <a:ea typeface="Courier New"/>
                <a:cs typeface="Courier New"/>
                <a:sym typeface="Courier New"/>
              </a:rPr>
              <a:t>html</a:t>
            </a:r>
            <a:r>
              <a:rPr lang="es" sz="1050" dirty="0">
                <a:solidFill>
                  <a:srgbClr val="808080"/>
                </a:solidFill>
                <a:latin typeface="Courier New"/>
                <a:ea typeface="Courier New"/>
                <a:cs typeface="Courier New"/>
                <a:sym typeface="Courier New"/>
              </a:rPr>
              <a:t>&gt;</a:t>
            </a:r>
            <a:endParaRPr sz="1050" dirty="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html</a:t>
            </a:r>
            <a:r>
              <a:rPr lang="es" sz="1050" dirty="0">
                <a:solidFill>
                  <a:srgbClr val="808080"/>
                </a:solidFill>
                <a:latin typeface="Courier New"/>
                <a:ea typeface="Courier New"/>
                <a:cs typeface="Courier New"/>
                <a:sym typeface="Courier New"/>
              </a:rPr>
              <a:t>&gt;</a:t>
            </a:r>
            <a:endParaRPr sz="1050" dirty="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head</a:t>
            </a:r>
            <a:r>
              <a:rPr lang="es" sz="1050" dirty="0">
                <a:solidFill>
                  <a:srgbClr val="808080"/>
                </a:solidFill>
                <a:latin typeface="Courier New"/>
                <a:ea typeface="Courier New"/>
                <a:cs typeface="Courier New"/>
                <a:sym typeface="Courier New"/>
              </a:rPr>
              <a:t>&gt;</a:t>
            </a:r>
            <a:endParaRPr sz="1050" dirty="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808080"/>
                </a:solidFill>
                <a:latin typeface="Courier New"/>
                <a:ea typeface="Courier New"/>
                <a:cs typeface="Courier New"/>
                <a:sym typeface="Courier New"/>
              </a:rPr>
              <a:t>    </a:t>
            </a:r>
            <a:r>
              <a:rPr lang="es" sz="1100" dirty="0">
                <a:solidFill>
                  <a:srgbClr val="F8F8F2"/>
                </a:solidFill>
                <a:latin typeface="Courier New"/>
                <a:ea typeface="Courier New"/>
                <a:cs typeface="Courier New"/>
                <a:sym typeface="Courier New"/>
              </a:rPr>
              <a:t>&lt;</a:t>
            </a:r>
            <a:r>
              <a:rPr lang="es" sz="1100" dirty="0">
                <a:solidFill>
                  <a:srgbClr val="F92672"/>
                </a:solidFill>
                <a:latin typeface="Courier New"/>
                <a:ea typeface="Courier New"/>
                <a:cs typeface="Courier New"/>
                <a:sym typeface="Courier New"/>
              </a:rPr>
              <a:t>meta </a:t>
            </a:r>
            <a:r>
              <a:rPr lang="es" sz="1100" dirty="0">
                <a:solidFill>
                  <a:srgbClr val="A6E22E"/>
                </a:solidFill>
                <a:latin typeface="Courier New"/>
                <a:ea typeface="Courier New"/>
                <a:cs typeface="Courier New"/>
                <a:sym typeface="Courier New"/>
              </a:rPr>
              <a:t>charset</a:t>
            </a:r>
            <a:r>
              <a:rPr lang="es" sz="1100" dirty="0">
                <a:solidFill>
                  <a:srgbClr val="F8F8F2"/>
                </a:solidFill>
                <a:latin typeface="Courier New"/>
                <a:ea typeface="Courier New"/>
                <a:cs typeface="Courier New"/>
                <a:sym typeface="Courier New"/>
              </a:rPr>
              <a:t>="</a:t>
            </a:r>
            <a:r>
              <a:rPr lang="es" sz="1100" dirty="0">
                <a:solidFill>
                  <a:srgbClr val="E6DB74"/>
                </a:solidFill>
                <a:latin typeface="Courier New"/>
                <a:ea typeface="Courier New"/>
                <a:cs typeface="Courier New"/>
                <a:sym typeface="Courier New"/>
              </a:rPr>
              <a:t>utf-8</a:t>
            </a:r>
            <a:r>
              <a:rPr lang="es" sz="1100" dirty="0">
                <a:solidFill>
                  <a:srgbClr val="F8F8F2"/>
                </a:solidFill>
                <a:latin typeface="Courier New"/>
                <a:ea typeface="Courier New"/>
                <a:cs typeface="Courier New"/>
                <a:sym typeface="Courier New"/>
              </a:rPr>
              <a:t>"&gt;</a:t>
            </a:r>
            <a:endParaRPr sz="1050" dirty="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D4D4D4"/>
                </a:solidFill>
                <a:latin typeface="Courier New"/>
                <a:ea typeface="Courier New"/>
                <a:cs typeface="Courier New"/>
                <a:sym typeface="Courier New"/>
              </a:rPr>
              <a:t>    </a:t>
            </a: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script</a:t>
            </a:r>
            <a:r>
              <a:rPr lang="es" sz="1050" dirty="0">
                <a:solidFill>
                  <a:srgbClr val="808080"/>
                </a:solidFill>
                <a:latin typeface="Courier New"/>
                <a:ea typeface="Courier New"/>
                <a:cs typeface="Courier New"/>
                <a:sym typeface="Courier New"/>
              </a:rPr>
              <a:t>&gt;</a:t>
            </a:r>
            <a:endParaRPr sz="1050" dirty="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D4D4D4"/>
                </a:solidFill>
                <a:latin typeface="Courier New"/>
                <a:ea typeface="Courier New"/>
                <a:cs typeface="Courier New"/>
                <a:sym typeface="Courier New"/>
              </a:rPr>
              <a:t>        </a:t>
            </a:r>
            <a:r>
              <a:rPr lang="es" sz="1050" dirty="0">
                <a:solidFill>
                  <a:srgbClr val="569CD6"/>
                </a:solidFill>
                <a:latin typeface="Courier New"/>
                <a:ea typeface="Courier New"/>
                <a:cs typeface="Courier New"/>
                <a:sym typeface="Courier New"/>
              </a:rPr>
              <a:t>function</a:t>
            </a:r>
            <a:r>
              <a:rPr lang="es" sz="1050" dirty="0">
                <a:solidFill>
                  <a:srgbClr val="D4D4D4"/>
                </a:solidFill>
                <a:latin typeface="Courier New"/>
                <a:ea typeface="Courier New"/>
                <a:cs typeface="Courier New"/>
                <a:sym typeface="Courier New"/>
              </a:rPr>
              <a:t> </a:t>
            </a:r>
            <a:r>
              <a:rPr lang="es" sz="1050" dirty="0">
                <a:solidFill>
                  <a:srgbClr val="DCDCAA"/>
                </a:solidFill>
                <a:latin typeface="Courier New"/>
                <a:ea typeface="Courier New"/>
                <a:cs typeface="Courier New"/>
                <a:sym typeface="Courier New"/>
              </a:rPr>
              <a:t>nombreFuncion</a:t>
            </a:r>
            <a:r>
              <a:rPr lang="es" sz="1050" dirty="0">
                <a:solidFill>
                  <a:srgbClr val="D4D4D4"/>
                </a:solidFill>
                <a:latin typeface="Courier New"/>
                <a:ea typeface="Courier New"/>
                <a:cs typeface="Courier New"/>
                <a:sym typeface="Courier New"/>
              </a:rPr>
              <a:t> (</a:t>
            </a:r>
            <a:r>
              <a:rPr lang="es" sz="1050" dirty="0">
                <a:solidFill>
                  <a:srgbClr val="9CDCFE"/>
                </a:solidFill>
                <a:latin typeface="Courier New"/>
                <a:ea typeface="Courier New"/>
                <a:cs typeface="Courier New"/>
                <a:sym typeface="Courier New"/>
              </a:rPr>
              <a:t>parametro1</a:t>
            </a:r>
            <a:r>
              <a:rPr lang="es" sz="1050" dirty="0">
                <a:solidFill>
                  <a:srgbClr val="D4D4D4"/>
                </a:solidFill>
                <a:latin typeface="Courier New"/>
                <a:ea typeface="Courier New"/>
                <a:cs typeface="Courier New"/>
                <a:sym typeface="Courier New"/>
              </a:rPr>
              <a:t>, </a:t>
            </a:r>
            <a:r>
              <a:rPr lang="es" sz="1050" dirty="0">
                <a:solidFill>
                  <a:srgbClr val="9CDCFE"/>
                </a:solidFill>
                <a:latin typeface="Courier New"/>
                <a:ea typeface="Courier New"/>
                <a:cs typeface="Courier New"/>
                <a:sym typeface="Courier New"/>
              </a:rPr>
              <a:t>parametro2</a:t>
            </a:r>
            <a:r>
              <a:rPr lang="es" sz="1050" dirty="0">
                <a:solidFill>
                  <a:srgbClr val="D4D4D4"/>
                </a:solidFill>
                <a:latin typeface="Courier New"/>
                <a:ea typeface="Courier New"/>
                <a:cs typeface="Courier New"/>
                <a:sym typeface="Courier New"/>
              </a:rPr>
              <a:t>) {</a:t>
            </a:r>
            <a:endParaRPr sz="1050"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D4D4D4"/>
                </a:solidFill>
                <a:latin typeface="Courier New"/>
                <a:ea typeface="Courier New"/>
                <a:cs typeface="Courier New"/>
                <a:sym typeface="Courier New"/>
              </a:rPr>
              <a:t>          </a:t>
            </a:r>
            <a:r>
              <a:rPr lang="es" sz="1050" dirty="0">
                <a:solidFill>
                  <a:srgbClr val="6A9955"/>
                </a:solidFill>
                <a:latin typeface="Courier New"/>
                <a:ea typeface="Courier New"/>
                <a:cs typeface="Courier New"/>
                <a:sym typeface="Courier New"/>
              </a:rPr>
              <a:t>// código a ejecutar;</a:t>
            </a:r>
            <a:endParaRPr sz="1050" dirty="0">
              <a:solidFill>
                <a:srgbClr val="6A9955"/>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D4D4D4"/>
                </a:solidFill>
                <a:latin typeface="Courier New"/>
                <a:ea typeface="Courier New"/>
                <a:cs typeface="Courier New"/>
                <a:sym typeface="Courier New"/>
              </a:rPr>
              <a:t>          </a:t>
            </a:r>
            <a:r>
              <a:rPr lang="es" sz="1050" dirty="0">
                <a:solidFill>
                  <a:srgbClr val="569CD6"/>
                </a:solidFill>
                <a:latin typeface="Courier New"/>
                <a:ea typeface="Courier New"/>
                <a:cs typeface="Courier New"/>
                <a:sym typeface="Courier New"/>
              </a:rPr>
              <a:t>var</a:t>
            </a:r>
            <a:r>
              <a:rPr lang="es" sz="1050" dirty="0">
                <a:solidFill>
                  <a:srgbClr val="D4D4D4"/>
                </a:solidFill>
                <a:latin typeface="Courier New"/>
                <a:ea typeface="Courier New"/>
                <a:cs typeface="Courier New"/>
                <a:sym typeface="Courier New"/>
              </a:rPr>
              <a:t> </a:t>
            </a:r>
            <a:r>
              <a:rPr lang="es" sz="1050" dirty="0">
                <a:solidFill>
                  <a:srgbClr val="9CDCFE"/>
                </a:solidFill>
                <a:latin typeface="Courier New"/>
                <a:ea typeface="Courier New"/>
                <a:cs typeface="Courier New"/>
                <a:sym typeface="Courier New"/>
              </a:rPr>
              <a:t>suma</a:t>
            </a:r>
            <a:r>
              <a:rPr lang="es" sz="1050" dirty="0">
                <a:solidFill>
                  <a:srgbClr val="D4D4D4"/>
                </a:solidFill>
                <a:latin typeface="Courier New"/>
                <a:ea typeface="Courier New"/>
                <a:cs typeface="Courier New"/>
                <a:sym typeface="Courier New"/>
              </a:rPr>
              <a:t> = </a:t>
            </a:r>
            <a:r>
              <a:rPr lang="es" sz="1050" dirty="0">
                <a:solidFill>
                  <a:srgbClr val="9CDCFE"/>
                </a:solidFill>
                <a:latin typeface="Courier New"/>
                <a:ea typeface="Courier New"/>
                <a:cs typeface="Courier New"/>
                <a:sym typeface="Courier New"/>
              </a:rPr>
              <a:t>parametro1</a:t>
            </a:r>
            <a:r>
              <a:rPr lang="es" sz="1050" dirty="0">
                <a:solidFill>
                  <a:srgbClr val="D4D4D4"/>
                </a:solidFill>
                <a:latin typeface="Courier New"/>
                <a:ea typeface="Courier New"/>
                <a:cs typeface="Courier New"/>
                <a:sym typeface="Courier New"/>
              </a:rPr>
              <a:t> + </a:t>
            </a:r>
            <a:r>
              <a:rPr lang="es" sz="1050" dirty="0">
                <a:solidFill>
                  <a:srgbClr val="9CDCFE"/>
                </a:solidFill>
                <a:latin typeface="Courier New"/>
                <a:ea typeface="Courier New"/>
                <a:cs typeface="Courier New"/>
                <a:sym typeface="Courier New"/>
              </a:rPr>
              <a:t>parametro2</a:t>
            </a:r>
            <a:r>
              <a:rPr lang="es" sz="1050" dirty="0">
                <a:solidFill>
                  <a:srgbClr val="D4D4D4"/>
                </a:solidFill>
                <a:latin typeface="Courier New"/>
                <a:ea typeface="Courier New"/>
                <a:cs typeface="Courier New"/>
                <a:sym typeface="Courier New"/>
              </a:rPr>
              <a:t>;</a:t>
            </a:r>
            <a:endParaRPr sz="1050"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D4D4D4"/>
                </a:solidFill>
                <a:latin typeface="Courier New"/>
                <a:ea typeface="Courier New"/>
                <a:cs typeface="Courier New"/>
                <a:sym typeface="Courier New"/>
              </a:rPr>
              <a:t>          </a:t>
            </a:r>
            <a:r>
              <a:rPr lang="es" sz="1050" dirty="0">
                <a:solidFill>
                  <a:srgbClr val="DCDCAA"/>
                </a:solidFill>
                <a:latin typeface="Courier New"/>
                <a:ea typeface="Courier New"/>
                <a:cs typeface="Courier New"/>
                <a:sym typeface="Courier New"/>
              </a:rPr>
              <a:t>alert</a:t>
            </a:r>
            <a:r>
              <a:rPr lang="es" sz="1050" dirty="0">
                <a:solidFill>
                  <a:srgbClr val="D4D4D4"/>
                </a:solidFill>
                <a:latin typeface="Courier New"/>
                <a:ea typeface="Courier New"/>
                <a:cs typeface="Courier New"/>
                <a:sym typeface="Courier New"/>
              </a:rPr>
              <a:t> (</a:t>
            </a:r>
            <a:r>
              <a:rPr lang="es" sz="1050" dirty="0">
                <a:solidFill>
                  <a:srgbClr val="CE9178"/>
                </a:solidFill>
                <a:latin typeface="Courier New"/>
                <a:ea typeface="Courier New"/>
                <a:cs typeface="Courier New"/>
                <a:sym typeface="Courier New"/>
              </a:rPr>
              <a:t>" La suma es = "</a:t>
            </a:r>
            <a:r>
              <a:rPr lang="es" sz="1050" dirty="0">
                <a:solidFill>
                  <a:srgbClr val="D4D4D4"/>
                </a:solidFill>
                <a:latin typeface="Courier New"/>
                <a:ea typeface="Courier New"/>
                <a:cs typeface="Courier New"/>
                <a:sym typeface="Courier New"/>
              </a:rPr>
              <a:t> + </a:t>
            </a:r>
            <a:r>
              <a:rPr lang="es" sz="1050" dirty="0">
                <a:solidFill>
                  <a:srgbClr val="9CDCFE"/>
                </a:solidFill>
                <a:latin typeface="Courier New"/>
                <a:ea typeface="Courier New"/>
                <a:cs typeface="Courier New"/>
                <a:sym typeface="Courier New"/>
              </a:rPr>
              <a:t>suma</a:t>
            </a:r>
            <a:r>
              <a:rPr lang="es" sz="1050" dirty="0">
                <a:solidFill>
                  <a:srgbClr val="D4D4D4"/>
                </a:solidFill>
                <a:latin typeface="Courier New"/>
                <a:ea typeface="Courier New"/>
                <a:cs typeface="Courier New"/>
                <a:sym typeface="Courier New"/>
              </a:rPr>
              <a:t>);</a:t>
            </a:r>
            <a:endParaRPr sz="1050"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D4D4D4"/>
                </a:solidFill>
                <a:latin typeface="Courier New"/>
                <a:ea typeface="Courier New"/>
                <a:cs typeface="Courier New"/>
                <a:sym typeface="Courier New"/>
              </a:rPr>
              <a:t>        }</a:t>
            </a:r>
            <a:endParaRPr sz="1050"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D4D4D4"/>
                </a:solidFill>
                <a:latin typeface="Courier New"/>
                <a:ea typeface="Courier New"/>
                <a:cs typeface="Courier New"/>
                <a:sym typeface="Courier New"/>
              </a:rPr>
              <a:t>        </a:t>
            </a:r>
            <a:r>
              <a:rPr lang="es" sz="1050" dirty="0">
                <a:solidFill>
                  <a:srgbClr val="DCDCAA"/>
                </a:solidFill>
                <a:latin typeface="Courier New"/>
                <a:ea typeface="Courier New"/>
                <a:cs typeface="Courier New"/>
                <a:sym typeface="Courier New"/>
              </a:rPr>
              <a:t>nombreFuncion</a:t>
            </a:r>
            <a:r>
              <a:rPr lang="es" sz="1050" dirty="0">
                <a:solidFill>
                  <a:srgbClr val="D4D4D4"/>
                </a:solidFill>
                <a:latin typeface="Courier New"/>
                <a:ea typeface="Courier New"/>
                <a:cs typeface="Courier New"/>
                <a:sym typeface="Courier New"/>
              </a:rPr>
              <a:t>(</a:t>
            </a:r>
            <a:r>
              <a:rPr lang="es" sz="1050" dirty="0">
                <a:solidFill>
                  <a:srgbClr val="B5CEA8"/>
                </a:solidFill>
                <a:latin typeface="Courier New"/>
                <a:ea typeface="Courier New"/>
                <a:cs typeface="Courier New"/>
                <a:sym typeface="Courier New"/>
              </a:rPr>
              <a:t>5</a:t>
            </a:r>
            <a:r>
              <a:rPr lang="es" sz="1050" dirty="0">
                <a:solidFill>
                  <a:srgbClr val="D4D4D4"/>
                </a:solidFill>
                <a:latin typeface="Courier New"/>
                <a:ea typeface="Courier New"/>
                <a:cs typeface="Courier New"/>
                <a:sym typeface="Courier New"/>
              </a:rPr>
              <a:t>,</a:t>
            </a:r>
            <a:r>
              <a:rPr lang="es" sz="1050" dirty="0">
                <a:solidFill>
                  <a:srgbClr val="B5CEA8"/>
                </a:solidFill>
                <a:latin typeface="Courier New"/>
                <a:ea typeface="Courier New"/>
                <a:cs typeface="Courier New"/>
                <a:sym typeface="Courier New"/>
              </a:rPr>
              <a:t>10</a:t>
            </a:r>
            <a:r>
              <a:rPr lang="es" sz="1050" dirty="0">
                <a:solidFill>
                  <a:srgbClr val="D4D4D4"/>
                </a:solidFill>
                <a:latin typeface="Courier New"/>
                <a:ea typeface="Courier New"/>
                <a:cs typeface="Courier New"/>
                <a:sym typeface="Courier New"/>
              </a:rPr>
              <a:t>);</a:t>
            </a:r>
            <a:endParaRPr sz="1050"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D4D4D4"/>
                </a:solidFill>
                <a:latin typeface="Courier New"/>
                <a:ea typeface="Courier New"/>
                <a:cs typeface="Courier New"/>
                <a:sym typeface="Courier New"/>
              </a:rPr>
              <a:t>	  </a:t>
            </a:r>
            <a:r>
              <a:rPr lang="es" sz="1050" dirty="0">
                <a:solidFill>
                  <a:srgbClr val="DCDCAA"/>
                </a:solidFill>
                <a:latin typeface="Courier New"/>
                <a:ea typeface="Courier New"/>
                <a:cs typeface="Courier New"/>
                <a:sym typeface="Courier New"/>
              </a:rPr>
              <a:t>alert(nombreFuncion)</a:t>
            </a:r>
            <a:r>
              <a:rPr lang="es" sz="1050" dirty="0">
                <a:solidFill>
                  <a:srgbClr val="D4D4D4"/>
                </a:solidFill>
                <a:latin typeface="Courier New"/>
                <a:ea typeface="Courier New"/>
                <a:cs typeface="Courier New"/>
                <a:sym typeface="Courier New"/>
              </a:rPr>
              <a:t>; </a:t>
            </a:r>
            <a:r>
              <a:rPr lang="es" sz="1050" dirty="0">
                <a:solidFill>
                  <a:srgbClr val="6A9955"/>
                </a:solidFill>
                <a:latin typeface="Courier New"/>
                <a:ea typeface="Courier New"/>
                <a:cs typeface="Courier New"/>
                <a:sym typeface="Courier New"/>
              </a:rPr>
              <a:t>// Devuelve expresión</a:t>
            </a:r>
            <a:endParaRPr sz="1050"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D4D4D4"/>
                </a:solidFill>
                <a:latin typeface="Courier New"/>
                <a:ea typeface="Courier New"/>
                <a:cs typeface="Courier New"/>
                <a:sym typeface="Courier New"/>
              </a:rPr>
              <a:t>        </a:t>
            </a: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script</a:t>
            </a:r>
            <a:r>
              <a:rPr lang="es" sz="1050" dirty="0">
                <a:solidFill>
                  <a:srgbClr val="808080"/>
                </a:solidFill>
                <a:latin typeface="Courier New"/>
                <a:ea typeface="Courier New"/>
                <a:cs typeface="Courier New"/>
                <a:sym typeface="Courier New"/>
              </a:rPr>
              <a:t>&gt;</a:t>
            </a:r>
            <a:endParaRPr sz="1050" dirty="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head</a:t>
            </a:r>
            <a:r>
              <a:rPr lang="es" sz="1050" dirty="0">
                <a:solidFill>
                  <a:srgbClr val="808080"/>
                </a:solidFill>
                <a:latin typeface="Courier New"/>
                <a:ea typeface="Courier New"/>
                <a:cs typeface="Courier New"/>
                <a:sym typeface="Courier New"/>
              </a:rPr>
              <a:t>&gt;</a:t>
            </a:r>
            <a:endParaRPr sz="1050" dirty="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body</a:t>
            </a:r>
            <a:r>
              <a:rPr lang="es" sz="1050" dirty="0">
                <a:solidFill>
                  <a:srgbClr val="808080"/>
                </a:solidFill>
                <a:latin typeface="Courier New"/>
                <a:ea typeface="Courier New"/>
                <a:cs typeface="Courier New"/>
                <a:sym typeface="Courier New"/>
              </a:rPr>
              <a:t>&gt;</a:t>
            </a:r>
            <a:endParaRPr sz="1050"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button</a:t>
            </a:r>
            <a:r>
              <a:rPr lang="es" sz="1050" dirty="0">
                <a:solidFill>
                  <a:srgbClr val="D4D4D4"/>
                </a:solidFill>
                <a:latin typeface="Courier New"/>
                <a:ea typeface="Courier New"/>
                <a:cs typeface="Courier New"/>
                <a:sym typeface="Courier New"/>
              </a:rPr>
              <a:t> </a:t>
            </a:r>
            <a:r>
              <a:rPr lang="es" sz="1050" dirty="0">
                <a:solidFill>
                  <a:srgbClr val="9CDCFE"/>
                </a:solidFill>
                <a:latin typeface="Courier New"/>
                <a:ea typeface="Courier New"/>
                <a:cs typeface="Courier New"/>
                <a:sym typeface="Courier New"/>
              </a:rPr>
              <a:t>onclick</a:t>
            </a:r>
            <a:r>
              <a:rPr lang="es" sz="1050" dirty="0">
                <a:solidFill>
                  <a:srgbClr val="D4D4D4"/>
                </a:solidFill>
                <a:latin typeface="Courier New"/>
                <a:ea typeface="Courier New"/>
                <a:cs typeface="Courier New"/>
                <a:sym typeface="Courier New"/>
              </a:rPr>
              <a:t>=</a:t>
            </a:r>
            <a:r>
              <a:rPr lang="es" sz="1050" dirty="0">
                <a:solidFill>
                  <a:srgbClr val="CE9178"/>
                </a:solidFill>
                <a:latin typeface="Courier New"/>
                <a:ea typeface="Courier New"/>
                <a:cs typeface="Courier New"/>
                <a:sym typeface="Courier New"/>
              </a:rPr>
              <a:t>"</a:t>
            </a:r>
            <a:r>
              <a:rPr lang="es" sz="1050" dirty="0">
                <a:solidFill>
                  <a:srgbClr val="DCDCAA"/>
                </a:solidFill>
                <a:latin typeface="Courier New"/>
                <a:ea typeface="Courier New"/>
                <a:cs typeface="Courier New"/>
                <a:sym typeface="Courier New"/>
              </a:rPr>
              <a:t>nombreFuncion</a:t>
            </a:r>
            <a:r>
              <a:rPr lang="es" sz="1050" dirty="0">
                <a:solidFill>
                  <a:srgbClr val="CE9178"/>
                </a:solidFill>
                <a:latin typeface="Courier New"/>
                <a:ea typeface="Courier New"/>
                <a:cs typeface="Courier New"/>
                <a:sym typeface="Courier New"/>
              </a:rPr>
              <a:t>(</a:t>
            </a:r>
            <a:r>
              <a:rPr lang="es" sz="1050" dirty="0">
                <a:solidFill>
                  <a:srgbClr val="B5CEA8"/>
                </a:solidFill>
                <a:latin typeface="Courier New"/>
                <a:ea typeface="Courier New"/>
                <a:cs typeface="Courier New"/>
                <a:sym typeface="Courier New"/>
              </a:rPr>
              <a:t>3</a:t>
            </a:r>
            <a:r>
              <a:rPr lang="es" sz="1050" dirty="0">
                <a:solidFill>
                  <a:srgbClr val="CE9178"/>
                </a:solidFill>
                <a:latin typeface="Courier New"/>
                <a:ea typeface="Courier New"/>
                <a:cs typeface="Courier New"/>
                <a:sym typeface="Courier New"/>
              </a:rPr>
              <a:t>,</a:t>
            </a:r>
            <a:r>
              <a:rPr lang="es" sz="1050" dirty="0">
                <a:solidFill>
                  <a:srgbClr val="B5CEA8"/>
                </a:solidFill>
                <a:latin typeface="Courier New"/>
                <a:ea typeface="Courier New"/>
                <a:cs typeface="Courier New"/>
                <a:sym typeface="Courier New"/>
              </a:rPr>
              <a:t>4</a:t>
            </a:r>
            <a:r>
              <a:rPr lang="es" sz="1050" dirty="0">
                <a:solidFill>
                  <a:srgbClr val="CE9178"/>
                </a:solidFill>
                <a:latin typeface="Courier New"/>
                <a:ea typeface="Courier New"/>
                <a:cs typeface="Courier New"/>
                <a:sym typeface="Courier New"/>
              </a:rPr>
              <a:t>)"</a:t>
            </a:r>
            <a:r>
              <a:rPr lang="es" sz="1050" dirty="0">
                <a:solidFill>
                  <a:srgbClr val="808080"/>
                </a:solidFill>
                <a:latin typeface="Courier New"/>
                <a:ea typeface="Courier New"/>
                <a:cs typeface="Courier New"/>
                <a:sym typeface="Courier New"/>
              </a:rPr>
              <a:t>&gt;</a:t>
            </a:r>
            <a:r>
              <a:rPr lang="es" sz="1050" dirty="0">
                <a:solidFill>
                  <a:srgbClr val="D4D4D4"/>
                </a:solidFill>
                <a:latin typeface="Courier New"/>
                <a:ea typeface="Courier New"/>
                <a:cs typeface="Courier New"/>
                <a:sym typeface="Courier New"/>
              </a:rPr>
              <a:t>Click</a:t>
            </a: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button</a:t>
            </a:r>
            <a:r>
              <a:rPr lang="es" sz="1050" dirty="0">
                <a:solidFill>
                  <a:srgbClr val="808080"/>
                </a:solidFill>
                <a:latin typeface="Courier New"/>
                <a:ea typeface="Courier New"/>
                <a:cs typeface="Courier New"/>
                <a:sym typeface="Courier New"/>
              </a:rPr>
              <a:t>&gt;</a:t>
            </a:r>
            <a:endParaRPr sz="1050" dirty="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endParaRPr sz="1050"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body</a:t>
            </a:r>
            <a:r>
              <a:rPr lang="es" sz="1050" dirty="0">
                <a:solidFill>
                  <a:srgbClr val="808080"/>
                </a:solidFill>
                <a:latin typeface="Courier New"/>
                <a:ea typeface="Courier New"/>
                <a:cs typeface="Courier New"/>
                <a:sym typeface="Courier New"/>
              </a:rPr>
              <a:t>&gt;</a:t>
            </a:r>
            <a:endParaRPr sz="1050" dirty="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html</a:t>
            </a:r>
            <a:r>
              <a:rPr lang="es" sz="1050" dirty="0">
                <a:solidFill>
                  <a:srgbClr val="808080"/>
                </a:solidFill>
                <a:latin typeface="Courier New"/>
                <a:ea typeface="Courier New"/>
                <a:cs typeface="Courier New"/>
                <a:sym typeface="Courier New"/>
              </a:rPr>
              <a:t>&gt;</a:t>
            </a:r>
            <a:endParaRPr sz="1050" dirty="0">
              <a:solidFill>
                <a:srgbClr val="808080"/>
              </a:solidFill>
              <a:latin typeface="Courier New"/>
              <a:ea typeface="Courier New"/>
              <a:cs typeface="Courier New"/>
              <a:sym typeface="Courier New"/>
            </a:endParaRPr>
          </a:p>
          <a:p>
            <a:pPr marL="0" lvl="0" indent="0" algn="l" rtl="0">
              <a:spcBef>
                <a:spcPts val="0"/>
              </a:spcBef>
              <a:spcAft>
                <a:spcPts val="0"/>
              </a:spcAft>
              <a:buNone/>
            </a:pPr>
            <a:endParaRPr dirty="0">
              <a:latin typeface="Roboto"/>
              <a:ea typeface="Roboto"/>
              <a:cs typeface="Roboto"/>
              <a:sym typeface="Roboto"/>
            </a:endParaRPr>
          </a:p>
        </p:txBody>
      </p:sp>
      <p:sp>
        <p:nvSpPr>
          <p:cNvPr id="109" name="Google Shape;109;p16"/>
          <p:cNvSpPr txBox="1"/>
          <p:nvPr/>
        </p:nvSpPr>
        <p:spPr>
          <a:xfrm>
            <a:off x="460775" y="960400"/>
            <a:ext cx="2911200" cy="250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a:latin typeface="Roboto"/>
                <a:ea typeface="Roboto"/>
                <a:cs typeface="Roboto"/>
                <a:sym typeface="Roboto"/>
              </a:rPr>
              <a:t>La primera llamada a la función se da cuando se ejecuta el script, posteriormente podemos invocarla de nuevo pulsando el botón.</a:t>
            </a: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r>
              <a:rPr lang="es" dirty="0">
                <a:latin typeface="Roboto"/>
                <a:ea typeface="Roboto"/>
                <a:cs typeface="Roboto"/>
                <a:sym typeface="Roboto"/>
              </a:rPr>
              <a:t>Si invocamos una función sin los paréntesis nos devuelve la expresión de la función.</a:t>
            </a:r>
            <a:endParaRPr dirty="0">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body" idx="4294967295"/>
          </p:nvPr>
        </p:nvSpPr>
        <p:spPr>
          <a:xfrm>
            <a:off x="0" y="268288"/>
            <a:ext cx="8521700" cy="4300537"/>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s"/>
              <a:t>Podemos hacer que la función retorne un valor para asignarlo a una variable (p.e.) mediante  la palabra clave </a:t>
            </a:r>
            <a:r>
              <a:rPr lang="es" b="1">
                <a:solidFill>
                  <a:srgbClr val="4A86E8"/>
                </a:solidFill>
              </a:rPr>
              <a:t>return . </a:t>
            </a:r>
            <a:r>
              <a:rPr lang="es"/>
              <a:t>Al usar </a:t>
            </a:r>
            <a:r>
              <a:rPr lang="es" b="1"/>
              <a:t>return</a:t>
            </a:r>
            <a:r>
              <a:rPr lang="es"/>
              <a:t> se saldrá de dicha función.</a:t>
            </a:r>
            <a:endParaRPr>
              <a:solidFill>
                <a:srgbClr val="4A86E8"/>
              </a:solidFill>
            </a:endParaRPr>
          </a:p>
        </p:txBody>
      </p:sp>
      <p:sp>
        <p:nvSpPr>
          <p:cNvPr id="115" name="Google Shape;115;p17"/>
          <p:cNvSpPr txBox="1"/>
          <p:nvPr/>
        </p:nvSpPr>
        <p:spPr>
          <a:xfrm>
            <a:off x="1351725" y="1061000"/>
            <a:ext cx="5250900" cy="3623400"/>
          </a:xfrm>
          <a:prstGeom prst="rect">
            <a:avLst/>
          </a:prstGeom>
          <a:solidFill>
            <a:srgbClr val="434343"/>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DOCTYPE</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html</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html</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head</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script</a:t>
            </a:r>
            <a:r>
              <a:rPr lang="es" sz="1050">
                <a:solidFill>
                  <a:srgbClr val="808080"/>
                </a:solidFill>
                <a:latin typeface="Courier New"/>
                <a:ea typeface="Courier New"/>
                <a:cs typeface="Courier New"/>
                <a:sym typeface="Courier New"/>
              </a:rPr>
              <a:t>&gt;</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569CD6"/>
                </a:solidFill>
                <a:latin typeface="Courier New"/>
                <a:ea typeface="Courier New"/>
                <a:cs typeface="Courier New"/>
                <a:sym typeface="Courier New"/>
              </a:rPr>
              <a:t>function</a:t>
            </a: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nombreFuncion</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parametro1</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parametro2</a:t>
            </a: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6A9955"/>
                </a:solidFill>
                <a:latin typeface="Courier New"/>
                <a:ea typeface="Courier New"/>
                <a:cs typeface="Courier New"/>
                <a:sym typeface="Courier New"/>
              </a:rPr>
              <a:t>// código a ejecutar;</a:t>
            </a:r>
            <a:endParaRPr sz="1050">
              <a:solidFill>
                <a:srgbClr val="6A9955"/>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569CD6"/>
                </a:solidFill>
                <a:latin typeface="Courier New"/>
                <a:ea typeface="Courier New"/>
                <a:cs typeface="Courier New"/>
                <a:sym typeface="Courier New"/>
              </a:rPr>
              <a:t>var</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suma</a:t>
            </a:r>
            <a:r>
              <a:rPr lang="es" sz="1050">
                <a:solidFill>
                  <a:srgbClr val="D4D4D4"/>
                </a:solidFill>
                <a:latin typeface="Courier New"/>
                <a:ea typeface="Courier New"/>
                <a:cs typeface="Courier New"/>
                <a:sym typeface="Courier New"/>
              </a:rPr>
              <a:t> = </a:t>
            </a:r>
            <a:r>
              <a:rPr lang="es" sz="1050">
                <a:solidFill>
                  <a:srgbClr val="9CDCFE"/>
                </a:solidFill>
                <a:latin typeface="Courier New"/>
                <a:ea typeface="Courier New"/>
                <a:cs typeface="Courier New"/>
                <a:sym typeface="Courier New"/>
              </a:rPr>
              <a:t>parametro1</a:t>
            </a:r>
            <a:r>
              <a:rPr lang="es" sz="1050">
                <a:solidFill>
                  <a:srgbClr val="D4D4D4"/>
                </a:solidFill>
                <a:latin typeface="Courier New"/>
                <a:ea typeface="Courier New"/>
                <a:cs typeface="Courier New"/>
                <a:sym typeface="Courier New"/>
              </a:rPr>
              <a:t> + </a:t>
            </a:r>
            <a:r>
              <a:rPr lang="es" sz="1050">
                <a:solidFill>
                  <a:srgbClr val="9CDCFE"/>
                </a:solidFill>
                <a:latin typeface="Courier New"/>
                <a:ea typeface="Courier New"/>
                <a:cs typeface="Courier New"/>
                <a:sym typeface="Courier New"/>
              </a:rPr>
              <a:t>parametro2</a:t>
            </a: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C586C0"/>
                </a:solidFill>
                <a:latin typeface="Courier New"/>
                <a:ea typeface="Courier New"/>
                <a:cs typeface="Courier New"/>
                <a:sym typeface="Courier New"/>
              </a:rPr>
              <a:t>return</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suma</a:t>
            </a: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569CD6"/>
                </a:solidFill>
                <a:latin typeface="Courier New"/>
                <a:ea typeface="Courier New"/>
                <a:cs typeface="Courier New"/>
                <a:sym typeface="Courier New"/>
              </a:rPr>
              <a:t>var</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x </a:t>
            </a: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nombreFuncion</a:t>
            </a:r>
            <a:r>
              <a:rPr lang="es" sz="1050">
                <a:solidFill>
                  <a:srgbClr val="D4D4D4"/>
                </a:solidFill>
                <a:latin typeface="Courier New"/>
                <a:ea typeface="Courier New"/>
                <a:cs typeface="Courier New"/>
                <a:sym typeface="Courier New"/>
              </a:rPr>
              <a:t>(</a:t>
            </a:r>
            <a:r>
              <a:rPr lang="es" sz="1050">
                <a:solidFill>
                  <a:srgbClr val="B5CEA8"/>
                </a:solidFill>
                <a:latin typeface="Courier New"/>
                <a:ea typeface="Courier New"/>
                <a:cs typeface="Courier New"/>
                <a:sym typeface="Courier New"/>
              </a:rPr>
              <a:t>5</a:t>
            </a:r>
            <a:r>
              <a:rPr lang="es" sz="1050">
                <a:solidFill>
                  <a:srgbClr val="D4D4D4"/>
                </a:solidFill>
                <a:latin typeface="Courier New"/>
                <a:ea typeface="Courier New"/>
                <a:cs typeface="Courier New"/>
                <a:sym typeface="Courier New"/>
              </a:rPr>
              <a:t>,</a:t>
            </a:r>
            <a:r>
              <a:rPr lang="es" sz="1050">
                <a:solidFill>
                  <a:srgbClr val="B5CEA8"/>
                </a:solidFill>
                <a:latin typeface="Courier New"/>
                <a:ea typeface="Courier New"/>
                <a:cs typeface="Courier New"/>
                <a:sym typeface="Courier New"/>
              </a:rPr>
              <a:t>10</a:t>
            </a: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alert</a:t>
            </a:r>
            <a:r>
              <a:rPr lang="es" sz="1050">
                <a:solidFill>
                  <a:srgbClr val="D4D4D4"/>
                </a:solidFill>
                <a:latin typeface="Courier New"/>
                <a:ea typeface="Courier New"/>
                <a:cs typeface="Courier New"/>
                <a:sym typeface="Courier New"/>
              </a:rPr>
              <a:t> (</a:t>
            </a:r>
            <a:r>
              <a:rPr lang="es" sz="1050">
                <a:solidFill>
                  <a:srgbClr val="CE9178"/>
                </a:solidFill>
                <a:latin typeface="Courier New"/>
                <a:ea typeface="Courier New"/>
                <a:cs typeface="Courier New"/>
                <a:sym typeface="Courier New"/>
              </a:rPr>
              <a:t>"Suma ="</a:t>
            </a:r>
            <a:r>
              <a:rPr lang="es" sz="1050">
                <a:solidFill>
                  <a:srgbClr val="D4D4D4"/>
                </a:solidFill>
                <a:latin typeface="Courier New"/>
                <a:ea typeface="Courier New"/>
                <a:cs typeface="Courier New"/>
                <a:sym typeface="Courier New"/>
              </a:rPr>
              <a:t> + </a:t>
            </a:r>
            <a:r>
              <a:rPr lang="es" sz="1050">
                <a:solidFill>
                  <a:srgbClr val="9CDCFE"/>
                </a:solidFill>
                <a:latin typeface="Courier New"/>
                <a:ea typeface="Courier New"/>
                <a:cs typeface="Courier New"/>
                <a:sym typeface="Courier New"/>
              </a:rPr>
              <a:t>x</a:t>
            </a: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script</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head</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body</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body</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html</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endParaRPr sz="1050">
              <a:solidFill>
                <a:srgbClr val="808080"/>
              </a:solidFill>
              <a:latin typeface="Courier New"/>
              <a:ea typeface="Courier New"/>
              <a:cs typeface="Courier New"/>
              <a:sym typeface="Courier New"/>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8"/>
          <p:cNvSpPr txBox="1">
            <a:spLocks noGrp="1"/>
          </p:cNvSpPr>
          <p:nvPr>
            <p:ph type="title" idx="4294967295"/>
          </p:nvPr>
        </p:nvSpPr>
        <p:spPr>
          <a:xfrm>
            <a:off x="0" y="3333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2000"/>
              <a:t>Definición de función como una expresión.</a:t>
            </a:r>
            <a:endParaRPr sz="2000"/>
          </a:p>
        </p:txBody>
      </p:sp>
      <p:sp>
        <p:nvSpPr>
          <p:cNvPr id="121" name="Google Shape;121;p18"/>
          <p:cNvSpPr txBox="1">
            <a:spLocks noGrp="1"/>
          </p:cNvSpPr>
          <p:nvPr>
            <p:ph type="body" idx="4294967295"/>
          </p:nvPr>
        </p:nvSpPr>
        <p:spPr>
          <a:xfrm>
            <a:off x="0" y="849313"/>
            <a:ext cx="8521700" cy="7143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500"/>
              <a:t>Se puede definir una función e igualarla a una variable.</a:t>
            </a:r>
            <a:endParaRPr sz="1500"/>
          </a:p>
          <a:p>
            <a:pPr marL="0" lvl="0" indent="0" algn="l" rtl="0">
              <a:spcBef>
                <a:spcPts val="1600"/>
              </a:spcBef>
              <a:spcAft>
                <a:spcPts val="0"/>
              </a:spcAft>
              <a:buNone/>
            </a:pPr>
            <a:endParaRPr sz="1500" b="1"/>
          </a:p>
          <a:p>
            <a:pPr marL="0" lvl="0" indent="0" algn="l" rtl="0">
              <a:spcBef>
                <a:spcPts val="1600"/>
              </a:spcBef>
              <a:spcAft>
                <a:spcPts val="0"/>
              </a:spcAft>
              <a:buNone/>
            </a:pPr>
            <a:endParaRPr sz="1500" b="1"/>
          </a:p>
          <a:p>
            <a:pPr marL="0" lvl="0" indent="0" algn="l" rtl="0">
              <a:spcBef>
                <a:spcPts val="1600"/>
              </a:spcBef>
              <a:spcAft>
                <a:spcPts val="1600"/>
              </a:spcAft>
              <a:buNone/>
            </a:pPr>
            <a:r>
              <a:rPr lang="es" sz="1500" b="1"/>
              <a:t>  </a:t>
            </a:r>
            <a:endParaRPr sz="1500" b="1"/>
          </a:p>
        </p:txBody>
      </p:sp>
      <p:sp>
        <p:nvSpPr>
          <p:cNvPr id="123" name="Google Shape;123;p18"/>
          <p:cNvSpPr txBox="1">
            <a:spLocks noGrp="1"/>
          </p:cNvSpPr>
          <p:nvPr>
            <p:ph type="title" idx="4294967295"/>
          </p:nvPr>
        </p:nvSpPr>
        <p:spPr>
          <a:xfrm>
            <a:off x="0" y="31527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2000"/>
              <a:t>Función autoinvocada.</a:t>
            </a:r>
            <a:endParaRPr sz="2000"/>
          </a:p>
        </p:txBody>
      </p:sp>
      <p:sp>
        <p:nvSpPr>
          <p:cNvPr id="124" name="Google Shape;124;p18"/>
          <p:cNvSpPr txBox="1">
            <a:spLocks noGrp="1"/>
          </p:cNvSpPr>
          <p:nvPr>
            <p:ph type="body" idx="4294967295"/>
          </p:nvPr>
        </p:nvSpPr>
        <p:spPr>
          <a:xfrm>
            <a:off x="0" y="3592513"/>
            <a:ext cx="3867150" cy="7143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500"/>
              <a:t>Podemos hacer que una función sea autoinvocada.</a:t>
            </a:r>
            <a:endParaRPr sz="1500"/>
          </a:p>
          <a:p>
            <a:pPr marL="0" lvl="0" indent="0" algn="l" rtl="0">
              <a:spcBef>
                <a:spcPts val="1600"/>
              </a:spcBef>
              <a:spcAft>
                <a:spcPts val="0"/>
              </a:spcAft>
              <a:buNone/>
            </a:pPr>
            <a:endParaRPr sz="1500" b="1"/>
          </a:p>
          <a:p>
            <a:pPr marL="0" lvl="0" indent="0" algn="l" rtl="0">
              <a:spcBef>
                <a:spcPts val="1600"/>
              </a:spcBef>
              <a:spcAft>
                <a:spcPts val="0"/>
              </a:spcAft>
              <a:buNone/>
            </a:pPr>
            <a:endParaRPr sz="1500" b="1"/>
          </a:p>
          <a:p>
            <a:pPr marL="0" lvl="0" indent="0" algn="l" rtl="0">
              <a:spcBef>
                <a:spcPts val="1600"/>
              </a:spcBef>
              <a:spcAft>
                <a:spcPts val="1600"/>
              </a:spcAft>
              <a:buNone/>
            </a:pPr>
            <a:r>
              <a:rPr lang="es" sz="1500" b="1"/>
              <a:t>  </a:t>
            </a:r>
            <a:endParaRPr sz="1500" b="1"/>
          </a:p>
        </p:txBody>
      </p:sp>
      <p:sp>
        <p:nvSpPr>
          <p:cNvPr id="122" name="Google Shape;122;p18"/>
          <p:cNvSpPr txBox="1"/>
          <p:nvPr/>
        </p:nvSpPr>
        <p:spPr>
          <a:xfrm>
            <a:off x="731375" y="1331050"/>
            <a:ext cx="5890800" cy="1813500"/>
          </a:xfrm>
          <a:prstGeom prst="rect">
            <a:avLst/>
          </a:prstGeom>
          <a:solidFill>
            <a:srgbClr val="434343"/>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050">
                <a:solidFill>
                  <a:srgbClr val="569CD6"/>
                </a:solidFill>
                <a:latin typeface="Courier New"/>
                <a:ea typeface="Courier New"/>
                <a:cs typeface="Courier New"/>
                <a:sym typeface="Courier New"/>
              </a:rPr>
              <a:t>var</a:t>
            </a: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producto</a:t>
            </a:r>
            <a:r>
              <a:rPr lang="es" sz="1050">
                <a:solidFill>
                  <a:srgbClr val="D4D4D4"/>
                </a:solidFill>
                <a:latin typeface="Courier New"/>
                <a:ea typeface="Courier New"/>
                <a:cs typeface="Courier New"/>
                <a:sym typeface="Courier New"/>
              </a:rPr>
              <a:t> = </a:t>
            </a:r>
            <a:r>
              <a:rPr lang="es" sz="1050">
                <a:solidFill>
                  <a:srgbClr val="569CD6"/>
                </a:solidFill>
                <a:latin typeface="Courier New"/>
                <a:ea typeface="Courier New"/>
                <a:cs typeface="Courier New"/>
                <a:sym typeface="Courier New"/>
              </a:rPr>
              <a:t>function</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a</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b</a:t>
            </a:r>
            <a:r>
              <a:rPr lang="es" sz="1050">
                <a:solidFill>
                  <a:srgbClr val="D4D4D4"/>
                </a:solidFill>
                <a:latin typeface="Courier New"/>
                <a:ea typeface="Courier New"/>
                <a:cs typeface="Courier New"/>
                <a:sym typeface="Courier New"/>
              </a:rPr>
              <a:t>) {</a:t>
            </a:r>
            <a:r>
              <a:rPr lang="es" sz="1050">
                <a:solidFill>
                  <a:srgbClr val="C586C0"/>
                </a:solidFill>
                <a:latin typeface="Courier New"/>
                <a:ea typeface="Courier New"/>
                <a:cs typeface="Courier New"/>
                <a:sym typeface="Courier New"/>
              </a:rPr>
              <a:t>return</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a</a:t>
            </a:r>
            <a:r>
              <a:rPr lang="es" sz="1050">
                <a:solidFill>
                  <a:srgbClr val="D4D4D4"/>
                </a:solidFill>
                <a:latin typeface="Courier New"/>
                <a:ea typeface="Courier New"/>
                <a:cs typeface="Courier New"/>
                <a:sym typeface="Courier New"/>
              </a:rPr>
              <a:t> * </a:t>
            </a:r>
            <a:r>
              <a:rPr lang="es" sz="1050">
                <a:solidFill>
                  <a:srgbClr val="9CDCFE"/>
                </a:solidFill>
                <a:latin typeface="Courier New"/>
                <a:ea typeface="Courier New"/>
                <a:cs typeface="Courier New"/>
                <a:sym typeface="Courier New"/>
              </a:rPr>
              <a:t>b</a:t>
            </a: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Si imprimimos “</a:t>
            </a:r>
            <a:r>
              <a:rPr lang="es" sz="1050">
                <a:solidFill>
                  <a:srgbClr val="DCDCAA"/>
                </a:solidFill>
                <a:latin typeface="Courier New"/>
                <a:ea typeface="Courier New"/>
                <a:cs typeface="Courier New"/>
                <a:sym typeface="Courier New"/>
              </a:rPr>
              <a:t>producto</a:t>
            </a:r>
            <a:r>
              <a:rPr lang="es" sz="1050">
                <a:solidFill>
                  <a:srgbClr val="D4D4D4"/>
                </a:solidFill>
                <a:latin typeface="Courier New"/>
                <a:ea typeface="Courier New"/>
                <a:cs typeface="Courier New"/>
                <a:sym typeface="Courier New"/>
              </a:rPr>
              <a:t>” devuelve la definición de la función no el resultado.</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Si queremos usar la función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CDCAA"/>
                </a:solidFill>
                <a:latin typeface="Courier New"/>
                <a:ea typeface="Courier New"/>
                <a:cs typeface="Courier New"/>
                <a:sym typeface="Courier New"/>
              </a:rPr>
              <a:t>alert</a:t>
            </a:r>
            <a:r>
              <a:rPr lang="es" sz="1050">
                <a:solidFill>
                  <a:srgbClr val="D4D4D4"/>
                </a:solidFill>
                <a:latin typeface="Courier New"/>
                <a:ea typeface="Courier New"/>
                <a:cs typeface="Courier New"/>
                <a:sym typeface="Courier New"/>
              </a:rPr>
              <a:t> (</a:t>
            </a:r>
            <a:r>
              <a:rPr lang="es" sz="1050">
                <a:solidFill>
                  <a:srgbClr val="CE9178"/>
                </a:solidFill>
                <a:latin typeface="Courier New"/>
                <a:ea typeface="Courier New"/>
                <a:cs typeface="Courier New"/>
                <a:sym typeface="Courier New"/>
              </a:rPr>
              <a:t>"El producto es  ="</a:t>
            </a:r>
            <a:r>
              <a:rPr lang="es" sz="1050">
                <a:solidFill>
                  <a:srgbClr val="D4D4D4"/>
                </a:solidFill>
                <a:latin typeface="Courier New"/>
                <a:ea typeface="Courier New"/>
                <a:cs typeface="Courier New"/>
                <a:sym typeface="Courier New"/>
              </a:rPr>
              <a:t> + </a:t>
            </a:r>
            <a:r>
              <a:rPr lang="es" sz="1050">
                <a:solidFill>
                  <a:srgbClr val="DCDCAA"/>
                </a:solidFill>
                <a:latin typeface="Courier New"/>
                <a:ea typeface="Courier New"/>
                <a:cs typeface="Courier New"/>
                <a:sym typeface="Courier New"/>
              </a:rPr>
              <a:t>producto</a:t>
            </a:r>
            <a:r>
              <a:rPr lang="es" sz="1050">
                <a:solidFill>
                  <a:srgbClr val="D4D4D4"/>
                </a:solidFill>
                <a:latin typeface="Courier New"/>
                <a:ea typeface="Courier New"/>
                <a:cs typeface="Courier New"/>
                <a:sym typeface="Courier New"/>
              </a:rPr>
              <a:t> (</a:t>
            </a:r>
            <a:r>
              <a:rPr lang="es" sz="1050">
                <a:solidFill>
                  <a:srgbClr val="B5CEA8"/>
                </a:solidFill>
                <a:latin typeface="Courier New"/>
                <a:ea typeface="Courier New"/>
                <a:cs typeface="Courier New"/>
                <a:sym typeface="Courier New"/>
              </a:rPr>
              <a:t>2</a:t>
            </a:r>
            <a:r>
              <a:rPr lang="es" sz="1050">
                <a:solidFill>
                  <a:srgbClr val="D4D4D4"/>
                </a:solidFill>
                <a:latin typeface="Courier New"/>
                <a:ea typeface="Courier New"/>
                <a:cs typeface="Courier New"/>
                <a:sym typeface="Courier New"/>
              </a:rPr>
              <a:t>,</a:t>
            </a:r>
            <a:r>
              <a:rPr lang="es" sz="1050">
                <a:solidFill>
                  <a:srgbClr val="B5CEA8"/>
                </a:solidFill>
                <a:latin typeface="Courier New"/>
                <a:ea typeface="Courier New"/>
                <a:cs typeface="Courier New"/>
                <a:sym typeface="Courier New"/>
              </a:rPr>
              <a:t>4</a:t>
            </a: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endParaRPr sz="1050">
              <a:solidFill>
                <a:srgbClr val="D4D4D4"/>
              </a:solidFill>
              <a:latin typeface="Courier New"/>
              <a:ea typeface="Courier New"/>
              <a:cs typeface="Courier New"/>
              <a:sym typeface="Courier New"/>
            </a:endParaRPr>
          </a:p>
        </p:txBody>
      </p:sp>
      <p:sp>
        <p:nvSpPr>
          <p:cNvPr id="125" name="Google Shape;125;p18"/>
          <p:cNvSpPr txBox="1"/>
          <p:nvPr/>
        </p:nvSpPr>
        <p:spPr>
          <a:xfrm>
            <a:off x="3950825" y="3324150"/>
            <a:ext cx="2629500" cy="1089600"/>
          </a:xfrm>
          <a:prstGeom prst="rect">
            <a:avLst/>
          </a:prstGeom>
          <a:solidFill>
            <a:srgbClr val="434343"/>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569CD6"/>
                </a:solidFill>
                <a:latin typeface="Courier New"/>
                <a:ea typeface="Courier New"/>
                <a:cs typeface="Courier New"/>
                <a:sym typeface="Courier New"/>
              </a:rPr>
              <a:t>function</a:t>
            </a:r>
            <a:r>
              <a:rPr lang="es" sz="1050">
                <a:solidFill>
                  <a:srgbClr val="D4D4D4"/>
                </a:solidFill>
                <a:latin typeface="Courier New"/>
                <a:ea typeface="Courier New"/>
                <a:cs typeface="Courier New"/>
                <a:sym typeface="Courier New"/>
              </a:rPr>
              <a:t> ()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569CD6"/>
                </a:solidFill>
                <a:latin typeface="Courier New"/>
                <a:ea typeface="Courier New"/>
                <a:cs typeface="Courier New"/>
                <a:sym typeface="Courier New"/>
              </a:rPr>
              <a:t>var</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x</a:t>
            </a:r>
            <a:r>
              <a:rPr lang="es" sz="1050">
                <a:solidFill>
                  <a:srgbClr val="D4D4D4"/>
                </a:solidFill>
                <a:latin typeface="Courier New"/>
                <a:ea typeface="Courier New"/>
                <a:cs typeface="Courier New"/>
                <a:sym typeface="Courier New"/>
              </a:rPr>
              <a:t> = </a:t>
            </a:r>
            <a:r>
              <a:rPr lang="es" sz="1050">
                <a:solidFill>
                  <a:srgbClr val="CE9178"/>
                </a:solidFill>
                <a:latin typeface="Courier New"/>
                <a:ea typeface="Courier New"/>
                <a:cs typeface="Courier New"/>
                <a:sym typeface="Courier New"/>
              </a:rPr>
              <a:t>"Hola"</a:t>
            </a: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alert</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x</a:t>
            </a: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endParaRPr sz="1050">
              <a:solidFill>
                <a:srgbClr val="569CD6"/>
              </a:solidFill>
              <a:latin typeface="Courier New"/>
              <a:ea typeface="Courier New"/>
              <a:cs typeface="Courier New"/>
              <a:sym typeface="Courier New"/>
            </a:endParaRPr>
          </a:p>
          <a:p>
            <a:pPr marL="0" lvl="0" indent="0" algn="l" rtl="0">
              <a:lnSpc>
                <a:spcPct val="135714"/>
              </a:lnSpc>
              <a:spcBef>
                <a:spcPts val="0"/>
              </a:spcBef>
              <a:spcAft>
                <a:spcPts val="0"/>
              </a:spcAft>
              <a:buNone/>
            </a:pPr>
            <a:endParaRPr sz="1050">
              <a:solidFill>
                <a:srgbClr val="D4D4D4"/>
              </a:solidFill>
              <a:latin typeface="Courier New"/>
              <a:ea typeface="Courier New"/>
              <a:cs typeface="Courier New"/>
              <a:sym typeface="Courier New"/>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9"/>
          <p:cNvSpPr txBox="1">
            <a:spLocks noGrp="1"/>
          </p:cNvSpPr>
          <p:nvPr>
            <p:ph type="title" idx="4294967295"/>
          </p:nvPr>
        </p:nvSpPr>
        <p:spPr>
          <a:xfrm>
            <a:off x="0" y="366713"/>
            <a:ext cx="8521700" cy="6064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2000"/>
              <a:t>Definición de función con constructor. Function</a:t>
            </a:r>
            <a:endParaRPr sz="2000"/>
          </a:p>
        </p:txBody>
      </p:sp>
      <p:sp>
        <p:nvSpPr>
          <p:cNvPr id="131" name="Google Shape;131;p19"/>
          <p:cNvSpPr txBox="1">
            <a:spLocks noGrp="1"/>
          </p:cNvSpPr>
          <p:nvPr>
            <p:ph type="body" idx="4294967295"/>
          </p:nvPr>
        </p:nvSpPr>
        <p:spPr>
          <a:xfrm>
            <a:off x="0" y="849313"/>
            <a:ext cx="8521700" cy="18176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500"/>
              <a:t>Usando la palabra clave </a:t>
            </a:r>
            <a:r>
              <a:rPr lang="es" sz="1500" b="1"/>
              <a:t>Function </a:t>
            </a:r>
            <a:r>
              <a:rPr lang="es" sz="1500"/>
              <a:t>podemos definir una función a través de un constructor.</a:t>
            </a:r>
            <a:endParaRPr sz="1500"/>
          </a:p>
          <a:p>
            <a:pPr marL="0" lvl="0" indent="0" algn="l" rtl="0">
              <a:spcBef>
                <a:spcPts val="1600"/>
              </a:spcBef>
              <a:spcAft>
                <a:spcPts val="0"/>
              </a:spcAft>
              <a:buNone/>
            </a:pPr>
            <a:endParaRPr sz="1500" b="1"/>
          </a:p>
          <a:p>
            <a:pPr marL="0" lvl="0" indent="0" algn="l" rtl="0">
              <a:spcBef>
                <a:spcPts val="1600"/>
              </a:spcBef>
              <a:spcAft>
                <a:spcPts val="1600"/>
              </a:spcAft>
              <a:buNone/>
            </a:pPr>
            <a:r>
              <a:rPr lang="es" sz="1500"/>
              <a:t>Realmente las funciones son objetos y por tanto como ya veremos más adelante poseen propiedades y métodos.</a:t>
            </a:r>
            <a:endParaRPr sz="1500"/>
          </a:p>
        </p:txBody>
      </p:sp>
      <p:sp>
        <p:nvSpPr>
          <p:cNvPr id="133" name="Google Shape;133;p19"/>
          <p:cNvSpPr txBox="1">
            <a:spLocks noGrp="1"/>
          </p:cNvSpPr>
          <p:nvPr>
            <p:ph type="title" idx="4294967295"/>
          </p:nvPr>
        </p:nvSpPr>
        <p:spPr>
          <a:xfrm>
            <a:off x="0" y="23907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2000"/>
              <a:t>Funciones flecha (arrow).</a:t>
            </a:r>
            <a:endParaRPr sz="2000"/>
          </a:p>
        </p:txBody>
      </p:sp>
      <p:sp>
        <p:nvSpPr>
          <p:cNvPr id="134" name="Google Shape;134;p19"/>
          <p:cNvSpPr txBox="1">
            <a:spLocks noGrp="1"/>
          </p:cNvSpPr>
          <p:nvPr>
            <p:ph type="body" idx="4294967295"/>
          </p:nvPr>
        </p:nvSpPr>
        <p:spPr>
          <a:xfrm>
            <a:off x="0" y="2830513"/>
            <a:ext cx="8521700" cy="201771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500"/>
              <a:t>Con ES6 se puede definir una función usando los operadores “</a:t>
            </a:r>
            <a:r>
              <a:rPr lang="es" sz="1500" b="1"/>
              <a:t>=&gt;</a:t>
            </a:r>
            <a:r>
              <a:rPr lang="es" sz="1500"/>
              <a:t>”  como muestra el ejemplo:</a:t>
            </a:r>
            <a:endParaRPr sz="1500"/>
          </a:p>
          <a:p>
            <a:pPr marL="0" lvl="0" indent="0" algn="l" rtl="0">
              <a:spcBef>
                <a:spcPts val="1600"/>
              </a:spcBef>
              <a:spcAft>
                <a:spcPts val="0"/>
              </a:spcAft>
              <a:buNone/>
            </a:pPr>
            <a:endParaRPr sz="1500"/>
          </a:p>
          <a:p>
            <a:pPr marL="0" lvl="0" indent="0" algn="l" rtl="0">
              <a:spcBef>
                <a:spcPts val="1600"/>
              </a:spcBef>
              <a:spcAft>
                <a:spcPts val="0"/>
              </a:spcAft>
              <a:buNone/>
            </a:pPr>
            <a:r>
              <a:rPr lang="es" sz="1500"/>
              <a:t>Incluso podemos omitir la palabra clave </a:t>
            </a:r>
            <a:r>
              <a:rPr lang="es" sz="1500" b="1"/>
              <a:t>return </a:t>
            </a:r>
            <a:endParaRPr sz="1500" b="1"/>
          </a:p>
          <a:p>
            <a:pPr marL="0" lvl="0" indent="0" algn="l" rtl="0">
              <a:spcBef>
                <a:spcPts val="1600"/>
              </a:spcBef>
              <a:spcAft>
                <a:spcPts val="0"/>
              </a:spcAft>
              <a:buNone/>
            </a:pPr>
            <a:endParaRPr sz="1500" b="1"/>
          </a:p>
          <a:p>
            <a:pPr marL="0" lvl="0" indent="0" algn="l" rtl="0">
              <a:spcBef>
                <a:spcPts val="1600"/>
              </a:spcBef>
              <a:spcAft>
                <a:spcPts val="0"/>
              </a:spcAft>
              <a:buNone/>
            </a:pPr>
            <a:endParaRPr sz="1500" b="1"/>
          </a:p>
          <a:p>
            <a:pPr marL="0" lvl="0" indent="0" algn="l" rtl="0">
              <a:spcBef>
                <a:spcPts val="1600"/>
              </a:spcBef>
              <a:spcAft>
                <a:spcPts val="1600"/>
              </a:spcAft>
              <a:buNone/>
            </a:pPr>
            <a:r>
              <a:rPr lang="es" sz="1500" b="1"/>
              <a:t>  </a:t>
            </a:r>
            <a:endParaRPr sz="1500" b="1"/>
          </a:p>
        </p:txBody>
      </p:sp>
      <p:sp>
        <p:nvSpPr>
          <p:cNvPr id="132" name="Google Shape;132;p19"/>
          <p:cNvSpPr txBox="1"/>
          <p:nvPr/>
        </p:nvSpPr>
        <p:spPr>
          <a:xfrm>
            <a:off x="710800" y="1233425"/>
            <a:ext cx="5079300" cy="546600"/>
          </a:xfrm>
          <a:prstGeom prst="rect">
            <a:avLst/>
          </a:prstGeom>
          <a:solidFill>
            <a:srgbClr val="434343"/>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050">
                <a:solidFill>
                  <a:srgbClr val="569CD6"/>
                </a:solidFill>
                <a:latin typeface="Courier New"/>
                <a:ea typeface="Courier New"/>
                <a:cs typeface="Courier New"/>
                <a:sym typeface="Courier New"/>
              </a:rPr>
              <a:t>var</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producto</a:t>
            </a:r>
            <a:r>
              <a:rPr lang="es" sz="1050">
                <a:solidFill>
                  <a:srgbClr val="D4D4D4"/>
                </a:solidFill>
                <a:latin typeface="Courier New"/>
                <a:ea typeface="Courier New"/>
                <a:cs typeface="Courier New"/>
                <a:sym typeface="Courier New"/>
              </a:rPr>
              <a:t> = </a:t>
            </a:r>
            <a:r>
              <a:rPr lang="es" sz="1050">
                <a:solidFill>
                  <a:srgbClr val="569CD6"/>
                </a:solidFill>
                <a:latin typeface="Courier New"/>
                <a:ea typeface="Courier New"/>
                <a:cs typeface="Courier New"/>
                <a:sym typeface="Courier New"/>
              </a:rPr>
              <a:t>new</a:t>
            </a:r>
            <a:r>
              <a:rPr lang="es" sz="1050">
                <a:solidFill>
                  <a:srgbClr val="D4D4D4"/>
                </a:solidFill>
                <a:latin typeface="Courier New"/>
                <a:ea typeface="Courier New"/>
                <a:cs typeface="Courier New"/>
                <a:sym typeface="Courier New"/>
              </a:rPr>
              <a:t> </a:t>
            </a:r>
            <a:r>
              <a:rPr lang="es" sz="1050">
                <a:solidFill>
                  <a:srgbClr val="4EC9B0"/>
                </a:solidFill>
                <a:latin typeface="Courier New"/>
                <a:ea typeface="Courier New"/>
                <a:cs typeface="Courier New"/>
                <a:sym typeface="Courier New"/>
              </a:rPr>
              <a:t>Function</a:t>
            </a:r>
            <a:r>
              <a:rPr lang="es" sz="1050">
                <a:solidFill>
                  <a:srgbClr val="D4D4D4"/>
                </a:solidFill>
                <a:latin typeface="Courier New"/>
                <a:ea typeface="Courier New"/>
                <a:cs typeface="Courier New"/>
                <a:sym typeface="Courier New"/>
              </a:rPr>
              <a:t>(</a:t>
            </a:r>
            <a:r>
              <a:rPr lang="es" sz="1050">
                <a:solidFill>
                  <a:srgbClr val="CE9178"/>
                </a:solidFill>
                <a:latin typeface="Courier New"/>
                <a:ea typeface="Courier New"/>
                <a:cs typeface="Courier New"/>
                <a:sym typeface="Courier New"/>
              </a:rPr>
              <a:t>"a"</a:t>
            </a:r>
            <a:r>
              <a:rPr lang="es" sz="1050">
                <a:solidFill>
                  <a:srgbClr val="D4D4D4"/>
                </a:solidFill>
                <a:latin typeface="Courier New"/>
                <a:ea typeface="Courier New"/>
                <a:cs typeface="Courier New"/>
                <a:sym typeface="Courier New"/>
              </a:rPr>
              <a:t>, </a:t>
            </a:r>
            <a:r>
              <a:rPr lang="es" sz="1050">
                <a:solidFill>
                  <a:srgbClr val="CE9178"/>
                </a:solidFill>
                <a:latin typeface="Courier New"/>
                <a:ea typeface="Courier New"/>
                <a:cs typeface="Courier New"/>
                <a:sym typeface="Courier New"/>
              </a:rPr>
              <a:t>"b"</a:t>
            </a:r>
            <a:r>
              <a:rPr lang="es" sz="1050">
                <a:solidFill>
                  <a:srgbClr val="D4D4D4"/>
                </a:solidFill>
                <a:latin typeface="Courier New"/>
                <a:ea typeface="Courier New"/>
                <a:cs typeface="Courier New"/>
                <a:sym typeface="Courier New"/>
              </a:rPr>
              <a:t>, </a:t>
            </a:r>
            <a:r>
              <a:rPr lang="es" sz="1050">
                <a:solidFill>
                  <a:srgbClr val="CE9178"/>
                </a:solidFill>
                <a:latin typeface="Courier New"/>
                <a:ea typeface="Courier New"/>
                <a:cs typeface="Courier New"/>
                <a:sym typeface="Courier New"/>
              </a:rPr>
              <a:t>"return a * b"</a:t>
            </a: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569CD6"/>
                </a:solidFill>
                <a:latin typeface="Courier New"/>
                <a:ea typeface="Courier New"/>
                <a:cs typeface="Courier New"/>
                <a:sym typeface="Courier New"/>
              </a:rPr>
              <a:t>var</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x</a:t>
            </a:r>
            <a:r>
              <a:rPr lang="es" sz="1050">
                <a:solidFill>
                  <a:srgbClr val="D4D4D4"/>
                </a:solidFill>
                <a:latin typeface="Courier New"/>
                <a:ea typeface="Courier New"/>
                <a:cs typeface="Courier New"/>
                <a:sym typeface="Courier New"/>
              </a:rPr>
              <a:t> = </a:t>
            </a:r>
            <a:r>
              <a:rPr lang="es" sz="1050">
                <a:solidFill>
                  <a:srgbClr val="DCDCAA"/>
                </a:solidFill>
                <a:latin typeface="Courier New"/>
                <a:ea typeface="Courier New"/>
                <a:cs typeface="Courier New"/>
                <a:sym typeface="Courier New"/>
              </a:rPr>
              <a:t>producto</a:t>
            </a:r>
            <a:r>
              <a:rPr lang="es" sz="1050">
                <a:solidFill>
                  <a:srgbClr val="D4D4D4"/>
                </a:solidFill>
                <a:latin typeface="Courier New"/>
                <a:ea typeface="Courier New"/>
                <a:cs typeface="Courier New"/>
                <a:sym typeface="Courier New"/>
              </a:rPr>
              <a:t>(</a:t>
            </a:r>
            <a:r>
              <a:rPr lang="es" sz="1050">
                <a:solidFill>
                  <a:srgbClr val="B5CEA8"/>
                </a:solidFill>
                <a:latin typeface="Courier New"/>
                <a:ea typeface="Courier New"/>
                <a:cs typeface="Courier New"/>
                <a:sym typeface="Courier New"/>
              </a:rPr>
              <a:t>4</a:t>
            </a:r>
            <a:r>
              <a:rPr lang="es" sz="1050">
                <a:solidFill>
                  <a:srgbClr val="D4D4D4"/>
                </a:solidFill>
                <a:latin typeface="Courier New"/>
                <a:ea typeface="Courier New"/>
                <a:cs typeface="Courier New"/>
                <a:sym typeface="Courier New"/>
              </a:rPr>
              <a:t>, </a:t>
            </a:r>
            <a:r>
              <a:rPr lang="es" sz="1050">
                <a:solidFill>
                  <a:srgbClr val="B5CEA8"/>
                </a:solidFill>
                <a:latin typeface="Courier New"/>
                <a:ea typeface="Courier New"/>
                <a:cs typeface="Courier New"/>
                <a:sym typeface="Courier New"/>
              </a:rPr>
              <a:t>3</a:t>
            </a: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p:txBody>
      </p:sp>
      <p:sp>
        <p:nvSpPr>
          <p:cNvPr id="135" name="Google Shape;135;p19"/>
          <p:cNvSpPr txBox="1"/>
          <p:nvPr/>
        </p:nvSpPr>
        <p:spPr>
          <a:xfrm>
            <a:off x="829025" y="3214600"/>
            <a:ext cx="3384600" cy="546600"/>
          </a:xfrm>
          <a:prstGeom prst="rect">
            <a:avLst/>
          </a:prstGeom>
          <a:solidFill>
            <a:srgbClr val="434343"/>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050">
                <a:solidFill>
                  <a:srgbClr val="569CD6"/>
                </a:solidFill>
                <a:latin typeface="Courier New"/>
                <a:ea typeface="Courier New"/>
                <a:cs typeface="Courier New"/>
                <a:sym typeface="Courier New"/>
              </a:rPr>
              <a:t>const</a:t>
            </a: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a</a:t>
            </a:r>
            <a:r>
              <a:rPr lang="es" sz="1050">
                <a:solidFill>
                  <a:srgbClr val="D4D4D4"/>
                </a:solidFill>
                <a:latin typeface="Courier New"/>
                <a:ea typeface="Courier New"/>
                <a:cs typeface="Courier New"/>
                <a:sym typeface="Courier New"/>
              </a:rPr>
              <a:t> = (</a:t>
            </a:r>
            <a:r>
              <a:rPr lang="es" sz="1050">
                <a:solidFill>
                  <a:srgbClr val="9CDCFE"/>
                </a:solidFill>
                <a:latin typeface="Courier New"/>
                <a:ea typeface="Courier New"/>
                <a:cs typeface="Courier New"/>
                <a:sym typeface="Courier New"/>
              </a:rPr>
              <a:t>x</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y</a:t>
            </a:r>
            <a:r>
              <a:rPr lang="es" sz="1050">
                <a:solidFill>
                  <a:srgbClr val="D4D4D4"/>
                </a:solidFill>
                <a:latin typeface="Courier New"/>
                <a:ea typeface="Courier New"/>
                <a:cs typeface="Courier New"/>
                <a:sym typeface="Courier New"/>
              </a:rPr>
              <a:t>) </a:t>
            </a:r>
            <a:r>
              <a:rPr lang="es" sz="1050">
                <a:solidFill>
                  <a:srgbClr val="569CD6"/>
                </a:solidFill>
                <a:latin typeface="Courier New"/>
                <a:ea typeface="Courier New"/>
                <a:cs typeface="Courier New"/>
                <a:sym typeface="Courier New"/>
              </a:rPr>
              <a:t>=&gt;</a:t>
            </a:r>
            <a:r>
              <a:rPr lang="es" sz="1050">
                <a:solidFill>
                  <a:srgbClr val="D4D4D4"/>
                </a:solidFill>
                <a:latin typeface="Courier New"/>
                <a:ea typeface="Courier New"/>
                <a:cs typeface="Courier New"/>
                <a:sym typeface="Courier New"/>
              </a:rPr>
              <a:t> { </a:t>
            </a:r>
            <a:r>
              <a:rPr lang="es" sz="1050">
                <a:solidFill>
                  <a:srgbClr val="C586C0"/>
                </a:solidFill>
                <a:latin typeface="Courier New"/>
                <a:ea typeface="Courier New"/>
                <a:cs typeface="Courier New"/>
                <a:sym typeface="Courier New"/>
              </a:rPr>
              <a:t>return</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x</a:t>
            </a:r>
            <a:r>
              <a:rPr lang="es" sz="1050">
                <a:solidFill>
                  <a:srgbClr val="D4D4D4"/>
                </a:solidFill>
                <a:latin typeface="Courier New"/>
                <a:ea typeface="Courier New"/>
                <a:cs typeface="Courier New"/>
                <a:sym typeface="Courier New"/>
              </a:rPr>
              <a:t> * </a:t>
            </a:r>
            <a:r>
              <a:rPr lang="es" sz="1050">
                <a:solidFill>
                  <a:srgbClr val="9CDCFE"/>
                </a:solidFill>
                <a:latin typeface="Courier New"/>
                <a:ea typeface="Courier New"/>
                <a:cs typeface="Courier New"/>
                <a:sym typeface="Courier New"/>
              </a:rPr>
              <a:t>y</a:t>
            </a: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CDCAA"/>
                </a:solidFill>
                <a:latin typeface="Courier New"/>
                <a:ea typeface="Courier New"/>
                <a:cs typeface="Courier New"/>
                <a:sym typeface="Courier New"/>
              </a:rPr>
              <a:t>alert</a:t>
            </a:r>
            <a:r>
              <a:rPr lang="es" sz="1050">
                <a:solidFill>
                  <a:srgbClr val="D4D4D4"/>
                </a:solidFill>
                <a:latin typeface="Courier New"/>
                <a:ea typeface="Courier New"/>
                <a:cs typeface="Courier New"/>
                <a:sym typeface="Courier New"/>
              </a:rPr>
              <a:t> (</a:t>
            </a:r>
            <a:r>
              <a:rPr lang="es" sz="1050">
                <a:solidFill>
                  <a:srgbClr val="CE9178"/>
                </a:solidFill>
                <a:latin typeface="Courier New"/>
                <a:ea typeface="Courier New"/>
                <a:cs typeface="Courier New"/>
                <a:sym typeface="Courier New"/>
              </a:rPr>
              <a:t>"Producto = "</a:t>
            </a:r>
            <a:r>
              <a:rPr lang="es" sz="1050">
                <a:solidFill>
                  <a:srgbClr val="D4D4D4"/>
                </a:solidFill>
                <a:latin typeface="Courier New"/>
                <a:ea typeface="Courier New"/>
                <a:cs typeface="Courier New"/>
                <a:sym typeface="Courier New"/>
              </a:rPr>
              <a:t> + </a:t>
            </a:r>
            <a:r>
              <a:rPr lang="es" sz="1050">
                <a:solidFill>
                  <a:srgbClr val="DCDCAA"/>
                </a:solidFill>
                <a:latin typeface="Courier New"/>
                <a:ea typeface="Courier New"/>
                <a:cs typeface="Courier New"/>
                <a:sym typeface="Courier New"/>
              </a:rPr>
              <a:t>a</a:t>
            </a:r>
            <a:r>
              <a:rPr lang="es" sz="1050">
                <a:solidFill>
                  <a:srgbClr val="D4D4D4"/>
                </a:solidFill>
                <a:latin typeface="Courier New"/>
                <a:ea typeface="Courier New"/>
                <a:cs typeface="Courier New"/>
                <a:sym typeface="Courier New"/>
              </a:rPr>
              <a:t> (</a:t>
            </a:r>
            <a:r>
              <a:rPr lang="es" sz="1050">
                <a:solidFill>
                  <a:srgbClr val="B5CEA8"/>
                </a:solidFill>
                <a:latin typeface="Courier New"/>
                <a:ea typeface="Courier New"/>
                <a:cs typeface="Courier New"/>
                <a:sym typeface="Courier New"/>
              </a:rPr>
              <a:t>2</a:t>
            </a:r>
            <a:r>
              <a:rPr lang="es" sz="1050">
                <a:solidFill>
                  <a:srgbClr val="D4D4D4"/>
                </a:solidFill>
                <a:latin typeface="Courier New"/>
                <a:ea typeface="Courier New"/>
                <a:cs typeface="Courier New"/>
                <a:sym typeface="Courier New"/>
              </a:rPr>
              <a:t>,</a:t>
            </a:r>
            <a:r>
              <a:rPr lang="es" sz="1050">
                <a:solidFill>
                  <a:srgbClr val="B5CEA8"/>
                </a:solidFill>
                <a:latin typeface="Courier New"/>
                <a:ea typeface="Courier New"/>
                <a:cs typeface="Courier New"/>
                <a:sym typeface="Courier New"/>
              </a:rPr>
              <a:t>4</a:t>
            </a: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endParaRPr sz="1050">
              <a:solidFill>
                <a:srgbClr val="D4D4D4"/>
              </a:solidFill>
              <a:latin typeface="Courier New"/>
              <a:ea typeface="Courier New"/>
              <a:cs typeface="Courier New"/>
              <a:sym typeface="Courier New"/>
            </a:endParaRPr>
          </a:p>
        </p:txBody>
      </p:sp>
      <p:sp>
        <p:nvSpPr>
          <p:cNvPr id="136" name="Google Shape;136;p19"/>
          <p:cNvSpPr txBox="1"/>
          <p:nvPr/>
        </p:nvSpPr>
        <p:spPr>
          <a:xfrm>
            <a:off x="4791425" y="3214600"/>
            <a:ext cx="3384600" cy="1266000"/>
          </a:xfrm>
          <a:prstGeom prst="rect">
            <a:avLst/>
          </a:prstGeom>
          <a:solidFill>
            <a:srgbClr val="434343"/>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569CD6"/>
                </a:solidFill>
                <a:latin typeface="Courier New"/>
                <a:ea typeface="Courier New"/>
                <a:cs typeface="Courier New"/>
                <a:sym typeface="Courier New"/>
              </a:rPr>
              <a:t>const</a:t>
            </a: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a</a:t>
            </a:r>
            <a:r>
              <a:rPr lang="es" sz="1050">
                <a:solidFill>
                  <a:srgbClr val="D4D4D4"/>
                </a:solidFill>
                <a:latin typeface="Courier New"/>
                <a:ea typeface="Courier New"/>
                <a:cs typeface="Courier New"/>
                <a:sym typeface="Courier New"/>
              </a:rPr>
              <a:t> = (</a:t>
            </a:r>
            <a:r>
              <a:rPr lang="es" sz="1050">
                <a:solidFill>
                  <a:srgbClr val="9CDCFE"/>
                </a:solidFill>
                <a:latin typeface="Courier New"/>
                <a:ea typeface="Courier New"/>
                <a:cs typeface="Courier New"/>
                <a:sym typeface="Courier New"/>
              </a:rPr>
              <a:t>x</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y</a:t>
            </a:r>
            <a:r>
              <a:rPr lang="es" sz="1050">
                <a:solidFill>
                  <a:srgbClr val="D4D4D4"/>
                </a:solidFill>
                <a:latin typeface="Courier New"/>
                <a:ea typeface="Courier New"/>
                <a:cs typeface="Courier New"/>
                <a:sym typeface="Courier New"/>
              </a:rPr>
              <a:t>) </a:t>
            </a:r>
            <a:r>
              <a:rPr lang="es" sz="1050">
                <a:solidFill>
                  <a:srgbClr val="569CD6"/>
                </a:solidFill>
                <a:latin typeface="Courier New"/>
                <a:ea typeface="Courier New"/>
                <a:cs typeface="Courier New"/>
                <a:sym typeface="Courier New"/>
              </a:rPr>
              <a:t>=&gt;</a:t>
            </a:r>
            <a:r>
              <a:rPr lang="es" sz="1050">
                <a:solidFill>
                  <a:srgbClr val="D4D4D4"/>
                </a:solidFill>
                <a:latin typeface="Courier New"/>
                <a:ea typeface="Courier New"/>
                <a:cs typeface="Courier New"/>
                <a:sym typeface="Courier New"/>
              </a:rPr>
              <a:t> {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569CD6"/>
                </a:solidFill>
                <a:latin typeface="Courier New"/>
                <a:ea typeface="Courier New"/>
                <a:cs typeface="Courier New"/>
                <a:sym typeface="Courier New"/>
              </a:rPr>
              <a:t>var</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b</a:t>
            </a:r>
            <a:r>
              <a:rPr lang="es" sz="1050">
                <a:solidFill>
                  <a:srgbClr val="D4D4D4"/>
                </a:solidFill>
                <a:latin typeface="Courier New"/>
                <a:ea typeface="Courier New"/>
                <a:cs typeface="Courier New"/>
                <a:sym typeface="Courier New"/>
              </a:rPr>
              <a:t> = </a:t>
            </a:r>
            <a:r>
              <a:rPr lang="es" sz="1050">
                <a:solidFill>
                  <a:srgbClr val="B5CEA8"/>
                </a:solidFill>
                <a:latin typeface="Courier New"/>
                <a:ea typeface="Courier New"/>
                <a:cs typeface="Courier New"/>
                <a:sym typeface="Courier New"/>
              </a:rPr>
              <a:t>4</a:t>
            </a: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C586C0"/>
                </a:solidFill>
                <a:latin typeface="Courier New"/>
                <a:ea typeface="Courier New"/>
                <a:cs typeface="Courier New"/>
                <a:sym typeface="Courier New"/>
              </a:rPr>
              <a:t>return</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x</a:t>
            </a:r>
            <a:r>
              <a:rPr lang="es" sz="1050">
                <a:solidFill>
                  <a:srgbClr val="D4D4D4"/>
                </a:solidFill>
                <a:latin typeface="Courier New"/>
                <a:ea typeface="Courier New"/>
                <a:cs typeface="Courier New"/>
                <a:sym typeface="Courier New"/>
              </a:rPr>
              <a:t> * </a:t>
            </a:r>
            <a:r>
              <a:rPr lang="es" sz="1050">
                <a:solidFill>
                  <a:srgbClr val="9CDCFE"/>
                </a:solidFill>
                <a:latin typeface="Courier New"/>
                <a:ea typeface="Courier New"/>
                <a:cs typeface="Courier New"/>
                <a:sym typeface="Courier New"/>
              </a:rPr>
              <a:t>y</a:t>
            </a:r>
            <a:r>
              <a:rPr lang="es" sz="1050">
                <a:solidFill>
                  <a:srgbClr val="D4D4D4"/>
                </a:solidFill>
                <a:latin typeface="Courier New"/>
                <a:ea typeface="Courier New"/>
                <a:cs typeface="Courier New"/>
                <a:sym typeface="Courier New"/>
              </a:rPr>
              <a:t> * </a:t>
            </a:r>
            <a:r>
              <a:rPr lang="es" sz="1050">
                <a:solidFill>
                  <a:srgbClr val="9CDCFE"/>
                </a:solidFill>
                <a:latin typeface="Courier New"/>
                <a:ea typeface="Courier New"/>
                <a:cs typeface="Courier New"/>
                <a:sym typeface="Courier New"/>
              </a:rPr>
              <a:t>b</a:t>
            </a: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alert</a:t>
            </a:r>
            <a:r>
              <a:rPr lang="es" sz="1050">
                <a:solidFill>
                  <a:srgbClr val="D4D4D4"/>
                </a:solidFill>
                <a:latin typeface="Courier New"/>
                <a:ea typeface="Courier New"/>
                <a:cs typeface="Courier New"/>
                <a:sym typeface="Courier New"/>
              </a:rPr>
              <a:t> (</a:t>
            </a:r>
            <a:r>
              <a:rPr lang="es" sz="1050">
                <a:solidFill>
                  <a:srgbClr val="CE9178"/>
                </a:solidFill>
                <a:latin typeface="Courier New"/>
                <a:ea typeface="Courier New"/>
                <a:cs typeface="Courier New"/>
                <a:sym typeface="Courier New"/>
              </a:rPr>
              <a:t>"Producto ="</a:t>
            </a:r>
            <a:r>
              <a:rPr lang="es" sz="1050">
                <a:solidFill>
                  <a:srgbClr val="D4D4D4"/>
                </a:solidFill>
                <a:latin typeface="Courier New"/>
                <a:ea typeface="Courier New"/>
                <a:cs typeface="Courier New"/>
                <a:sym typeface="Courier New"/>
              </a:rPr>
              <a:t> + </a:t>
            </a:r>
            <a:r>
              <a:rPr lang="es" sz="1050">
                <a:solidFill>
                  <a:srgbClr val="DCDCAA"/>
                </a:solidFill>
                <a:latin typeface="Courier New"/>
                <a:ea typeface="Courier New"/>
                <a:cs typeface="Courier New"/>
                <a:sym typeface="Courier New"/>
              </a:rPr>
              <a:t>a</a:t>
            </a:r>
            <a:r>
              <a:rPr lang="es" sz="1050">
                <a:solidFill>
                  <a:srgbClr val="D4D4D4"/>
                </a:solidFill>
                <a:latin typeface="Courier New"/>
                <a:ea typeface="Courier New"/>
                <a:cs typeface="Courier New"/>
                <a:sym typeface="Courier New"/>
              </a:rPr>
              <a:t> (</a:t>
            </a:r>
            <a:r>
              <a:rPr lang="es" sz="1050">
                <a:solidFill>
                  <a:srgbClr val="B5CEA8"/>
                </a:solidFill>
                <a:latin typeface="Courier New"/>
                <a:ea typeface="Courier New"/>
                <a:cs typeface="Courier New"/>
                <a:sym typeface="Courier New"/>
              </a:rPr>
              <a:t>2</a:t>
            </a:r>
            <a:r>
              <a:rPr lang="es" sz="1050">
                <a:solidFill>
                  <a:srgbClr val="D4D4D4"/>
                </a:solidFill>
                <a:latin typeface="Courier New"/>
                <a:ea typeface="Courier New"/>
                <a:cs typeface="Courier New"/>
                <a:sym typeface="Courier New"/>
              </a:rPr>
              <a:t>,</a:t>
            </a:r>
            <a:r>
              <a:rPr lang="es" sz="1050">
                <a:solidFill>
                  <a:srgbClr val="B5CEA8"/>
                </a:solidFill>
                <a:latin typeface="Courier New"/>
                <a:ea typeface="Courier New"/>
                <a:cs typeface="Courier New"/>
                <a:sym typeface="Courier New"/>
              </a:rPr>
              <a:t>4</a:t>
            </a: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endParaRPr sz="1050">
              <a:solidFill>
                <a:srgbClr val="569CD6"/>
              </a:solidFill>
              <a:latin typeface="Courier New"/>
              <a:ea typeface="Courier New"/>
              <a:cs typeface="Courier New"/>
              <a:sym typeface="Courier New"/>
            </a:endParaRPr>
          </a:p>
          <a:p>
            <a:pPr marL="0" lvl="0" indent="0" algn="l" rtl="0">
              <a:lnSpc>
                <a:spcPct val="135714"/>
              </a:lnSpc>
              <a:spcBef>
                <a:spcPts val="0"/>
              </a:spcBef>
              <a:spcAft>
                <a:spcPts val="0"/>
              </a:spcAft>
              <a:buNone/>
            </a:pP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endParaRPr sz="1050">
              <a:solidFill>
                <a:srgbClr val="569CD6"/>
              </a:solidFill>
              <a:latin typeface="Courier New"/>
              <a:ea typeface="Courier New"/>
              <a:cs typeface="Courier New"/>
              <a:sym typeface="Courier New"/>
            </a:endParaRPr>
          </a:p>
          <a:p>
            <a:pPr marL="0" lvl="0" indent="0" algn="l" rtl="0">
              <a:lnSpc>
                <a:spcPct val="135714"/>
              </a:lnSpc>
              <a:spcBef>
                <a:spcPts val="0"/>
              </a:spcBef>
              <a:spcAft>
                <a:spcPts val="0"/>
              </a:spcAft>
              <a:buNone/>
            </a:pPr>
            <a:endParaRPr sz="1050">
              <a:solidFill>
                <a:srgbClr val="D4D4D4"/>
              </a:solidFill>
              <a:latin typeface="Courier New"/>
              <a:ea typeface="Courier New"/>
              <a:cs typeface="Courier New"/>
              <a:sym typeface="Courier New"/>
            </a:endParaRPr>
          </a:p>
        </p:txBody>
      </p:sp>
      <p:sp>
        <p:nvSpPr>
          <p:cNvPr id="137" name="Google Shape;137;p19"/>
          <p:cNvSpPr txBox="1"/>
          <p:nvPr/>
        </p:nvSpPr>
        <p:spPr>
          <a:xfrm>
            <a:off x="829025" y="4205200"/>
            <a:ext cx="3384600" cy="546600"/>
          </a:xfrm>
          <a:prstGeom prst="rect">
            <a:avLst/>
          </a:prstGeom>
          <a:solidFill>
            <a:srgbClr val="434343"/>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050">
                <a:solidFill>
                  <a:srgbClr val="569CD6"/>
                </a:solidFill>
                <a:latin typeface="Courier New"/>
                <a:ea typeface="Courier New"/>
                <a:cs typeface="Courier New"/>
                <a:sym typeface="Courier New"/>
              </a:rPr>
              <a:t>const</a:t>
            </a: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a</a:t>
            </a:r>
            <a:r>
              <a:rPr lang="es" sz="1050">
                <a:solidFill>
                  <a:srgbClr val="D4D4D4"/>
                </a:solidFill>
                <a:latin typeface="Courier New"/>
                <a:ea typeface="Courier New"/>
                <a:cs typeface="Courier New"/>
                <a:sym typeface="Courier New"/>
              </a:rPr>
              <a:t> = (</a:t>
            </a:r>
            <a:r>
              <a:rPr lang="es" sz="1050">
                <a:solidFill>
                  <a:srgbClr val="9CDCFE"/>
                </a:solidFill>
                <a:latin typeface="Courier New"/>
                <a:ea typeface="Courier New"/>
                <a:cs typeface="Courier New"/>
                <a:sym typeface="Courier New"/>
              </a:rPr>
              <a:t>x</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y</a:t>
            </a:r>
            <a:r>
              <a:rPr lang="es" sz="1050">
                <a:solidFill>
                  <a:srgbClr val="D4D4D4"/>
                </a:solidFill>
                <a:latin typeface="Courier New"/>
                <a:ea typeface="Courier New"/>
                <a:cs typeface="Courier New"/>
                <a:sym typeface="Courier New"/>
              </a:rPr>
              <a:t>) </a:t>
            </a:r>
            <a:r>
              <a:rPr lang="es" sz="1050">
                <a:solidFill>
                  <a:srgbClr val="569CD6"/>
                </a:solidFill>
                <a:latin typeface="Courier New"/>
                <a:ea typeface="Courier New"/>
                <a:cs typeface="Courier New"/>
                <a:sym typeface="Courier New"/>
              </a:rPr>
              <a:t>=&gt;</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x</a:t>
            </a:r>
            <a:r>
              <a:rPr lang="es" sz="1050">
                <a:solidFill>
                  <a:srgbClr val="D4D4D4"/>
                </a:solidFill>
                <a:latin typeface="Courier New"/>
                <a:ea typeface="Courier New"/>
                <a:cs typeface="Courier New"/>
                <a:sym typeface="Courier New"/>
              </a:rPr>
              <a:t> * </a:t>
            </a:r>
            <a:r>
              <a:rPr lang="es" sz="1050">
                <a:solidFill>
                  <a:srgbClr val="9CDCFE"/>
                </a:solidFill>
                <a:latin typeface="Courier New"/>
                <a:ea typeface="Courier New"/>
                <a:cs typeface="Courier New"/>
                <a:sym typeface="Courier New"/>
              </a:rPr>
              <a:t>y</a:t>
            </a: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CDCAA"/>
                </a:solidFill>
                <a:latin typeface="Courier New"/>
                <a:ea typeface="Courier New"/>
                <a:cs typeface="Courier New"/>
                <a:sym typeface="Courier New"/>
              </a:rPr>
              <a:t>alert</a:t>
            </a:r>
            <a:r>
              <a:rPr lang="es" sz="1050">
                <a:solidFill>
                  <a:srgbClr val="D4D4D4"/>
                </a:solidFill>
                <a:latin typeface="Courier New"/>
                <a:ea typeface="Courier New"/>
                <a:cs typeface="Courier New"/>
                <a:sym typeface="Courier New"/>
              </a:rPr>
              <a:t> (</a:t>
            </a:r>
            <a:r>
              <a:rPr lang="es" sz="1050">
                <a:solidFill>
                  <a:srgbClr val="CE9178"/>
                </a:solidFill>
                <a:latin typeface="Courier New"/>
                <a:ea typeface="Courier New"/>
                <a:cs typeface="Courier New"/>
                <a:sym typeface="Courier New"/>
              </a:rPr>
              <a:t>"Producto = "</a:t>
            </a:r>
            <a:r>
              <a:rPr lang="es" sz="1050">
                <a:solidFill>
                  <a:srgbClr val="D4D4D4"/>
                </a:solidFill>
                <a:latin typeface="Courier New"/>
                <a:ea typeface="Courier New"/>
                <a:cs typeface="Courier New"/>
                <a:sym typeface="Courier New"/>
              </a:rPr>
              <a:t> + </a:t>
            </a:r>
            <a:r>
              <a:rPr lang="es" sz="1050">
                <a:solidFill>
                  <a:srgbClr val="DCDCAA"/>
                </a:solidFill>
                <a:latin typeface="Courier New"/>
                <a:ea typeface="Courier New"/>
                <a:cs typeface="Courier New"/>
                <a:sym typeface="Courier New"/>
              </a:rPr>
              <a:t>a</a:t>
            </a:r>
            <a:r>
              <a:rPr lang="es" sz="1050">
                <a:solidFill>
                  <a:srgbClr val="D4D4D4"/>
                </a:solidFill>
                <a:latin typeface="Courier New"/>
                <a:ea typeface="Courier New"/>
                <a:cs typeface="Courier New"/>
                <a:sym typeface="Courier New"/>
              </a:rPr>
              <a:t> (</a:t>
            </a:r>
            <a:r>
              <a:rPr lang="es" sz="1050">
                <a:solidFill>
                  <a:srgbClr val="B5CEA8"/>
                </a:solidFill>
                <a:latin typeface="Courier New"/>
                <a:ea typeface="Courier New"/>
                <a:cs typeface="Courier New"/>
                <a:sym typeface="Courier New"/>
              </a:rPr>
              <a:t>2</a:t>
            </a:r>
            <a:r>
              <a:rPr lang="es" sz="1050">
                <a:solidFill>
                  <a:srgbClr val="D4D4D4"/>
                </a:solidFill>
                <a:latin typeface="Courier New"/>
                <a:ea typeface="Courier New"/>
                <a:cs typeface="Courier New"/>
                <a:sym typeface="Courier New"/>
              </a:rPr>
              <a:t>,</a:t>
            </a:r>
            <a:r>
              <a:rPr lang="es" sz="1050">
                <a:solidFill>
                  <a:srgbClr val="B5CEA8"/>
                </a:solidFill>
                <a:latin typeface="Courier New"/>
                <a:ea typeface="Courier New"/>
                <a:cs typeface="Courier New"/>
                <a:sym typeface="Courier New"/>
              </a:rPr>
              <a:t>4</a:t>
            </a: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endParaRPr sz="1050">
              <a:solidFill>
                <a:srgbClr val="D4D4D4"/>
              </a:solidFill>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0"/>
          <p:cNvSpPr txBox="1">
            <a:spLocks noGrp="1"/>
          </p:cNvSpPr>
          <p:nvPr>
            <p:ph type="title" idx="4294967295"/>
          </p:nvPr>
        </p:nvSpPr>
        <p:spPr>
          <a:xfrm>
            <a:off x="0" y="214313"/>
            <a:ext cx="8521700" cy="6064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2000"/>
              <a:t>Parámetros de una función.</a:t>
            </a:r>
            <a:endParaRPr sz="2000"/>
          </a:p>
        </p:txBody>
      </p:sp>
      <p:sp>
        <p:nvSpPr>
          <p:cNvPr id="143" name="Google Shape;143;p20"/>
          <p:cNvSpPr txBox="1">
            <a:spLocks noGrp="1"/>
          </p:cNvSpPr>
          <p:nvPr>
            <p:ph type="body" idx="4294967295"/>
          </p:nvPr>
        </p:nvSpPr>
        <p:spPr>
          <a:xfrm>
            <a:off x="0" y="620713"/>
            <a:ext cx="8521700" cy="1817687"/>
          </a:xfrm>
          <a:prstGeom prst="rect">
            <a:avLst/>
          </a:prstGeom>
        </p:spPr>
        <p:txBody>
          <a:bodyPr spcFirstLastPara="1" wrap="square" lIns="91425" tIns="91425" rIns="91425" bIns="91425" anchor="t" anchorCtr="0">
            <a:noAutofit/>
          </a:bodyPr>
          <a:lstStyle/>
          <a:p>
            <a:pPr marL="457200" marR="0" lvl="0" indent="-323850" algn="l" rtl="0">
              <a:lnSpc>
                <a:spcPct val="115000"/>
              </a:lnSpc>
              <a:spcBef>
                <a:spcPts val="0"/>
              </a:spcBef>
              <a:spcAft>
                <a:spcPts val="0"/>
              </a:spcAft>
              <a:buSzPts val="1500"/>
              <a:buChar char="-"/>
            </a:pPr>
            <a:r>
              <a:rPr lang="es" sz="1500"/>
              <a:t>En la declaración de parámetros de una función no se usa </a:t>
            </a:r>
            <a:r>
              <a:rPr lang="es" sz="1500" b="1"/>
              <a:t>var</a:t>
            </a:r>
            <a:r>
              <a:rPr lang="es" sz="1500"/>
              <a:t> para declararlos.</a:t>
            </a:r>
            <a:endParaRPr sz="1500"/>
          </a:p>
          <a:p>
            <a:pPr marL="457200" marR="0" lvl="0" indent="-323850" algn="l" rtl="0">
              <a:lnSpc>
                <a:spcPct val="115000"/>
              </a:lnSpc>
              <a:spcBef>
                <a:spcPts val="0"/>
              </a:spcBef>
              <a:spcAft>
                <a:spcPts val="0"/>
              </a:spcAft>
              <a:buSzPts val="1500"/>
              <a:buChar char="-"/>
            </a:pPr>
            <a:r>
              <a:rPr lang="es" sz="1500"/>
              <a:t>Las funciones de JavaScript no realizan comprobaciones en los tipos pasados como argumentos.</a:t>
            </a:r>
            <a:endParaRPr sz="1500"/>
          </a:p>
          <a:p>
            <a:pPr marL="457200" marR="0" lvl="0" indent="-323850" algn="l" rtl="0">
              <a:lnSpc>
                <a:spcPct val="115000"/>
              </a:lnSpc>
              <a:spcBef>
                <a:spcPts val="0"/>
              </a:spcBef>
              <a:spcAft>
                <a:spcPts val="0"/>
              </a:spcAft>
              <a:buSzPts val="1500"/>
              <a:buChar char="-"/>
            </a:pPr>
            <a:r>
              <a:rPr lang="es" sz="1500"/>
              <a:t>Tampoco se comprueban el número de argumentos pasados.</a:t>
            </a:r>
            <a:endParaRPr sz="1500"/>
          </a:p>
          <a:p>
            <a:pPr marL="457200" marR="0" lvl="0" indent="-323850" algn="l" rtl="0">
              <a:lnSpc>
                <a:spcPct val="115000"/>
              </a:lnSpc>
              <a:spcBef>
                <a:spcPts val="0"/>
              </a:spcBef>
              <a:spcAft>
                <a:spcPts val="0"/>
              </a:spcAft>
              <a:buSzPts val="1500"/>
              <a:buChar char="-"/>
            </a:pPr>
            <a:r>
              <a:rPr lang="es" sz="1500"/>
              <a:t>A partir de ES5 se permite dar valores por defecto a los parámetros.</a:t>
            </a:r>
            <a:endParaRPr sz="1500"/>
          </a:p>
        </p:txBody>
      </p:sp>
      <p:sp>
        <p:nvSpPr>
          <p:cNvPr id="145" name="Google Shape;145;p20"/>
          <p:cNvSpPr txBox="1">
            <a:spLocks noGrp="1"/>
          </p:cNvSpPr>
          <p:nvPr>
            <p:ph type="title" idx="4294967295"/>
          </p:nvPr>
        </p:nvSpPr>
        <p:spPr>
          <a:xfrm>
            <a:off x="0" y="2652713"/>
            <a:ext cx="8521700" cy="6064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2000"/>
              <a:t>Paso por valor y paso por referencia.</a:t>
            </a:r>
            <a:endParaRPr sz="2000"/>
          </a:p>
        </p:txBody>
      </p:sp>
      <p:sp>
        <p:nvSpPr>
          <p:cNvPr id="146" name="Google Shape;146;p20"/>
          <p:cNvSpPr txBox="1">
            <a:spLocks noGrp="1"/>
          </p:cNvSpPr>
          <p:nvPr>
            <p:ph type="body" idx="4294967295"/>
          </p:nvPr>
        </p:nvSpPr>
        <p:spPr>
          <a:xfrm>
            <a:off x="0" y="2982913"/>
            <a:ext cx="8521700" cy="155575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s" sz="1500"/>
              <a:t>En una función los argumentos de tipo primitivo (number, string, boolean, etc…) se pasan</a:t>
            </a:r>
            <a:r>
              <a:rPr lang="es" sz="1500" b="1"/>
              <a:t> por valor </a:t>
            </a:r>
            <a:r>
              <a:rPr lang="es" sz="1500"/>
              <a:t>(copia)</a:t>
            </a:r>
            <a:r>
              <a:rPr lang="es" sz="1500" b="1"/>
              <a:t> </a:t>
            </a:r>
            <a:r>
              <a:rPr lang="es" sz="1500"/>
              <a:t>, es decir,  la variable original pasada no cambia si se realiza un cambio interno en la función a través de su parámetro.</a:t>
            </a:r>
            <a:endParaRPr sz="1500"/>
          </a:p>
          <a:p>
            <a:pPr marL="0" marR="0" lvl="0" indent="0" algn="l" rtl="0">
              <a:lnSpc>
                <a:spcPct val="115000"/>
              </a:lnSpc>
              <a:spcBef>
                <a:spcPts val="1600"/>
              </a:spcBef>
              <a:spcAft>
                <a:spcPts val="1600"/>
              </a:spcAft>
              <a:buNone/>
            </a:pPr>
            <a:r>
              <a:rPr lang="es" sz="1500"/>
              <a:t>Por el contrario, si pasamos un </a:t>
            </a:r>
            <a:r>
              <a:rPr lang="es" sz="1500" b="1"/>
              <a:t>objeto </a:t>
            </a:r>
            <a:r>
              <a:rPr lang="es" sz="1500"/>
              <a:t>como argumento a una función se pasará </a:t>
            </a:r>
            <a:r>
              <a:rPr lang="es" sz="1500" b="1"/>
              <a:t>por referencia</a:t>
            </a:r>
            <a:r>
              <a:rPr lang="es" sz="1500"/>
              <a:t> (dirección), es decir, si internamente se hace un cambio a alguna propiedad del objeto a través del parámetro , éste modificará la propiedad del objeto original. (Ver ejemplos)</a:t>
            </a:r>
            <a:endParaRPr sz="1500"/>
          </a:p>
        </p:txBody>
      </p:sp>
      <p:sp>
        <p:nvSpPr>
          <p:cNvPr id="144" name="Google Shape;144;p20"/>
          <p:cNvSpPr txBox="1"/>
          <p:nvPr/>
        </p:nvSpPr>
        <p:spPr>
          <a:xfrm>
            <a:off x="2362800" y="1996650"/>
            <a:ext cx="2482200" cy="715500"/>
          </a:xfrm>
          <a:prstGeom prst="rect">
            <a:avLst/>
          </a:prstGeom>
          <a:solidFill>
            <a:srgbClr val="434343"/>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050">
                <a:solidFill>
                  <a:srgbClr val="569CD6"/>
                </a:solidFill>
                <a:latin typeface="Courier New"/>
                <a:ea typeface="Courier New"/>
                <a:cs typeface="Courier New"/>
                <a:sym typeface="Courier New"/>
              </a:rPr>
              <a:t>function</a:t>
            </a: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suma</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a</a:t>
            </a:r>
            <a:r>
              <a:rPr lang="es" sz="1050">
                <a:solidFill>
                  <a:srgbClr val="D4D4D4"/>
                </a:solidFill>
                <a:latin typeface="Courier New"/>
                <a:ea typeface="Courier New"/>
                <a:cs typeface="Courier New"/>
                <a:sym typeface="Courier New"/>
              </a:rPr>
              <a:t>=</a:t>
            </a:r>
            <a:r>
              <a:rPr lang="es" sz="1050">
                <a:solidFill>
                  <a:srgbClr val="B5CEA8"/>
                </a:solidFill>
                <a:latin typeface="Courier New"/>
                <a:ea typeface="Courier New"/>
                <a:cs typeface="Courier New"/>
                <a:sym typeface="Courier New"/>
              </a:rPr>
              <a:t>1</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b</a:t>
            </a:r>
            <a:r>
              <a:rPr lang="es" sz="1050">
                <a:solidFill>
                  <a:srgbClr val="D4D4D4"/>
                </a:solidFill>
                <a:latin typeface="Courier New"/>
                <a:ea typeface="Courier New"/>
                <a:cs typeface="Courier New"/>
                <a:sym typeface="Courier New"/>
              </a:rPr>
              <a:t>=</a:t>
            </a:r>
            <a:r>
              <a:rPr lang="es" sz="1050">
                <a:solidFill>
                  <a:srgbClr val="B5CEA8"/>
                </a:solidFill>
                <a:latin typeface="Courier New"/>
                <a:ea typeface="Courier New"/>
                <a:cs typeface="Courier New"/>
                <a:sym typeface="Courier New"/>
              </a:rPr>
              <a:t>1</a:t>
            </a:r>
            <a:r>
              <a:rPr lang="es" sz="1050">
                <a:solidFill>
                  <a:srgbClr val="D4D4D4"/>
                </a:solidFill>
                <a:latin typeface="Courier New"/>
                <a:ea typeface="Courier New"/>
                <a:cs typeface="Courier New"/>
                <a:sym typeface="Courier New"/>
              </a:rPr>
              <a:t>) {</a:t>
            </a:r>
            <a:endParaRPr sz="1050">
              <a:solidFill>
                <a:srgbClr val="6A9955"/>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Código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endParaRPr sz="1050">
              <a:solidFill>
                <a:srgbClr val="569CD6"/>
              </a:solidFill>
              <a:latin typeface="Courier New"/>
              <a:ea typeface="Courier New"/>
              <a:cs typeface="Courier New"/>
              <a:sym typeface="Courier New"/>
            </a:endParaRPr>
          </a:p>
          <a:p>
            <a:pPr marL="0" lvl="0" indent="0" algn="l" rtl="0">
              <a:lnSpc>
                <a:spcPct val="135714"/>
              </a:lnSpc>
              <a:spcBef>
                <a:spcPts val="0"/>
              </a:spcBef>
              <a:spcAft>
                <a:spcPts val="0"/>
              </a:spcAft>
              <a:buNone/>
            </a:pP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endParaRPr sz="1050">
              <a:solidFill>
                <a:srgbClr val="569CD6"/>
              </a:solidFill>
              <a:latin typeface="Courier New"/>
              <a:ea typeface="Courier New"/>
              <a:cs typeface="Courier New"/>
              <a:sym typeface="Courier New"/>
            </a:endParaRPr>
          </a:p>
          <a:p>
            <a:pPr marL="0" lvl="0" indent="0" algn="l" rtl="0">
              <a:lnSpc>
                <a:spcPct val="135714"/>
              </a:lnSpc>
              <a:spcBef>
                <a:spcPts val="0"/>
              </a:spcBef>
              <a:spcAft>
                <a:spcPts val="0"/>
              </a:spcAft>
              <a:buNone/>
            </a:pPr>
            <a:endParaRPr sz="1050">
              <a:solidFill>
                <a:srgbClr val="D4D4D4"/>
              </a:solidFill>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1"/>
          <p:cNvSpPr txBox="1">
            <a:spLocks noGrp="1"/>
          </p:cNvSpPr>
          <p:nvPr>
            <p:ph type="body" idx="4294967295"/>
          </p:nvPr>
        </p:nvSpPr>
        <p:spPr>
          <a:xfrm>
            <a:off x="0" y="331788"/>
            <a:ext cx="8521700" cy="4237037"/>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s"/>
              <a:t> </a:t>
            </a:r>
            <a:endParaRPr/>
          </a:p>
        </p:txBody>
      </p:sp>
      <p:sp>
        <p:nvSpPr>
          <p:cNvPr id="153" name="Google Shape;153;p21"/>
          <p:cNvSpPr txBox="1">
            <a:spLocks noGrp="1"/>
          </p:cNvSpPr>
          <p:nvPr>
            <p:ph type="title" idx="4294967295"/>
          </p:nvPr>
        </p:nvSpPr>
        <p:spPr>
          <a:xfrm>
            <a:off x="0" y="138113"/>
            <a:ext cx="8521700" cy="6064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2000"/>
              <a:t>Paso por valor ( se crea una copia)		       Paso por referencia</a:t>
            </a:r>
            <a:endParaRPr sz="2000"/>
          </a:p>
        </p:txBody>
      </p:sp>
      <p:sp>
        <p:nvSpPr>
          <p:cNvPr id="152" name="Google Shape;152;p21"/>
          <p:cNvSpPr txBox="1"/>
          <p:nvPr/>
        </p:nvSpPr>
        <p:spPr>
          <a:xfrm>
            <a:off x="438150" y="779250"/>
            <a:ext cx="3771900" cy="3789600"/>
          </a:xfrm>
          <a:prstGeom prst="rect">
            <a:avLst/>
          </a:prstGeom>
          <a:solidFill>
            <a:srgbClr val="434343"/>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DOCTYPE</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html</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html</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head</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script</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569CD6"/>
                </a:solidFill>
                <a:latin typeface="Courier New"/>
                <a:ea typeface="Courier New"/>
                <a:cs typeface="Courier New"/>
                <a:sym typeface="Courier New"/>
              </a:rPr>
              <a:t>var</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a</a:t>
            </a:r>
            <a:r>
              <a:rPr lang="es" sz="1050">
                <a:solidFill>
                  <a:srgbClr val="D4D4D4"/>
                </a:solidFill>
                <a:latin typeface="Courier New"/>
                <a:ea typeface="Courier New"/>
                <a:cs typeface="Courier New"/>
                <a:sym typeface="Courier New"/>
              </a:rPr>
              <a:t> = </a:t>
            </a:r>
            <a:r>
              <a:rPr lang="es" sz="1050">
                <a:solidFill>
                  <a:srgbClr val="B5CEA8"/>
                </a:solidFill>
                <a:latin typeface="Courier New"/>
                <a:ea typeface="Courier New"/>
                <a:cs typeface="Courier New"/>
                <a:sym typeface="Courier New"/>
              </a:rPr>
              <a:t>1</a:t>
            </a: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569CD6"/>
                </a:solidFill>
                <a:latin typeface="Courier New"/>
                <a:ea typeface="Courier New"/>
                <a:cs typeface="Courier New"/>
                <a:sym typeface="Courier New"/>
              </a:rPr>
              <a:t>function</a:t>
            </a: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nombreFuncion</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x</a:t>
            </a: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6A9955"/>
                </a:solidFill>
                <a:latin typeface="Courier New"/>
                <a:ea typeface="Courier New"/>
                <a:cs typeface="Courier New"/>
                <a:sym typeface="Courier New"/>
              </a:rPr>
              <a:t>// código a ejecutar;</a:t>
            </a:r>
            <a:endParaRPr sz="1050">
              <a:solidFill>
                <a:srgbClr val="6A9955"/>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x</a:t>
            </a:r>
            <a:r>
              <a:rPr lang="es" sz="1050">
                <a:solidFill>
                  <a:srgbClr val="D4D4D4"/>
                </a:solidFill>
                <a:latin typeface="Courier New"/>
                <a:ea typeface="Courier New"/>
                <a:cs typeface="Courier New"/>
                <a:sym typeface="Courier New"/>
              </a:rPr>
              <a:t> = </a:t>
            </a:r>
            <a:r>
              <a:rPr lang="es" sz="1050">
                <a:solidFill>
                  <a:srgbClr val="B5CEA8"/>
                </a:solidFill>
                <a:latin typeface="Courier New"/>
                <a:ea typeface="Courier New"/>
                <a:cs typeface="Courier New"/>
                <a:sym typeface="Courier New"/>
              </a:rPr>
              <a:t>3</a:t>
            </a: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C586C0"/>
                </a:solidFill>
                <a:latin typeface="Courier New"/>
                <a:ea typeface="Courier New"/>
                <a:cs typeface="Courier New"/>
                <a:sym typeface="Courier New"/>
              </a:rPr>
              <a:t>return</a:t>
            </a:r>
            <a:r>
              <a:rPr lang="es" sz="1050">
                <a:solidFill>
                  <a:srgbClr val="D4D4D4"/>
                </a:solidFill>
                <a:latin typeface="Courier New"/>
                <a:ea typeface="Courier New"/>
                <a:cs typeface="Courier New"/>
                <a:sym typeface="Courier New"/>
              </a:rPr>
              <a:t> </a:t>
            </a:r>
            <a:r>
              <a:rPr lang="es" sz="1050">
                <a:solidFill>
                  <a:srgbClr val="CE9178"/>
                </a:solidFill>
                <a:latin typeface="Courier New"/>
                <a:ea typeface="Courier New"/>
                <a:cs typeface="Courier New"/>
                <a:sym typeface="Courier New"/>
              </a:rPr>
              <a:t>"Valor de x = "</a:t>
            </a:r>
            <a:r>
              <a:rPr lang="es" sz="1050">
                <a:solidFill>
                  <a:srgbClr val="D4D4D4"/>
                </a:solidFill>
                <a:latin typeface="Courier New"/>
                <a:ea typeface="Courier New"/>
                <a:cs typeface="Courier New"/>
                <a:sym typeface="Courier New"/>
              </a:rPr>
              <a:t> + </a:t>
            </a:r>
            <a:r>
              <a:rPr lang="es" sz="1050">
                <a:solidFill>
                  <a:srgbClr val="9CDCFE"/>
                </a:solidFill>
                <a:latin typeface="Courier New"/>
                <a:ea typeface="Courier New"/>
                <a:cs typeface="Courier New"/>
                <a:sym typeface="Courier New"/>
              </a:rPr>
              <a:t>x</a:t>
            </a: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alert</a:t>
            </a: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nombreFuncion</a:t>
            </a:r>
            <a:r>
              <a:rPr lang="es" sz="1050">
                <a:solidFill>
                  <a:srgbClr val="D4D4D4"/>
                </a:solidFill>
                <a:latin typeface="Courier New"/>
                <a:ea typeface="Courier New"/>
                <a:cs typeface="Courier New"/>
                <a:sym typeface="Courier New"/>
              </a:rPr>
              <a:t>(</a:t>
            </a:r>
            <a:r>
              <a:rPr lang="es" sz="1050">
                <a:solidFill>
                  <a:srgbClr val="9CDCFE"/>
                </a:solidFill>
                <a:latin typeface="Courier New"/>
                <a:ea typeface="Courier New"/>
                <a:cs typeface="Courier New"/>
                <a:sym typeface="Courier New"/>
              </a:rPr>
              <a:t>a</a:t>
            </a: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alert</a:t>
            </a:r>
            <a:r>
              <a:rPr lang="es" sz="1050">
                <a:solidFill>
                  <a:srgbClr val="D4D4D4"/>
                </a:solidFill>
                <a:latin typeface="Courier New"/>
                <a:ea typeface="Courier New"/>
                <a:cs typeface="Courier New"/>
                <a:sym typeface="Courier New"/>
              </a:rPr>
              <a:t> (</a:t>
            </a:r>
            <a:r>
              <a:rPr lang="es" sz="1050">
                <a:solidFill>
                  <a:srgbClr val="CE9178"/>
                </a:solidFill>
                <a:latin typeface="Courier New"/>
                <a:ea typeface="Courier New"/>
                <a:cs typeface="Courier New"/>
                <a:sym typeface="Courier New"/>
              </a:rPr>
              <a:t>"Valor de a = "</a:t>
            </a:r>
            <a:r>
              <a:rPr lang="es" sz="1050">
                <a:solidFill>
                  <a:srgbClr val="D4D4D4"/>
                </a:solidFill>
                <a:latin typeface="Courier New"/>
                <a:ea typeface="Courier New"/>
                <a:cs typeface="Courier New"/>
                <a:sym typeface="Courier New"/>
              </a:rPr>
              <a:t> + </a:t>
            </a:r>
            <a:r>
              <a:rPr lang="es" sz="1050">
                <a:solidFill>
                  <a:srgbClr val="9CDCFE"/>
                </a:solidFill>
                <a:latin typeface="Courier New"/>
                <a:ea typeface="Courier New"/>
                <a:cs typeface="Courier New"/>
                <a:sym typeface="Courier New"/>
              </a:rPr>
              <a:t>a</a:t>
            </a: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script</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head</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body</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body</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html</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p:txBody>
      </p:sp>
      <p:sp>
        <p:nvSpPr>
          <p:cNvPr id="154" name="Google Shape;154;p21"/>
          <p:cNvSpPr txBox="1"/>
          <p:nvPr/>
        </p:nvSpPr>
        <p:spPr>
          <a:xfrm>
            <a:off x="4662350" y="822275"/>
            <a:ext cx="4209900" cy="4017300"/>
          </a:xfrm>
          <a:prstGeom prst="rect">
            <a:avLst/>
          </a:prstGeom>
          <a:solidFill>
            <a:srgbClr val="434343"/>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DOCTYPE</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html</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html</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head</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script</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569CD6"/>
                </a:solidFill>
                <a:latin typeface="Courier New"/>
                <a:ea typeface="Courier New"/>
                <a:cs typeface="Courier New"/>
                <a:sym typeface="Courier New"/>
              </a:rPr>
              <a:t>var</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objetoA</a:t>
            </a:r>
            <a:r>
              <a:rPr lang="es" sz="1050">
                <a:solidFill>
                  <a:srgbClr val="D4D4D4"/>
                </a:solidFill>
                <a:latin typeface="Courier New"/>
                <a:ea typeface="Courier New"/>
                <a:cs typeface="Courier New"/>
                <a:sym typeface="Courier New"/>
              </a:rPr>
              <a:t> = {</a:t>
            </a:r>
            <a:r>
              <a:rPr lang="es" sz="1050">
                <a:solidFill>
                  <a:srgbClr val="9CDCFE"/>
                </a:solidFill>
                <a:latin typeface="Courier New"/>
                <a:ea typeface="Courier New"/>
                <a:cs typeface="Courier New"/>
                <a:sym typeface="Courier New"/>
              </a:rPr>
              <a:t>a:</a:t>
            </a:r>
            <a:r>
              <a:rPr lang="es" sz="1050">
                <a:solidFill>
                  <a:srgbClr val="B5CEA8"/>
                </a:solidFill>
                <a:latin typeface="Courier New"/>
                <a:ea typeface="Courier New"/>
                <a:cs typeface="Courier New"/>
                <a:sym typeface="Courier New"/>
              </a:rPr>
              <a:t>1</a:t>
            </a:r>
            <a:r>
              <a:rPr lang="es" sz="1050">
                <a:solidFill>
                  <a:srgbClr val="D4D4D4"/>
                </a:solidFill>
                <a:latin typeface="Courier New"/>
                <a:ea typeface="Courier New"/>
                <a:cs typeface="Courier New"/>
                <a:sym typeface="Courier New"/>
              </a:rPr>
              <a:t> , </a:t>
            </a:r>
            <a:r>
              <a:rPr lang="es" sz="1050">
                <a:solidFill>
                  <a:srgbClr val="9CDCFE"/>
                </a:solidFill>
                <a:latin typeface="Courier New"/>
                <a:ea typeface="Courier New"/>
                <a:cs typeface="Courier New"/>
                <a:sym typeface="Courier New"/>
              </a:rPr>
              <a:t>b :</a:t>
            </a:r>
            <a:r>
              <a:rPr lang="es" sz="1050">
                <a:solidFill>
                  <a:srgbClr val="D4D4D4"/>
                </a:solidFill>
                <a:latin typeface="Courier New"/>
                <a:ea typeface="Courier New"/>
                <a:cs typeface="Courier New"/>
                <a:sym typeface="Courier New"/>
              </a:rPr>
              <a:t> </a:t>
            </a:r>
            <a:r>
              <a:rPr lang="es" sz="1050">
                <a:solidFill>
                  <a:srgbClr val="CE9178"/>
                </a:solidFill>
                <a:latin typeface="Courier New"/>
                <a:ea typeface="Courier New"/>
                <a:cs typeface="Courier New"/>
                <a:sym typeface="Courier New"/>
              </a:rPr>
              <a:t>"Hola"</a:t>
            </a: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569CD6"/>
                </a:solidFill>
                <a:latin typeface="Courier New"/>
                <a:ea typeface="Courier New"/>
                <a:cs typeface="Courier New"/>
                <a:sym typeface="Courier New"/>
              </a:rPr>
              <a:t>function</a:t>
            </a: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nombreFuncion</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x</a:t>
            </a: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6A9955"/>
                </a:solidFill>
                <a:latin typeface="Courier New"/>
                <a:ea typeface="Courier New"/>
                <a:cs typeface="Courier New"/>
                <a:sym typeface="Courier New"/>
              </a:rPr>
              <a:t>// código a ejecutar;</a:t>
            </a:r>
            <a:endParaRPr sz="1050">
              <a:solidFill>
                <a:srgbClr val="6A9955"/>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x</a:t>
            </a:r>
            <a:r>
              <a:rPr lang="es" sz="1050">
                <a:solidFill>
                  <a:srgbClr val="D4D4D4"/>
                </a:solidFill>
                <a:latin typeface="Courier New"/>
                <a:ea typeface="Courier New"/>
                <a:cs typeface="Courier New"/>
                <a:sym typeface="Courier New"/>
              </a:rPr>
              <a:t>.</a:t>
            </a:r>
            <a:r>
              <a:rPr lang="es" sz="1050">
                <a:solidFill>
                  <a:srgbClr val="9CDCFE"/>
                </a:solidFill>
                <a:latin typeface="Courier New"/>
                <a:ea typeface="Courier New"/>
                <a:cs typeface="Courier New"/>
                <a:sym typeface="Courier New"/>
              </a:rPr>
              <a:t>a</a:t>
            </a:r>
            <a:r>
              <a:rPr lang="es" sz="1050">
                <a:solidFill>
                  <a:srgbClr val="D4D4D4"/>
                </a:solidFill>
                <a:latin typeface="Courier New"/>
                <a:ea typeface="Courier New"/>
                <a:cs typeface="Courier New"/>
                <a:sym typeface="Courier New"/>
              </a:rPr>
              <a:t> = </a:t>
            </a:r>
            <a:r>
              <a:rPr lang="es" sz="1050">
                <a:solidFill>
                  <a:srgbClr val="B5CEA8"/>
                </a:solidFill>
                <a:latin typeface="Courier New"/>
                <a:ea typeface="Courier New"/>
                <a:cs typeface="Courier New"/>
                <a:sym typeface="Courier New"/>
              </a:rPr>
              <a:t>3</a:t>
            </a: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C586C0"/>
                </a:solidFill>
                <a:latin typeface="Courier New"/>
                <a:ea typeface="Courier New"/>
                <a:cs typeface="Courier New"/>
                <a:sym typeface="Courier New"/>
              </a:rPr>
              <a:t>return</a:t>
            </a:r>
            <a:r>
              <a:rPr lang="es" sz="1050">
                <a:solidFill>
                  <a:srgbClr val="D4D4D4"/>
                </a:solidFill>
                <a:latin typeface="Courier New"/>
                <a:ea typeface="Courier New"/>
                <a:cs typeface="Courier New"/>
                <a:sym typeface="Courier New"/>
              </a:rPr>
              <a:t> </a:t>
            </a:r>
            <a:r>
              <a:rPr lang="es" sz="1050">
                <a:solidFill>
                  <a:srgbClr val="CE9178"/>
                </a:solidFill>
                <a:latin typeface="Courier New"/>
                <a:ea typeface="Courier New"/>
                <a:cs typeface="Courier New"/>
                <a:sym typeface="Courier New"/>
              </a:rPr>
              <a:t>"Valor de x = "</a:t>
            </a:r>
            <a:r>
              <a:rPr lang="es" sz="1050">
                <a:solidFill>
                  <a:srgbClr val="D4D4D4"/>
                </a:solidFill>
                <a:latin typeface="Courier New"/>
                <a:ea typeface="Courier New"/>
                <a:cs typeface="Courier New"/>
                <a:sym typeface="Courier New"/>
              </a:rPr>
              <a:t> + </a:t>
            </a:r>
            <a:r>
              <a:rPr lang="es" sz="1050">
                <a:solidFill>
                  <a:srgbClr val="9CDCFE"/>
                </a:solidFill>
                <a:latin typeface="Courier New"/>
                <a:ea typeface="Courier New"/>
                <a:cs typeface="Courier New"/>
                <a:sym typeface="Courier New"/>
              </a:rPr>
              <a:t>x</a:t>
            </a:r>
            <a:r>
              <a:rPr lang="es" sz="1050">
                <a:solidFill>
                  <a:srgbClr val="D4D4D4"/>
                </a:solidFill>
                <a:latin typeface="Courier New"/>
                <a:ea typeface="Courier New"/>
                <a:cs typeface="Courier New"/>
                <a:sym typeface="Courier New"/>
              </a:rPr>
              <a:t>.</a:t>
            </a:r>
            <a:r>
              <a:rPr lang="es" sz="1050">
                <a:solidFill>
                  <a:srgbClr val="9CDCFE"/>
                </a:solidFill>
                <a:latin typeface="Courier New"/>
                <a:ea typeface="Courier New"/>
                <a:cs typeface="Courier New"/>
                <a:sym typeface="Courier New"/>
              </a:rPr>
              <a:t>a</a:t>
            </a: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alert</a:t>
            </a:r>
            <a:r>
              <a:rPr lang="es" sz="1050">
                <a:solidFill>
                  <a:srgbClr val="D4D4D4"/>
                </a:solidFill>
                <a:latin typeface="Courier New"/>
                <a:ea typeface="Courier New"/>
                <a:cs typeface="Courier New"/>
                <a:sym typeface="Courier New"/>
              </a:rPr>
              <a:t> (</a:t>
            </a:r>
            <a:r>
              <a:rPr lang="es" sz="1050">
                <a:solidFill>
                  <a:srgbClr val="CE9178"/>
                </a:solidFill>
                <a:latin typeface="Courier New"/>
                <a:ea typeface="Courier New"/>
                <a:cs typeface="Courier New"/>
                <a:sym typeface="Courier New"/>
              </a:rPr>
              <a:t>"Valor de a = "</a:t>
            </a:r>
            <a:r>
              <a:rPr lang="es" sz="1050">
                <a:solidFill>
                  <a:srgbClr val="D4D4D4"/>
                </a:solidFill>
                <a:latin typeface="Courier New"/>
                <a:ea typeface="Courier New"/>
                <a:cs typeface="Courier New"/>
                <a:sym typeface="Courier New"/>
              </a:rPr>
              <a:t> + </a:t>
            </a:r>
            <a:r>
              <a:rPr lang="es" sz="1050">
                <a:solidFill>
                  <a:srgbClr val="9CDCFE"/>
                </a:solidFill>
                <a:latin typeface="Courier New"/>
                <a:ea typeface="Courier New"/>
                <a:cs typeface="Courier New"/>
                <a:sym typeface="Courier New"/>
              </a:rPr>
              <a:t>objetoA</a:t>
            </a:r>
            <a:r>
              <a:rPr lang="es" sz="1050">
                <a:solidFill>
                  <a:srgbClr val="D4D4D4"/>
                </a:solidFill>
                <a:latin typeface="Courier New"/>
                <a:ea typeface="Courier New"/>
                <a:cs typeface="Courier New"/>
                <a:sym typeface="Courier New"/>
              </a:rPr>
              <a:t>.</a:t>
            </a:r>
            <a:r>
              <a:rPr lang="es" sz="1050">
                <a:solidFill>
                  <a:srgbClr val="9CDCFE"/>
                </a:solidFill>
                <a:latin typeface="Courier New"/>
                <a:ea typeface="Courier New"/>
                <a:cs typeface="Courier New"/>
                <a:sym typeface="Courier New"/>
              </a:rPr>
              <a:t>a</a:t>
            </a: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alert</a:t>
            </a: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nombreFuncion</a:t>
            </a:r>
            <a:r>
              <a:rPr lang="es" sz="1050">
                <a:solidFill>
                  <a:srgbClr val="D4D4D4"/>
                </a:solidFill>
                <a:latin typeface="Courier New"/>
                <a:ea typeface="Courier New"/>
                <a:cs typeface="Courier New"/>
                <a:sym typeface="Courier New"/>
              </a:rPr>
              <a:t>(</a:t>
            </a:r>
            <a:r>
              <a:rPr lang="es" sz="1050">
                <a:solidFill>
                  <a:srgbClr val="9CDCFE"/>
                </a:solidFill>
                <a:latin typeface="Courier New"/>
                <a:ea typeface="Courier New"/>
                <a:cs typeface="Courier New"/>
                <a:sym typeface="Courier New"/>
              </a:rPr>
              <a:t>objetoA</a:t>
            </a: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alert</a:t>
            </a:r>
            <a:r>
              <a:rPr lang="es" sz="1050">
                <a:solidFill>
                  <a:srgbClr val="D4D4D4"/>
                </a:solidFill>
                <a:latin typeface="Courier New"/>
                <a:ea typeface="Courier New"/>
                <a:cs typeface="Courier New"/>
                <a:sym typeface="Courier New"/>
              </a:rPr>
              <a:t> (</a:t>
            </a:r>
            <a:r>
              <a:rPr lang="es" sz="1050">
                <a:solidFill>
                  <a:srgbClr val="CE9178"/>
                </a:solidFill>
                <a:latin typeface="Courier New"/>
                <a:ea typeface="Courier New"/>
                <a:cs typeface="Courier New"/>
                <a:sym typeface="Courier New"/>
              </a:rPr>
              <a:t>"Valor de a = "</a:t>
            </a:r>
            <a:r>
              <a:rPr lang="es" sz="1050">
                <a:solidFill>
                  <a:srgbClr val="D4D4D4"/>
                </a:solidFill>
                <a:latin typeface="Courier New"/>
                <a:ea typeface="Courier New"/>
                <a:cs typeface="Courier New"/>
                <a:sym typeface="Courier New"/>
              </a:rPr>
              <a:t> + </a:t>
            </a:r>
            <a:r>
              <a:rPr lang="es" sz="1050">
                <a:solidFill>
                  <a:srgbClr val="9CDCFE"/>
                </a:solidFill>
                <a:latin typeface="Courier New"/>
                <a:ea typeface="Courier New"/>
                <a:cs typeface="Courier New"/>
                <a:sym typeface="Courier New"/>
              </a:rPr>
              <a:t>objetoA</a:t>
            </a:r>
            <a:r>
              <a:rPr lang="es" sz="1050">
                <a:solidFill>
                  <a:srgbClr val="D4D4D4"/>
                </a:solidFill>
                <a:latin typeface="Courier New"/>
                <a:ea typeface="Courier New"/>
                <a:cs typeface="Courier New"/>
                <a:sym typeface="Courier New"/>
              </a:rPr>
              <a:t>.</a:t>
            </a:r>
            <a:r>
              <a:rPr lang="es" sz="1050">
                <a:solidFill>
                  <a:srgbClr val="9CDCFE"/>
                </a:solidFill>
                <a:latin typeface="Courier New"/>
                <a:ea typeface="Courier New"/>
                <a:cs typeface="Courier New"/>
                <a:sym typeface="Courier New"/>
              </a:rPr>
              <a:t>a</a:t>
            </a: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script</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head</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body</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body</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html</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2"/>
          <p:cNvSpPr txBox="1">
            <a:spLocks noGrp="1"/>
          </p:cNvSpPr>
          <p:nvPr>
            <p:ph type="title" idx="4294967295"/>
          </p:nvPr>
        </p:nvSpPr>
        <p:spPr>
          <a:xfrm>
            <a:off x="0" y="20002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2000"/>
              <a:t>Ámbito o alcance de las variables.</a:t>
            </a:r>
            <a:endParaRPr/>
          </a:p>
        </p:txBody>
      </p:sp>
      <p:sp>
        <p:nvSpPr>
          <p:cNvPr id="160" name="Google Shape;160;p22"/>
          <p:cNvSpPr txBox="1">
            <a:spLocks noGrp="1"/>
          </p:cNvSpPr>
          <p:nvPr>
            <p:ph type="body" idx="4294967295"/>
          </p:nvPr>
        </p:nvSpPr>
        <p:spPr>
          <a:xfrm>
            <a:off x="0" y="695325"/>
            <a:ext cx="8521700" cy="38608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s"/>
              <a:t>En JS las variables pueden ser </a:t>
            </a:r>
            <a:r>
              <a:rPr lang="es" b="1"/>
              <a:t>locales</a:t>
            </a:r>
            <a:r>
              <a:rPr lang="es"/>
              <a:t> o </a:t>
            </a:r>
            <a:r>
              <a:rPr lang="es" b="1"/>
              <a:t>globales.</a:t>
            </a:r>
            <a:r>
              <a:rPr lang="es"/>
              <a:t> Las variables </a:t>
            </a:r>
            <a:r>
              <a:rPr lang="es" b="1"/>
              <a:t>locales</a:t>
            </a:r>
            <a:r>
              <a:rPr lang="es"/>
              <a:t> sólo se conocen dentro de la función definida. Pueden ser usada hasta que se cierra dicha función.</a:t>
            </a:r>
            <a:endParaRPr/>
          </a:p>
          <a:p>
            <a:pPr marL="457200" lvl="0" indent="-342900" algn="l" rtl="0">
              <a:spcBef>
                <a:spcPts val="0"/>
              </a:spcBef>
              <a:spcAft>
                <a:spcPts val="0"/>
              </a:spcAft>
              <a:buSzPts val="1800"/>
              <a:buChar char="●"/>
            </a:pPr>
            <a:r>
              <a:rPr lang="es"/>
              <a:t>Las variables </a:t>
            </a:r>
            <a:r>
              <a:rPr lang="es" b="1"/>
              <a:t>globales</a:t>
            </a:r>
            <a:r>
              <a:rPr lang="es"/>
              <a:t> pueden ser usadas por cualquier función u objeto del documento o ventana. Permanece activa mientras no se cierre la ventana del navegador.</a:t>
            </a:r>
            <a:endParaRPr/>
          </a:p>
          <a:p>
            <a:pPr marL="457200" lvl="0" indent="-342900" algn="l" rtl="0">
              <a:spcBef>
                <a:spcPts val="0"/>
              </a:spcBef>
              <a:spcAft>
                <a:spcPts val="0"/>
              </a:spcAft>
              <a:buSzPts val="1800"/>
              <a:buChar char="●"/>
            </a:pPr>
            <a:r>
              <a:rPr lang="es"/>
              <a:t>Las variables creadas sin “</a:t>
            </a:r>
            <a:r>
              <a:rPr lang="es" b="1"/>
              <a:t>var</a:t>
            </a:r>
            <a:r>
              <a:rPr lang="es"/>
              <a:t>” son definidas como globales incluso dentro de una función.</a:t>
            </a:r>
            <a:endParaRPr/>
          </a:p>
          <a:p>
            <a:pPr marL="457200" lvl="0" indent="-342900" algn="l" rtl="0">
              <a:spcBef>
                <a:spcPts val="0"/>
              </a:spcBef>
              <a:spcAft>
                <a:spcPts val="0"/>
              </a:spcAft>
              <a:buSzPts val="1800"/>
              <a:buChar char="●"/>
            </a:pPr>
            <a:r>
              <a:rPr lang="es"/>
              <a:t>Una función puede hacer uso de cualquier variable que esté definida por encima de ella jerárquicamente. </a:t>
            </a:r>
            <a:endParaRPr/>
          </a:p>
          <a:p>
            <a:pPr marL="457200" lvl="0" indent="-342900" algn="l" rtl="0">
              <a:spcBef>
                <a:spcPts val="0"/>
              </a:spcBef>
              <a:spcAft>
                <a:spcPts val="0"/>
              </a:spcAft>
              <a:buSzPts val="1800"/>
              <a:buChar char="●"/>
            </a:pPr>
            <a:r>
              <a:rPr lang="es"/>
              <a:t>Si declaramos con </a:t>
            </a:r>
            <a:r>
              <a:rPr lang="es" b="1"/>
              <a:t>let</a:t>
            </a:r>
            <a:r>
              <a:rPr lang="es"/>
              <a:t> una variable su alcance será sólo el del bloque donde se ha declarado entre </a:t>
            </a:r>
            <a:r>
              <a:rPr lang="es" b="1"/>
              <a:t>{ }</a:t>
            </a:r>
            <a:r>
              <a:rPr lang="es"/>
              <a:t> , incluso en </a:t>
            </a:r>
            <a:r>
              <a:rPr lang="es" b="1"/>
              <a:t>bucles</a:t>
            </a:r>
            <a:r>
              <a:rPr lang="es"/>
              <a:t> ó </a:t>
            </a:r>
            <a:r>
              <a:rPr lang="es" b="1"/>
              <a:t>if</a:t>
            </a:r>
            <a:r>
              <a:rPr lang="es"/>
              <a:t>. Ver ejemplo a continuación.</a:t>
            </a:r>
            <a:endParaRPr/>
          </a:p>
          <a:p>
            <a:pPr marL="0" lvl="0" indent="0" algn="l" rtl="0">
              <a:spcBef>
                <a:spcPts val="1600"/>
              </a:spcBef>
              <a:spcAft>
                <a:spcPts val="160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3"/>
          <p:cNvSpPr txBox="1"/>
          <p:nvPr/>
        </p:nvSpPr>
        <p:spPr>
          <a:xfrm>
            <a:off x="304800" y="304800"/>
            <a:ext cx="4669500" cy="4302900"/>
          </a:xfrm>
          <a:prstGeom prst="rect">
            <a:avLst/>
          </a:prstGeom>
          <a:solidFill>
            <a:srgbClr val="434343"/>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DOCTYPE</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html</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html</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head</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script</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569CD6"/>
                </a:solidFill>
                <a:latin typeface="Courier New"/>
                <a:ea typeface="Courier New"/>
                <a:cs typeface="Courier New"/>
                <a:sym typeface="Courier New"/>
              </a:rPr>
              <a:t>var</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x</a:t>
            </a:r>
            <a:r>
              <a:rPr lang="es" sz="1050">
                <a:solidFill>
                  <a:srgbClr val="D4D4D4"/>
                </a:solidFill>
                <a:latin typeface="Courier New"/>
                <a:ea typeface="Courier New"/>
                <a:cs typeface="Courier New"/>
                <a:sym typeface="Courier New"/>
              </a:rPr>
              <a:t> = </a:t>
            </a:r>
            <a:r>
              <a:rPr lang="es" sz="1050">
                <a:solidFill>
                  <a:srgbClr val="B5CEA8"/>
                </a:solidFill>
                <a:latin typeface="Courier New"/>
                <a:ea typeface="Courier New"/>
                <a:cs typeface="Courier New"/>
                <a:sym typeface="Courier New"/>
              </a:rPr>
              <a:t>0</a:t>
            </a:r>
            <a:r>
              <a:rPr lang="es" sz="1050">
                <a:solidFill>
                  <a:srgbClr val="D4D4D4"/>
                </a:solidFill>
                <a:latin typeface="Courier New"/>
                <a:ea typeface="Courier New"/>
                <a:cs typeface="Courier New"/>
                <a:sym typeface="Courier New"/>
              </a:rPr>
              <a:t> ; </a:t>
            </a:r>
            <a:r>
              <a:rPr lang="es" sz="1050">
                <a:solidFill>
                  <a:srgbClr val="6A9955"/>
                </a:solidFill>
                <a:latin typeface="Courier New"/>
                <a:ea typeface="Courier New"/>
                <a:cs typeface="Courier New"/>
                <a:sym typeface="Courier New"/>
              </a:rPr>
              <a:t>// Alcance global</a:t>
            </a:r>
            <a:endParaRPr sz="1050">
              <a:solidFill>
                <a:srgbClr val="6A9955"/>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569CD6"/>
                </a:solidFill>
                <a:latin typeface="Courier New"/>
                <a:ea typeface="Courier New"/>
                <a:cs typeface="Courier New"/>
                <a:sym typeface="Courier New"/>
              </a:rPr>
              <a:t>function</a:t>
            </a: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cambia</a:t>
            </a:r>
            <a:r>
              <a:rPr lang="es" sz="1050">
                <a:solidFill>
                  <a:srgbClr val="D4D4D4"/>
                </a:solidFill>
                <a:latin typeface="Courier New"/>
                <a:ea typeface="Courier New"/>
                <a:cs typeface="Courier New"/>
                <a:sym typeface="Courier New"/>
              </a:rPr>
              <a:t> () {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569CD6"/>
                </a:solidFill>
                <a:latin typeface="Courier New"/>
                <a:ea typeface="Courier New"/>
                <a:cs typeface="Courier New"/>
                <a:sym typeface="Courier New"/>
              </a:rPr>
              <a:t>var</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x</a:t>
            </a:r>
            <a:r>
              <a:rPr lang="es" sz="1050">
                <a:solidFill>
                  <a:srgbClr val="D4D4D4"/>
                </a:solidFill>
                <a:latin typeface="Courier New"/>
                <a:ea typeface="Courier New"/>
                <a:cs typeface="Courier New"/>
                <a:sym typeface="Courier New"/>
              </a:rPr>
              <a:t> = </a:t>
            </a:r>
            <a:r>
              <a:rPr lang="es" sz="1050">
                <a:solidFill>
                  <a:srgbClr val="B5CEA8"/>
                </a:solidFill>
                <a:latin typeface="Courier New"/>
                <a:ea typeface="Courier New"/>
                <a:cs typeface="Courier New"/>
                <a:sym typeface="Courier New"/>
              </a:rPr>
              <a:t>1</a:t>
            </a:r>
            <a:r>
              <a:rPr lang="es" sz="1050">
                <a:solidFill>
                  <a:srgbClr val="D4D4D4"/>
                </a:solidFill>
                <a:latin typeface="Courier New"/>
                <a:ea typeface="Courier New"/>
                <a:cs typeface="Courier New"/>
                <a:sym typeface="Courier New"/>
              </a:rPr>
              <a:t>; </a:t>
            </a:r>
            <a:r>
              <a:rPr lang="es" sz="1050">
                <a:solidFill>
                  <a:srgbClr val="6A9955"/>
                </a:solidFill>
                <a:latin typeface="Courier New"/>
                <a:ea typeface="Courier New"/>
                <a:cs typeface="Courier New"/>
                <a:sym typeface="Courier New"/>
              </a:rPr>
              <a:t>// Alcance local a función</a:t>
            </a:r>
            <a:endParaRPr sz="1050">
              <a:solidFill>
                <a:srgbClr val="6A9955"/>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cambia</a:t>
            </a: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alert</a:t>
            </a:r>
            <a:r>
              <a:rPr lang="es" sz="1050">
                <a:solidFill>
                  <a:srgbClr val="D4D4D4"/>
                </a:solidFill>
                <a:latin typeface="Courier New"/>
                <a:ea typeface="Courier New"/>
                <a:cs typeface="Courier New"/>
                <a:sym typeface="Courier New"/>
              </a:rPr>
              <a:t> (</a:t>
            </a:r>
            <a:r>
              <a:rPr lang="es" sz="1050">
                <a:solidFill>
                  <a:srgbClr val="CE9178"/>
                </a:solidFill>
                <a:latin typeface="Courier New"/>
                <a:ea typeface="Courier New"/>
                <a:cs typeface="Courier New"/>
                <a:sym typeface="Courier New"/>
              </a:rPr>
              <a:t>"Valor de x : "</a:t>
            </a:r>
            <a:r>
              <a:rPr lang="es" sz="1050">
                <a:solidFill>
                  <a:srgbClr val="D4D4D4"/>
                </a:solidFill>
                <a:latin typeface="Courier New"/>
                <a:ea typeface="Courier New"/>
                <a:cs typeface="Courier New"/>
                <a:sym typeface="Courier New"/>
              </a:rPr>
              <a:t> + </a:t>
            </a:r>
            <a:r>
              <a:rPr lang="es" sz="1050">
                <a:solidFill>
                  <a:srgbClr val="9CDCFE"/>
                </a:solidFill>
                <a:latin typeface="Courier New"/>
                <a:ea typeface="Courier New"/>
                <a:cs typeface="Courier New"/>
                <a:sym typeface="Courier New"/>
              </a:rPr>
              <a:t>x</a:t>
            </a: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569CD6"/>
                </a:solidFill>
                <a:latin typeface="Courier New"/>
                <a:ea typeface="Courier New"/>
                <a:cs typeface="Courier New"/>
                <a:sym typeface="Courier New"/>
              </a:rPr>
              <a:t>let</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x</a:t>
            </a:r>
            <a:r>
              <a:rPr lang="es" sz="1050">
                <a:solidFill>
                  <a:srgbClr val="D4D4D4"/>
                </a:solidFill>
                <a:latin typeface="Courier New"/>
                <a:ea typeface="Courier New"/>
                <a:cs typeface="Courier New"/>
                <a:sym typeface="Courier New"/>
              </a:rPr>
              <a:t> = </a:t>
            </a:r>
            <a:r>
              <a:rPr lang="es" sz="1050">
                <a:solidFill>
                  <a:srgbClr val="B5CEA8"/>
                </a:solidFill>
                <a:latin typeface="Courier New"/>
                <a:ea typeface="Courier New"/>
                <a:cs typeface="Courier New"/>
                <a:sym typeface="Courier New"/>
              </a:rPr>
              <a:t>3</a:t>
            </a:r>
            <a:r>
              <a:rPr lang="es" sz="1050">
                <a:solidFill>
                  <a:srgbClr val="D4D4D4"/>
                </a:solidFill>
                <a:latin typeface="Courier New"/>
                <a:ea typeface="Courier New"/>
                <a:cs typeface="Courier New"/>
                <a:sym typeface="Courier New"/>
              </a:rPr>
              <a:t> ; </a:t>
            </a:r>
            <a:r>
              <a:rPr lang="es" sz="1050">
                <a:solidFill>
                  <a:srgbClr val="6A9955"/>
                </a:solidFill>
                <a:latin typeface="Courier New"/>
                <a:ea typeface="Courier New"/>
                <a:cs typeface="Courier New"/>
                <a:sym typeface="Courier New"/>
              </a:rPr>
              <a:t>// Alcance de bloque</a:t>
            </a:r>
            <a:endParaRPr sz="1050">
              <a:solidFill>
                <a:srgbClr val="6A9955"/>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alert</a:t>
            </a:r>
            <a:r>
              <a:rPr lang="es" sz="1050">
                <a:solidFill>
                  <a:srgbClr val="D4D4D4"/>
                </a:solidFill>
                <a:latin typeface="Courier New"/>
                <a:ea typeface="Courier New"/>
                <a:cs typeface="Courier New"/>
                <a:sym typeface="Courier New"/>
              </a:rPr>
              <a:t> (</a:t>
            </a:r>
            <a:r>
              <a:rPr lang="es" sz="1050">
                <a:solidFill>
                  <a:srgbClr val="CE9178"/>
                </a:solidFill>
                <a:latin typeface="Courier New"/>
                <a:ea typeface="Courier New"/>
                <a:cs typeface="Courier New"/>
                <a:sym typeface="Courier New"/>
              </a:rPr>
              <a:t>"Valor de x : "</a:t>
            </a:r>
            <a:r>
              <a:rPr lang="es" sz="1050">
                <a:solidFill>
                  <a:srgbClr val="D4D4D4"/>
                </a:solidFill>
                <a:latin typeface="Courier New"/>
                <a:ea typeface="Courier New"/>
                <a:cs typeface="Courier New"/>
                <a:sym typeface="Courier New"/>
              </a:rPr>
              <a:t> + </a:t>
            </a:r>
            <a:r>
              <a:rPr lang="es" sz="1050">
                <a:solidFill>
                  <a:srgbClr val="9CDCFE"/>
                </a:solidFill>
                <a:latin typeface="Courier New"/>
                <a:ea typeface="Courier New"/>
                <a:cs typeface="Courier New"/>
                <a:sym typeface="Courier New"/>
              </a:rPr>
              <a:t>x</a:t>
            </a: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script</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head</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body</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body</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html</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p:txBody>
      </p:sp>
      <p:sp>
        <p:nvSpPr>
          <p:cNvPr id="166" name="Google Shape;166;p23"/>
          <p:cNvSpPr txBox="1"/>
          <p:nvPr/>
        </p:nvSpPr>
        <p:spPr>
          <a:xfrm>
            <a:off x="5516175" y="450050"/>
            <a:ext cx="3118200" cy="361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a:latin typeface="Roboto"/>
                <a:ea typeface="Roboto"/>
                <a:cs typeface="Roboto"/>
                <a:sym typeface="Roboto"/>
              </a:rPr>
              <a:t>Comprobar qué valores de x muestran los mensajes.</a:t>
            </a:r>
            <a:endParaRPr>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4"/>
          <p:cNvSpPr txBox="1">
            <a:spLocks noGrp="1"/>
          </p:cNvSpPr>
          <p:nvPr>
            <p:ph type="body" idx="4294967295"/>
          </p:nvPr>
        </p:nvSpPr>
        <p:spPr>
          <a:xfrm>
            <a:off x="0" y="396875"/>
            <a:ext cx="8521700" cy="4171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Según las buenas prácticas de programación es aconsejable ( si es posible ) no usar variables globales para evitar cambios por código no deseados. De esta forma nos encontramos con un pequeño problema para dar solución a lo siguiente :</a:t>
            </a:r>
            <a:endParaRPr/>
          </a:p>
          <a:p>
            <a:pPr marL="0" lvl="0" indent="0" algn="l" rtl="0">
              <a:spcBef>
                <a:spcPts val="1600"/>
              </a:spcBef>
              <a:spcAft>
                <a:spcPts val="0"/>
              </a:spcAft>
              <a:buNone/>
            </a:pPr>
            <a:r>
              <a:rPr lang="es"/>
              <a:t>Queremos usar una variable que actúe como un contador definiendo una función. Para solucionarlo usamos una variable global.</a:t>
            </a:r>
            <a:endParaRPr/>
          </a:p>
          <a:p>
            <a:pPr marL="0" lvl="0" indent="0" algn="l" rtl="0">
              <a:spcBef>
                <a:spcPts val="1600"/>
              </a:spcBef>
              <a:spcAft>
                <a:spcPts val="1600"/>
              </a:spcAft>
              <a:buNone/>
            </a:pPr>
            <a:endParaRPr/>
          </a:p>
        </p:txBody>
      </p:sp>
      <p:sp>
        <p:nvSpPr>
          <p:cNvPr id="172" name="Google Shape;172;p24"/>
          <p:cNvSpPr txBox="1"/>
          <p:nvPr/>
        </p:nvSpPr>
        <p:spPr>
          <a:xfrm>
            <a:off x="1564475" y="2555100"/>
            <a:ext cx="4629000" cy="2327700"/>
          </a:xfrm>
          <a:prstGeom prst="rect">
            <a:avLst/>
          </a:prstGeom>
          <a:solidFill>
            <a:srgbClr val="434343"/>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script</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569CD6"/>
                </a:solidFill>
                <a:latin typeface="Courier New"/>
                <a:ea typeface="Courier New"/>
                <a:cs typeface="Courier New"/>
                <a:sym typeface="Courier New"/>
              </a:rPr>
              <a:t>var</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contador</a:t>
            </a:r>
            <a:r>
              <a:rPr lang="es" sz="1050">
                <a:solidFill>
                  <a:srgbClr val="D4D4D4"/>
                </a:solidFill>
                <a:latin typeface="Courier New"/>
                <a:ea typeface="Courier New"/>
                <a:cs typeface="Courier New"/>
                <a:sym typeface="Courier New"/>
              </a:rPr>
              <a:t> = </a:t>
            </a:r>
            <a:r>
              <a:rPr lang="es" sz="1050">
                <a:solidFill>
                  <a:srgbClr val="B5CEA8"/>
                </a:solidFill>
                <a:latin typeface="Courier New"/>
                <a:ea typeface="Courier New"/>
                <a:cs typeface="Courier New"/>
                <a:sym typeface="Courier New"/>
              </a:rPr>
              <a:t>0</a:t>
            </a: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569CD6"/>
                </a:solidFill>
                <a:latin typeface="Courier New"/>
                <a:ea typeface="Courier New"/>
                <a:cs typeface="Courier New"/>
                <a:sym typeface="Courier New"/>
              </a:rPr>
              <a:t>function</a:t>
            </a: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incrementa</a:t>
            </a:r>
            <a:r>
              <a:rPr lang="es" sz="1050">
                <a:solidFill>
                  <a:srgbClr val="D4D4D4"/>
                </a:solidFill>
                <a:latin typeface="Courier New"/>
                <a:ea typeface="Courier New"/>
                <a:cs typeface="Courier New"/>
                <a:sym typeface="Courier New"/>
              </a:rPr>
              <a:t> ()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6A9955"/>
                </a:solidFill>
                <a:latin typeface="Courier New"/>
                <a:ea typeface="Courier New"/>
                <a:cs typeface="Courier New"/>
                <a:sym typeface="Courier New"/>
              </a:rPr>
              <a:t>// Código ....</a:t>
            </a:r>
            <a:endParaRPr sz="1050">
              <a:solidFill>
                <a:srgbClr val="6A9955"/>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contador</a:t>
            </a: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incrementa</a:t>
            </a: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incrementa</a:t>
            </a: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alert</a:t>
            </a:r>
            <a:r>
              <a:rPr lang="es" sz="1050">
                <a:solidFill>
                  <a:srgbClr val="D4D4D4"/>
                </a:solidFill>
                <a:latin typeface="Courier New"/>
                <a:ea typeface="Courier New"/>
                <a:cs typeface="Courier New"/>
                <a:sym typeface="Courier New"/>
              </a:rPr>
              <a:t> (</a:t>
            </a:r>
            <a:r>
              <a:rPr lang="es" sz="1050">
                <a:solidFill>
                  <a:srgbClr val="CE9178"/>
                </a:solidFill>
                <a:latin typeface="Courier New"/>
                <a:ea typeface="Courier New"/>
                <a:cs typeface="Courier New"/>
                <a:sym typeface="Courier New"/>
              </a:rPr>
              <a:t>"Contador = "</a:t>
            </a:r>
            <a:r>
              <a:rPr lang="es" sz="1050">
                <a:solidFill>
                  <a:srgbClr val="D4D4D4"/>
                </a:solidFill>
                <a:latin typeface="Courier New"/>
                <a:ea typeface="Courier New"/>
                <a:cs typeface="Courier New"/>
                <a:sym typeface="Courier New"/>
              </a:rPr>
              <a:t> + </a:t>
            </a:r>
            <a:r>
              <a:rPr lang="es" sz="1050">
                <a:solidFill>
                  <a:srgbClr val="9CDCFE"/>
                </a:solidFill>
                <a:latin typeface="Courier New"/>
                <a:ea typeface="Courier New"/>
                <a:cs typeface="Courier New"/>
                <a:sym typeface="Courier New"/>
              </a:rPr>
              <a:t>contador</a:t>
            </a:r>
            <a:r>
              <a:rPr lang="es" sz="1050">
                <a:solidFill>
                  <a:srgbClr val="D4D4D4"/>
                </a:solidFill>
                <a:latin typeface="Courier New"/>
                <a:ea typeface="Courier New"/>
                <a:cs typeface="Courier New"/>
                <a:sym typeface="Courier New"/>
              </a:rPr>
              <a:t>); </a:t>
            </a:r>
            <a:r>
              <a:rPr lang="es" sz="1050">
                <a:solidFill>
                  <a:srgbClr val="808080"/>
                </a:solidFill>
                <a:latin typeface="Courier New"/>
                <a:ea typeface="Courier New"/>
                <a:cs typeface="Courier New"/>
                <a:sym typeface="Courier New"/>
              </a:rPr>
              <a:t>// Imprime 2</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script</a:t>
            </a:r>
            <a:r>
              <a:rPr lang="es" sz="1050">
                <a:solidFill>
                  <a:srgbClr val="808080"/>
                </a:solidFill>
                <a:latin typeface="Courier New"/>
                <a:ea typeface="Courier New"/>
                <a:cs typeface="Courier New"/>
                <a:sym typeface="Courier New"/>
              </a:rPr>
              <a:t>&gt; </a:t>
            </a:r>
            <a:endParaRPr sz="1050">
              <a:solidFill>
                <a:srgbClr val="808080"/>
              </a:solidFill>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5"/>
          <p:cNvSpPr txBox="1">
            <a:spLocks noGrp="1"/>
          </p:cNvSpPr>
          <p:nvPr>
            <p:ph type="body" idx="4294967295"/>
          </p:nvPr>
        </p:nvSpPr>
        <p:spPr>
          <a:xfrm>
            <a:off x="0" y="223838"/>
            <a:ext cx="8521700" cy="427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Funciona pero no es lo más correcto porque cualquier código puede cambiar el valor de </a:t>
            </a:r>
            <a:r>
              <a:rPr lang="es" b="1"/>
              <a:t>contador </a:t>
            </a:r>
            <a:r>
              <a:rPr lang="es"/>
              <a:t>sin llamar a la función. Probamos con variable local :</a:t>
            </a: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r>
              <a:rPr lang="es"/>
              <a:t>Debería de imprimir 2, pero se está haciendo uso de la variable global. Podríamos definir sólo “</a:t>
            </a:r>
            <a:r>
              <a:rPr lang="es" b="1"/>
              <a:t>contador” </a:t>
            </a:r>
            <a:r>
              <a:rPr lang="es"/>
              <a:t>local pero se iniciaría a “0” con cada llamada a la función.</a:t>
            </a:r>
            <a:endParaRPr/>
          </a:p>
          <a:p>
            <a:pPr marL="0" lvl="0" indent="0" algn="l" rtl="0">
              <a:spcBef>
                <a:spcPts val="1600"/>
              </a:spcBef>
              <a:spcAft>
                <a:spcPts val="1600"/>
              </a:spcAft>
              <a:buNone/>
            </a:pPr>
            <a:endParaRPr/>
          </a:p>
        </p:txBody>
      </p:sp>
      <p:sp>
        <p:nvSpPr>
          <p:cNvPr id="178" name="Google Shape;178;p25"/>
          <p:cNvSpPr txBox="1"/>
          <p:nvPr/>
        </p:nvSpPr>
        <p:spPr>
          <a:xfrm>
            <a:off x="2046675" y="947725"/>
            <a:ext cx="5775600" cy="2732400"/>
          </a:xfrm>
          <a:prstGeom prst="rect">
            <a:avLst/>
          </a:prstGeom>
          <a:solidFill>
            <a:srgbClr val="434343"/>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script</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569CD6"/>
                </a:solidFill>
                <a:latin typeface="Courier New"/>
                <a:ea typeface="Courier New"/>
                <a:cs typeface="Courier New"/>
                <a:sym typeface="Courier New"/>
              </a:rPr>
              <a:t>var</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contador</a:t>
            </a:r>
            <a:r>
              <a:rPr lang="es" sz="1050">
                <a:solidFill>
                  <a:srgbClr val="D4D4D4"/>
                </a:solidFill>
                <a:latin typeface="Courier New"/>
                <a:ea typeface="Courier New"/>
                <a:cs typeface="Courier New"/>
                <a:sym typeface="Courier New"/>
              </a:rPr>
              <a:t> = </a:t>
            </a:r>
            <a:r>
              <a:rPr lang="es" sz="1050">
                <a:solidFill>
                  <a:srgbClr val="B5CEA8"/>
                </a:solidFill>
                <a:latin typeface="Courier New"/>
                <a:ea typeface="Courier New"/>
                <a:cs typeface="Courier New"/>
                <a:sym typeface="Courier New"/>
              </a:rPr>
              <a:t>0</a:t>
            </a: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569CD6"/>
                </a:solidFill>
                <a:latin typeface="Courier New"/>
                <a:ea typeface="Courier New"/>
                <a:cs typeface="Courier New"/>
                <a:sym typeface="Courier New"/>
              </a:rPr>
              <a:t>function</a:t>
            </a: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incrementa</a:t>
            </a:r>
            <a:r>
              <a:rPr lang="es" sz="1050">
                <a:solidFill>
                  <a:srgbClr val="D4D4D4"/>
                </a:solidFill>
                <a:latin typeface="Courier New"/>
                <a:ea typeface="Courier New"/>
                <a:cs typeface="Courier New"/>
                <a:sym typeface="Courier New"/>
              </a:rPr>
              <a:t> ()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6A9955"/>
                </a:solidFill>
                <a:latin typeface="Courier New"/>
                <a:ea typeface="Courier New"/>
                <a:cs typeface="Courier New"/>
                <a:sym typeface="Courier New"/>
              </a:rPr>
              <a:t>// Código ....</a:t>
            </a:r>
            <a:endParaRPr sz="1050">
              <a:solidFill>
                <a:srgbClr val="6A9955"/>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569CD6"/>
                </a:solidFill>
                <a:latin typeface="Courier New"/>
                <a:ea typeface="Courier New"/>
                <a:cs typeface="Courier New"/>
                <a:sym typeface="Courier New"/>
              </a:rPr>
              <a:t>var</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contador</a:t>
            </a:r>
            <a:r>
              <a:rPr lang="es" sz="1050">
                <a:solidFill>
                  <a:srgbClr val="D4D4D4"/>
                </a:solidFill>
                <a:latin typeface="Courier New"/>
                <a:ea typeface="Courier New"/>
                <a:cs typeface="Courier New"/>
                <a:sym typeface="Courier New"/>
              </a:rPr>
              <a:t> = </a:t>
            </a:r>
            <a:r>
              <a:rPr lang="es" sz="1050">
                <a:solidFill>
                  <a:srgbClr val="B5CEA8"/>
                </a:solidFill>
                <a:latin typeface="Courier New"/>
                <a:ea typeface="Courier New"/>
                <a:cs typeface="Courier New"/>
                <a:sym typeface="Courier New"/>
              </a:rPr>
              <a:t>0</a:t>
            </a: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contador</a:t>
            </a: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6A9955"/>
                </a:solidFill>
                <a:latin typeface="Courier New"/>
                <a:ea typeface="Courier New"/>
                <a:cs typeface="Courier New"/>
                <a:sym typeface="Courier New"/>
              </a:rPr>
              <a:t>// Otro código ...</a:t>
            </a:r>
            <a:endParaRPr sz="1050">
              <a:solidFill>
                <a:srgbClr val="6A9955"/>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incrementa</a:t>
            </a: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incrementa</a:t>
            </a: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alert</a:t>
            </a:r>
            <a:r>
              <a:rPr lang="es" sz="1050">
                <a:solidFill>
                  <a:srgbClr val="D4D4D4"/>
                </a:solidFill>
                <a:latin typeface="Courier New"/>
                <a:ea typeface="Courier New"/>
                <a:cs typeface="Courier New"/>
                <a:sym typeface="Courier New"/>
              </a:rPr>
              <a:t> (</a:t>
            </a:r>
            <a:r>
              <a:rPr lang="es" sz="1050">
                <a:solidFill>
                  <a:srgbClr val="CE9178"/>
                </a:solidFill>
                <a:latin typeface="Courier New"/>
                <a:ea typeface="Courier New"/>
                <a:cs typeface="Courier New"/>
                <a:sym typeface="Courier New"/>
              </a:rPr>
              <a:t>"Contador = "</a:t>
            </a:r>
            <a:r>
              <a:rPr lang="es" sz="1050">
                <a:solidFill>
                  <a:srgbClr val="D4D4D4"/>
                </a:solidFill>
                <a:latin typeface="Courier New"/>
                <a:ea typeface="Courier New"/>
                <a:cs typeface="Courier New"/>
                <a:sym typeface="Courier New"/>
              </a:rPr>
              <a:t> + </a:t>
            </a:r>
            <a:r>
              <a:rPr lang="es" sz="1050">
                <a:solidFill>
                  <a:srgbClr val="9CDCFE"/>
                </a:solidFill>
                <a:latin typeface="Courier New"/>
                <a:ea typeface="Courier New"/>
                <a:cs typeface="Courier New"/>
                <a:sym typeface="Courier New"/>
              </a:rPr>
              <a:t>contador</a:t>
            </a:r>
            <a:r>
              <a:rPr lang="es" sz="1050">
                <a:solidFill>
                  <a:srgbClr val="D4D4D4"/>
                </a:solidFill>
                <a:latin typeface="Courier New"/>
                <a:ea typeface="Courier New"/>
                <a:cs typeface="Courier New"/>
                <a:sym typeface="Courier New"/>
              </a:rPr>
              <a:t>); </a:t>
            </a:r>
            <a:r>
              <a:rPr lang="es" sz="1050">
                <a:solidFill>
                  <a:srgbClr val="6A9955"/>
                </a:solidFill>
                <a:latin typeface="Courier New"/>
                <a:ea typeface="Courier New"/>
                <a:cs typeface="Courier New"/>
                <a:sym typeface="Courier New"/>
              </a:rPr>
              <a:t>// Imprime 0 ...</a:t>
            </a:r>
            <a:endParaRPr sz="1050">
              <a:solidFill>
                <a:srgbClr val="6A9955"/>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script</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6"/>
          <p:cNvSpPr txBox="1">
            <a:spLocks noGrp="1"/>
          </p:cNvSpPr>
          <p:nvPr>
            <p:ph type="title" idx="4294967295"/>
          </p:nvPr>
        </p:nvSpPr>
        <p:spPr>
          <a:xfrm>
            <a:off x="0" y="4095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2000"/>
              <a:t>Función cierre (closure).</a:t>
            </a:r>
            <a:endParaRPr/>
          </a:p>
        </p:txBody>
      </p:sp>
      <p:sp>
        <p:nvSpPr>
          <p:cNvPr id="184" name="Google Shape;184;p26"/>
          <p:cNvSpPr txBox="1">
            <a:spLocks noGrp="1"/>
          </p:cNvSpPr>
          <p:nvPr>
            <p:ph type="body" idx="4294967295"/>
          </p:nvPr>
        </p:nvSpPr>
        <p:spPr>
          <a:xfrm>
            <a:off x="0" y="1001713"/>
            <a:ext cx="8521700" cy="333851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Para dar solución al caso del contador (hasta que estudiemos el uso de variables privadas, encapsulamiento, etc..), JS cuenta con las funciones cierres, una función cierre es aquella que estando anidada dentro de otra, puede alcanzar a las variables definidas en su función superior. </a:t>
            </a:r>
            <a:endParaRPr/>
          </a:p>
          <a:p>
            <a:pPr marL="0" lvl="0" indent="0" algn="l" rtl="0">
              <a:spcBef>
                <a:spcPts val="1600"/>
              </a:spcBef>
              <a:spcAft>
                <a:spcPts val="0"/>
              </a:spcAft>
              <a:buNone/>
            </a:pPr>
            <a:r>
              <a:rPr lang="es"/>
              <a:t>La función cierre es privada a la función superior o externa, sólo se puede acceder a ella desde la función externa. </a:t>
            </a:r>
            <a:endParaRPr/>
          </a:p>
          <a:p>
            <a:pPr marL="0" lvl="0" indent="0" algn="l" rtl="0">
              <a:spcBef>
                <a:spcPts val="1600"/>
              </a:spcBef>
              <a:spcAft>
                <a:spcPts val="1600"/>
              </a:spcAft>
              <a:buNone/>
            </a:pPr>
            <a:r>
              <a:rPr lang="es"/>
              <a:t>Por tanto combinando función de autoinvocación, y función cierre podemos obtener una solución al contador consiguiendo que una </a:t>
            </a:r>
            <a:r>
              <a:rPr lang="es" b="1"/>
              <a:t>variable</a:t>
            </a:r>
            <a:r>
              <a:rPr lang="es"/>
              <a:t> sea </a:t>
            </a:r>
            <a:r>
              <a:rPr lang="es" b="1"/>
              <a:t>privada</a:t>
            </a:r>
            <a:r>
              <a:rPr lang="es"/>
              <a:t> , es decir, sólo se puede modificar a través de algún método o función definida y no directamente.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7"/>
          <p:cNvSpPr txBox="1">
            <a:spLocks noGrp="1"/>
          </p:cNvSpPr>
          <p:nvPr>
            <p:ph type="body" idx="4294967295"/>
          </p:nvPr>
        </p:nvSpPr>
        <p:spPr>
          <a:xfrm>
            <a:off x="0" y="342900"/>
            <a:ext cx="8521700" cy="4225925"/>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s"/>
              <a:t> </a:t>
            </a:r>
            <a:endParaRPr/>
          </a:p>
        </p:txBody>
      </p:sp>
      <p:sp>
        <p:nvSpPr>
          <p:cNvPr id="190" name="Google Shape;190;p27"/>
          <p:cNvSpPr txBox="1"/>
          <p:nvPr/>
        </p:nvSpPr>
        <p:spPr>
          <a:xfrm>
            <a:off x="228600" y="76200"/>
            <a:ext cx="5250600" cy="4704000"/>
          </a:xfrm>
          <a:prstGeom prst="rect">
            <a:avLst/>
          </a:prstGeom>
          <a:solidFill>
            <a:srgbClr val="434343"/>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DOCTYPE</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html</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html</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head</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script</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569CD6"/>
                </a:solidFill>
                <a:latin typeface="Courier New"/>
                <a:ea typeface="Courier New"/>
                <a:cs typeface="Courier New"/>
                <a:sym typeface="Courier New"/>
              </a:rPr>
              <a:t>var</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incrementa</a:t>
            </a:r>
            <a:r>
              <a:rPr lang="es" sz="1050">
                <a:solidFill>
                  <a:srgbClr val="D4D4D4"/>
                </a:solidFill>
                <a:latin typeface="Courier New"/>
                <a:ea typeface="Courier New"/>
                <a:cs typeface="Courier New"/>
                <a:sym typeface="Courier New"/>
              </a:rPr>
              <a:t> = (</a:t>
            </a:r>
            <a:r>
              <a:rPr lang="es" sz="1050">
                <a:solidFill>
                  <a:srgbClr val="569CD6"/>
                </a:solidFill>
                <a:latin typeface="Courier New"/>
                <a:ea typeface="Courier New"/>
                <a:cs typeface="Courier New"/>
                <a:sym typeface="Courier New"/>
              </a:rPr>
              <a:t>function</a:t>
            </a:r>
            <a:r>
              <a:rPr lang="es" sz="1050">
                <a:solidFill>
                  <a:srgbClr val="D4D4D4"/>
                </a:solidFill>
                <a:latin typeface="Courier New"/>
                <a:ea typeface="Courier New"/>
                <a:cs typeface="Courier New"/>
                <a:sym typeface="Courier New"/>
              </a:rPr>
              <a:t> ()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6A9955"/>
                </a:solidFill>
                <a:latin typeface="Courier New"/>
                <a:ea typeface="Courier New"/>
                <a:cs typeface="Courier New"/>
                <a:sym typeface="Courier New"/>
              </a:rPr>
              <a:t>// Código ....</a:t>
            </a:r>
            <a:endParaRPr sz="1050">
              <a:solidFill>
                <a:srgbClr val="6A9955"/>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569CD6"/>
                </a:solidFill>
                <a:latin typeface="Courier New"/>
                <a:ea typeface="Courier New"/>
                <a:cs typeface="Courier New"/>
                <a:sym typeface="Courier New"/>
              </a:rPr>
              <a:t>var</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contador</a:t>
            </a:r>
            <a:r>
              <a:rPr lang="es" sz="1050">
                <a:solidFill>
                  <a:srgbClr val="D4D4D4"/>
                </a:solidFill>
                <a:latin typeface="Courier New"/>
                <a:ea typeface="Courier New"/>
                <a:cs typeface="Courier New"/>
                <a:sym typeface="Courier New"/>
              </a:rPr>
              <a:t> = </a:t>
            </a:r>
            <a:r>
              <a:rPr lang="es" sz="1050">
                <a:solidFill>
                  <a:srgbClr val="B5CEA8"/>
                </a:solidFill>
                <a:latin typeface="Courier New"/>
                <a:ea typeface="Courier New"/>
                <a:cs typeface="Courier New"/>
                <a:sym typeface="Courier New"/>
              </a:rPr>
              <a:t>0</a:t>
            </a: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569CD6"/>
                </a:solidFill>
                <a:latin typeface="Courier New"/>
                <a:ea typeface="Courier New"/>
                <a:cs typeface="Courier New"/>
                <a:sym typeface="Courier New"/>
              </a:rPr>
              <a:t>var</a:t>
            </a: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fun</a:t>
            </a:r>
            <a:r>
              <a:rPr lang="es" sz="1050">
                <a:solidFill>
                  <a:srgbClr val="D4D4D4"/>
                </a:solidFill>
                <a:latin typeface="Courier New"/>
                <a:ea typeface="Courier New"/>
                <a:cs typeface="Courier New"/>
                <a:sym typeface="Courier New"/>
              </a:rPr>
              <a:t>= </a:t>
            </a:r>
            <a:r>
              <a:rPr lang="es" sz="1050">
                <a:solidFill>
                  <a:srgbClr val="569CD6"/>
                </a:solidFill>
                <a:latin typeface="Courier New"/>
                <a:ea typeface="Courier New"/>
                <a:cs typeface="Courier New"/>
                <a:sym typeface="Courier New"/>
              </a:rPr>
              <a:t>function</a:t>
            </a: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contador</a:t>
            </a: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C586C0"/>
                </a:solidFill>
                <a:latin typeface="Courier New"/>
                <a:ea typeface="Courier New"/>
                <a:cs typeface="Courier New"/>
                <a:sym typeface="Courier New"/>
              </a:rPr>
              <a:t>return</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contador</a:t>
            </a: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C586C0"/>
                </a:solidFill>
                <a:latin typeface="Courier New"/>
                <a:ea typeface="Courier New"/>
                <a:cs typeface="Courier New"/>
                <a:sym typeface="Courier New"/>
              </a:rPr>
              <a:t>return</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fun</a:t>
            </a: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incrementa</a:t>
            </a: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incrementa</a:t>
            </a: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alert</a:t>
            </a:r>
            <a:r>
              <a:rPr lang="es" sz="1050">
                <a:solidFill>
                  <a:srgbClr val="D4D4D4"/>
                </a:solidFill>
                <a:latin typeface="Courier New"/>
                <a:ea typeface="Courier New"/>
                <a:cs typeface="Courier New"/>
                <a:sym typeface="Courier New"/>
              </a:rPr>
              <a:t> (</a:t>
            </a:r>
            <a:r>
              <a:rPr lang="es" sz="1050">
                <a:solidFill>
                  <a:srgbClr val="CE9178"/>
                </a:solidFill>
                <a:latin typeface="Courier New"/>
                <a:ea typeface="Courier New"/>
                <a:cs typeface="Courier New"/>
                <a:sym typeface="Courier New"/>
              </a:rPr>
              <a:t>"Contador = "</a:t>
            </a:r>
            <a:r>
              <a:rPr lang="es" sz="1050">
                <a:solidFill>
                  <a:srgbClr val="D4D4D4"/>
                </a:solidFill>
                <a:latin typeface="Courier New"/>
                <a:ea typeface="Courier New"/>
                <a:cs typeface="Courier New"/>
                <a:sym typeface="Courier New"/>
              </a:rPr>
              <a:t> + </a:t>
            </a:r>
            <a:r>
              <a:rPr lang="es" sz="1050">
                <a:solidFill>
                  <a:srgbClr val="DCDCAA"/>
                </a:solidFill>
                <a:latin typeface="Courier New"/>
                <a:ea typeface="Courier New"/>
                <a:cs typeface="Courier New"/>
                <a:sym typeface="Courier New"/>
              </a:rPr>
              <a:t>incrementa</a:t>
            </a:r>
            <a:r>
              <a:rPr lang="es" sz="1050">
                <a:solidFill>
                  <a:srgbClr val="D4D4D4"/>
                </a:solidFill>
                <a:latin typeface="Courier New"/>
                <a:ea typeface="Courier New"/>
                <a:cs typeface="Courier New"/>
                <a:sym typeface="Courier New"/>
              </a:rPr>
              <a:t>()); </a:t>
            </a:r>
            <a:r>
              <a:rPr lang="es" sz="1050">
                <a:solidFill>
                  <a:srgbClr val="6A9955"/>
                </a:solidFill>
                <a:latin typeface="Courier New"/>
                <a:ea typeface="Courier New"/>
                <a:cs typeface="Courier New"/>
                <a:sym typeface="Courier New"/>
              </a:rPr>
              <a:t>// Imprime 3 ...</a:t>
            </a:r>
            <a:endParaRPr sz="1050">
              <a:solidFill>
                <a:srgbClr val="6A9955"/>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script</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head</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body</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body</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html</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p:txBody>
      </p:sp>
      <p:sp>
        <p:nvSpPr>
          <p:cNvPr id="191" name="Google Shape;191;p27"/>
          <p:cNvSpPr txBox="1"/>
          <p:nvPr/>
        </p:nvSpPr>
        <p:spPr>
          <a:xfrm>
            <a:off x="5546375" y="257175"/>
            <a:ext cx="3597600" cy="408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a:latin typeface="Roboto"/>
                <a:ea typeface="Roboto"/>
                <a:cs typeface="Roboto"/>
                <a:sym typeface="Roboto"/>
              </a:rPr>
              <a:t>Explicación :</a:t>
            </a: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457200" lvl="0" indent="-317500" algn="l" rtl="0">
              <a:spcBef>
                <a:spcPts val="0"/>
              </a:spcBef>
              <a:spcAft>
                <a:spcPts val="0"/>
              </a:spcAft>
              <a:buSzPts val="1400"/>
              <a:buFont typeface="Roboto"/>
              <a:buAutoNum type="arabicPeriod"/>
            </a:pPr>
            <a:r>
              <a:rPr lang="es">
                <a:latin typeface="Roboto"/>
                <a:ea typeface="Roboto"/>
                <a:cs typeface="Roboto"/>
                <a:sym typeface="Roboto"/>
              </a:rPr>
              <a:t> La variable </a:t>
            </a:r>
            <a:r>
              <a:rPr lang="es" b="1">
                <a:latin typeface="Roboto"/>
                <a:ea typeface="Roboto"/>
                <a:cs typeface="Roboto"/>
                <a:sym typeface="Roboto"/>
              </a:rPr>
              <a:t>incrementa</a:t>
            </a:r>
            <a:r>
              <a:rPr lang="es">
                <a:latin typeface="Roboto"/>
                <a:ea typeface="Roboto"/>
                <a:cs typeface="Roboto"/>
                <a:sym typeface="Roboto"/>
              </a:rPr>
              <a:t> apunta a las variables declaradas en la función principal o externa y a la definición de la función interna retornada por la autoinvocación.</a:t>
            </a:r>
            <a:endParaRPr>
              <a:latin typeface="Roboto"/>
              <a:ea typeface="Roboto"/>
              <a:cs typeface="Roboto"/>
              <a:sym typeface="Roboto"/>
            </a:endParaRPr>
          </a:p>
          <a:p>
            <a:pPr marL="457200" lvl="0" indent="-317500" algn="l" rtl="0">
              <a:spcBef>
                <a:spcPts val="0"/>
              </a:spcBef>
              <a:spcAft>
                <a:spcPts val="0"/>
              </a:spcAft>
              <a:buSzPts val="1400"/>
              <a:buFont typeface="Roboto"/>
              <a:buAutoNum type="arabicPeriod"/>
            </a:pPr>
            <a:r>
              <a:rPr lang="es">
                <a:latin typeface="Roboto"/>
                <a:ea typeface="Roboto"/>
                <a:cs typeface="Roboto"/>
                <a:sym typeface="Roboto"/>
              </a:rPr>
              <a:t>Al finalizar la autoinvocación,  </a:t>
            </a:r>
            <a:r>
              <a:rPr lang="es" b="1">
                <a:latin typeface="Roboto"/>
                <a:ea typeface="Roboto"/>
                <a:cs typeface="Roboto"/>
                <a:sym typeface="Roboto"/>
              </a:rPr>
              <a:t>incrementa, </a:t>
            </a:r>
            <a:r>
              <a:rPr lang="es">
                <a:latin typeface="Roboto"/>
                <a:ea typeface="Roboto"/>
                <a:cs typeface="Roboto"/>
                <a:sym typeface="Roboto"/>
              </a:rPr>
              <a:t>sólo almacena la expresión definida para la función </a:t>
            </a:r>
            <a:r>
              <a:rPr lang="es" b="1">
                <a:latin typeface="Roboto"/>
                <a:ea typeface="Roboto"/>
                <a:cs typeface="Roboto"/>
                <a:sym typeface="Roboto"/>
              </a:rPr>
              <a:t>fun</a:t>
            </a:r>
            <a:r>
              <a:rPr lang="es">
                <a:latin typeface="Roboto"/>
                <a:ea typeface="Roboto"/>
                <a:cs typeface="Roboto"/>
                <a:sym typeface="Roboto"/>
              </a:rPr>
              <a:t>, pero ha creado un espacio en memoria para </a:t>
            </a:r>
            <a:r>
              <a:rPr lang="es" b="1">
                <a:latin typeface="Roboto"/>
                <a:ea typeface="Roboto"/>
                <a:cs typeface="Roboto"/>
                <a:sym typeface="Roboto"/>
              </a:rPr>
              <a:t>contador (</a:t>
            </a:r>
            <a:r>
              <a:rPr lang="es">
                <a:latin typeface="Roboto"/>
                <a:ea typeface="Roboto"/>
                <a:cs typeface="Roboto"/>
                <a:sym typeface="Roboto"/>
              </a:rPr>
              <a:t>que permanece</a:t>
            </a:r>
            <a:r>
              <a:rPr lang="es" b="1">
                <a:latin typeface="Roboto"/>
                <a:ea typeface="Roboto"/>
                <a:cs typeface="Roboto"/>
                <a:sym typeface="Roboto"/>
              </a:rPr>
              <a:t>) </a:t>
            </a:r>
            <a:r>
              <a:rPr lang="es">
                <a:latin typeface="Roboto"/>
                <a:ea typeface="Roboto"/>
                <a:cs typeface="Roboto"/>
                <a:sym typeface="Roboto"/>
              </a:rPr>
              <a:t>y al que puede acceder </a:t>
            </a:r>
            <a:r>
              <a:rPr lang="es" b="1">
                <a:latin typeface="Roboto"/>
                <a:ea typeface="Roboto"/>
                <a:cs typeface="Roboto"/>
                <a:sym typeface="Roboto"/>
              </a:rPr>
              <a:t>fun</a:t>
            </a:r>
            <a:r>
              <a:rPr lang="es">
                <a:latin typeface="Roboto"/>
                <a:ea typeface="Roboto"/>
                <a:cs typeface="Roboto"/>
                <a:sym typeface="Roboto"/>
              </a:rPr>
              <a:t>.</a:t>
            </a:r>
            <a:endParaRPr>
              <a:latin typeface="Roboto"/>
              <a:ea typeface="Roboto"/>
              <a:cs typeface="Roboto"/>
              <a:sym typeface="Roboto"/>
            </a:endParaRPr>
          </a:p>
          <a:p>
            <a:pPr marL="457200" lvl="0" indent="-317500" algn="l" rtl="0">
              <a:spcBef>
                <a:spcPts val="0"/>
              </a:spcBef>
              <a:spcAft>
                <a:spcPts val="0"/>
              </a:spcAft>
              <a:buSzPts val="1400"/>
              <a:buFont typeface="Roboto"/>
              <a:buAutoNum type="arabicPeriod"/>
            </a:pPr>
            <a:r>
              <a:rPr lang="es">
                <a:latin typeface="Roboto"/>
                <a:ea typeface="Roboto"/>
                <a:cs typeface="Roboto"/>
                <a:sym typeface="Roboto"/>
              </a:rPr>
              <a:t>Si ejecutamos </a:t>
            </a:r>
            <a:r>
              <a:rPr lang="es" b="1">
                <a:latin typeface="Roboto"/>
                <a:ea typeface="Roboto"/>
                <a:cs typeface="Roboto"/>
                <a:sym typeface="Roboto"/>
              </a:rPr>
              <a:t>incrementa( )</a:t>
            </a:r>
            <a:r>
              <a:rPr lang="es">
                <a:latin typeface="Roboto"/>
                <a:ea typeface="Roboto"/>
                <a:cs typeface="Roboto"/>
                <a:sym typeface="Roboto"/>
              </a:rPr>
              <a:t> , aumentamos en una unidad el contador . Podemos comprobar que sin los paréntesis </a:t>
            </a:r>
            <a:r>
              <a:rPr lang="es" b="1">
                <a:latin typeface="Roboto"/>
                <a:ea typeface="Roboto"/>
                <a:cs typeface="Roboto"/>
                <a:sym typeface="Roboto"/>
              </a:rPr>
              <a:t>incrementa </a:t>
            </a:r>
            <a:r>
              <a:rPr lang="es">
                <a:latin typeface="Roboto"/>
                <a:ea typeface="Roboto"/>
                <a:cs typeface="Roboto"/>
                <a:sym typeface="Roboto"/>
              </a:rPr>
              <a:t>nos devuelve la función en sí (expresión). </a:t>
            </a:r>
            <a:endParaRPr b="1">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8"/>
          <p:cNvSpPr txBox="1">
            <a:spLocks noGrp="1"/>
          </p:cNvSpPr>
          <p:nvPr>
            <p:ph type="title" idx="4294967295"/>
          </p:nvPr>
        </p:nvSpPr>
        <p:spPr>
          <a:xfrm>
            <a:off x="0" y="4095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Bibliografía</a:t>
            </a:r>
            <a:endParaRPr/>
          </a:p>
        </p:txBody>
      </p:sp>
      <p:sp>
        <p:nvSpPr>
          <p:cNvPr id="197" name="Google Shape;197;p28"/>
          <p:cNvSpPr txBox="1">
            <a:spLocks noGrp="1"/>
          </p:cNvSpPr>
          <p:nvPr>
            <p:ph type="body" idx="4294967295"/>
          </p:nvPr>
        </p:nvSpPr>
        <p:spPr>
          <a:xfrm>
            <a:off x="0" y="1230313"/>
            <a:ext cx="8521700" cy="3338512"/>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s" u="sng">
                <a:solidFill>
                  <a:schemeClr val="hlink"/>
                </a:solidFill>
                <a:hlinkClick r:id="rId3"/>
              </a:rPr>
              <a:t>LibrosWeb  </a:t>
            </a:r>
            <a:endParaRPr/>
          </a:p>
          <a:p>
            <a:pPr marL="457200" lvl="0" indent="-342900" algn="l" rtl="0">
              <a:spcBef>
                <a:spcPts val="0"/>
              </a:spcBef>
              <a:spcAft>
                <a:spcPts val="0"/>
              </a:spcAft>
              <a:buSzPts val="1800"/>
              <a:buChar char="●"/>
            </a:pPr>
            <a:r>
              <a:rPr lang="es" u="sng">
                <a:solidFill>
                  <a:schemeClr val="hlink"/>
                </a:solidFill>
                <a:hlinkClick r:id="rId4"/>
              </a:rPr>
              <a:t>W3Schools</a:t>
            </a:r>
            <a:endParaRPr/>
          </a:p>
          <a:p>
            <a:pPr marL="457200" lvl="0" indent="-342900" algn="l" rtl="0">
              <a:spcBef>
                <a:spcPts val="0"/>
              </a:spcBef>
              <a:spcAft>
                <a:spcPts val="0"/>
              </a:spcAft>
              <a:buSzPts val="1800"/>
              <a:buChar char="●"/>
            </a:pPr>
            <a:r>
              <a:rPr lang="es" u="sng">
                <a:solidFill>
                  <a:schemeClr val="hlink"/>
                </a:solidFill>
                <a:hlinkClick r:id="rId5"/>
              </a:rPr>
              <a:t>Developer Mozilla Docs</a:t>
            </a:r>
            <a:endParaRPr/>
          </a:p>
        </p:txBody>
      </p:sp>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1867</Words>
  <Application>Microsoft Office PowerPoint</Application>
  <PresentationFormat>Presentación en pantalla (16:9)</PresentationFormat>
  <Paragraphs>250</Paragraphs>
  <Slides>16</Slides>
  <Notes>16</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16</vt:i4>
      </vt:variant>
    </vt:vector>
  </HeadingPairs>
  <TitlesOfParts>
    <vt:vector size="20" baseType="lpstr">
      <vt:lpstr>Roboto</vt:lpstr>
      <vt:lpstr>Courier New</vt:lpstr>
      <vt:lpstr>Arial</vt:lpstr>
      <vt:lpstr>Geometric</vt:lpstr>
      <vt:lpstr>TEMA 3. Funciones</vt:lpstr>
      <vt:lpstr>Índice :</vt:lpstr>
      <vt:lpstr>Funciones definidas por el usuario.</vt:lpstr>
      <vt:lpstr>Presentación de PowerPoint</vt:lpstr>
      <vt:lpstr>Presentación de PowerPoint</vt:lpstr>
      <vt:lpstr>Definición de función como una expresión.</vt:lpstr>
      <vt:lpstr>Definición de función con constructor. Function</vt:lpstr>
      <vt:lpstr>Parámetros de una función.</vt:lpstr>
      <vt:lpstr>Paso por valor ( se crea una copia)         Paso por referencia</vt:lpstr>
      <vt:lpstr>Ámbito o alcance de las variables.</vt:lpstr>
      <vt:lpstr>Presentación de PowerPoint</vt:lpstr>
      <vt:lpstr>Presentación de PowerPoint</vt:lpstr>
      <vt:lpstr>Presentación de PowerPoint</vt:lpstr>
      <vt:lpstr>Función cierre (closure).</vt:lpstr>
      <vt:lpstr>Presentación de PowerPoint</vt:lpstr>
      <vt:lpstr>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Francisco  Jose</cp:lastModifiedBy>
  <cp:revision>2</cp:revision>
  <dcterms:modified xsi:type="dcterms:W3CDTF">2026-09-28T09:42:52Z</dcterms:modified>
</cp:coreProperties>
</file>