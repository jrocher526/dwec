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601bf07c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601bf07c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60b9ed852c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60b9ed852c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60b9ed852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60b9ed852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60b9ed852c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60b9ed852c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60b9ed852c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60b9ed852c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b9ed852c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b9ed852c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60b9ed852c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60b9ed852c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0b9ed852c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0b9ed852c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60b9ed852c_1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60b9ed852c_1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60b9ed852c_1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60b9ed852c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60b9ed852c_1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60b9ed852c_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60b9ed852c_1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60b9ed852c_1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60b9ed852c_1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60b9ed852c_1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60b9ed852c_1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60b9ed852c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60b9ed852c_1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60b9ed852c_1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60b9ed852c_1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60b9ed852c_1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60b9ed852c_1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60b9ed852c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60b9ed852c_1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60b9ed852c_1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60b9ed852c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60b9ed852c_1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60b9ed852c_1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60b9ed852c_1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60b9ed852c_1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60b9ed852c_1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60b9ed852c_1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60b9ed852c_1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60b9ed852c_1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60b9ed852c_1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0b9ed852c_1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60b9ed852c_1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60b9ed852c_1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60b9ed852c_1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60b9ed852c_1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60b9ed852c_1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60b9ed852c_1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60b9ed852c_1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60b9ed852c_1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60b9ed852c_1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4497976"/>
            <a:ext cx="9144002" cy="645618"/>
            <a:chOff x="0" y="4497976"/>
            <a:chExt cx="9144002" cy="645618"/>
          </a:xfrm>
        </p:grpSpPr>
        <p:sp>
          <p:nvSpPr>
            <p:cNvPr id="30" name="Google Shape;30;p4"/>
            <p:cNvSpPr/>
            <p:nvPr/>
          </p:nvSpPr>
          <p:spPr>
            <a:xfrm>
              <a:off x="8154902" y="4499906"/>
              <a:ext cx="989100" cy="3918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73" y="4499906"/>
              <a:ext cx="989100" cy="3918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170285" y="4499906"/>
              <a:ext cx="989100" cy="3918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47" y="4497976"/>
              <a:ext cx="989100" cy="3936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6" name="Google Shape;36;p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
        <p:nvSpPr>
          <p:cNvPr id="38" name="Google Shape;38;p4"/>
          <p:cNvSpPr txBox="1"/>
          <p:nvPr/>
        </p:nvSpPr>
        <p:spPr>
          <a:xfrm>
            <a:off x="169525" y="4826500"/>
            <a:ext cx="3640800" cy="24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000">
                <a:solidFill>
                  <a:srgbClr val="CFE2F3"/>
                </a:solidFill>
                <a:latin typeface="Roboto"/>
                <a:ea typeface="Roboto"/>
                <a:cs typeface="Roboto"/>
                <a:sym typeface="Roboto"/>
              </a:rPr>
              <a:t>Profesor: Juan J. Gallego</a:t>
            </a:r>
            <a:endParaRPr sz="1000">
              <a:solidFill>
                <a:srgbClr val="CFE2F3"/>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 name="Google Shape;41;p5"/>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2" name="Google Shape;42;p5"/>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3" name="Google Shape;43;p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 name="Google Shape;46;p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9" name="Google Shape;49;p7"/>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50" name="Google Shape;50;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1"/>
        <p:cNvGrpSpPr/>
        <p:nvPr/>
      </p:nvGrpSpPr>
      <p:grpSpPr>
        <a:xfrm>
          <a:off x="0" y="0"/>
          <a:ext cx="0" cy="0"/>
          <a:chOff x="0" y="0"/>
          <a:chExt cx="0" cy="0"/>
        </a:xfrm>
      </p:grpSpPr>
      <p:grpSp>
        <p:nvGrpSpPr>
          <p:cNvPr id="52" name="Google Shape;52;p8"/>
          <p:cNvGrpSpPr/>
          <p:nvPr/>
        </p:nvGrpSpPr>
        <p:grpSpPr>
          <a:xfrm>
            <a:off x="6098378" y="5"/>
            <a:ext cx="3045625" cy="2030570"/>
            <a:chOff x="6098378" y="5"/>
            <a:chExt cx="3045625" cy="2030570"/>
          </a:xfrm>
        </p:grpSpPr>
        <p:sp>
          <p:nvSpPr>
            <p:cNvPr id="53" name="Google Shape;53;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59" name="Google Shape;59;p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sp>
        <p:nvSpPr>
          <p:cNvPr id="61" name="Google Shape;61;p9"/>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3" name="Google Shape;63;p9"/>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4" name="Google Shape;64;p9"/>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5" name="Google Shape;65;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66" name="Google Shape;66;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
        <p:cNvGrpSpPr/>
        <p:nvPr/>
      </p:nvGrpSpPr>
      <p:grpSpPr>
        <a:xfrm>
          <a:off x="0" y="0"/>
          <a:ext cx="0" cy="0"/>
          <a:chOff x="0" y="0"/>
          <a:chExt cx="0" cy="0"/>
        </a:xfrm>
      </p:grpSpPr>
      <p:sp>
        <p:nvSpPr>
          <p:cNvPr id="68" name="Google Shape;68;p10"/>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69" name="Google Shape;69;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0"/>
        <p:cNvGrpSpPr/>
        <p:nvPr/>
      </p:nvGrpSpPr>
      <p:grpSpPr>
        <a:xfrm>
          <a:off x="0" y="0"/>
          <a:ext cx="0" cy="0"/>
          <a:chOff x="0" y="0"/>
          <a:chExt cx="0" cy="0"/>
        </a:xfrm>
      </p:grpSpPr>
      <p:grpSp>
        <p:nvGrpSpPr>
          <p:cNvPr id="71" name="Google Shape;71;p11"/>
          <p:cNvGrpSpPr/>
          <p:nvPr/>
        </p:nvGrpSpPr>
        <p:grpSpPr>
          <a:xfrm>
            <a:off x="6098378" y="5"/>
            <a:ext cx="3045625" cy="2030570"/>
            <a:chOff x="6098378" y="5"/>
            <a:chExt cx="3045625" cy="2030570"/>
          </a:xfrm>
        </p:grpSpPr>
        <p:sp>
          <p:nvSpPr>
            <p:cNvPr id="72" name="Google Shape;72;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8" name="Google Shape;78;p11"/>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Clr>
                <a:schemeClr val="lt1"/>
              </a:buClr>
              <a:buSzPts val="1800"/>
              <a:buChar char="●"/>
              <a:defRPr>
                <a:solidFill>
                  <a:schemeClr val="lt1"/>
                </a:solidFill>
              </a:defRPr>
            </a:lvl1pPr>
            <a:lvl2pPr marL="914400" lvl="1" indent="-317500" algn="ctr">
              <a:spcBef>
                <a:spcPts val="1600"/>
              </a:spcBef>
              <a:spcAft>
                <a:spcPts val="0"/>
              </a:spcAft>
              <a:buClr>
                <a:schemeClr val="lt1"/>
              </a:buClr>
              <a:buSzPts val="1400"/>
              <a:buChar char="○"/>
              <a:defRPr>
                <a:solidFill>
                  <a:schemeClr val="lt1"/>
                </a:solidFill>
              </a:defRPr>
            </a:lvl2pPr>
            <a:lvl3pPr marL="1371600" lvl="2" indent="-317500" algn="ctr">
              <a:spcBef>
                <a:spcPts val="1600"/>
              </a:spcBef>
              <a:spcAft>
                <a:spcPts val="0"/>
              </a:spcAft>
              <a:buClr>
                <a:schemeClr val="lt1"/>
              </a:buClr>
              <a:buSzPts val="1400"/>
              <a:buChar char="■"/>
              <a:defRPr>
                <a:solidFill>
                  <a:schemeClr val="lt1"/>
                </a:solidFill>
              </a:defRPr>
            </a:lvl3pPr>
            <a:lvl4pPr marL="1828800" lvl="3" indent="-317500" algn="ctr">
              <a:spcBef>
                <a:spcPts val="1600"/>
              </a:spcBef>
              <a:spcAft>
                <a:spcPts val="0"/>
              </a:spcAft>
              <a:buClr>
                <a:schemeClr val="lt1"/>
              </a:buClr>
              <a:buSzPts val="1400"/>
              <a:buChar char="●"/>
              <a:defRPr>
                <a:solidFill>
                  <a:schemeClr val="lt1"/>
                </a:solidFill>
              </a:defRPr>
            </a:lvl4pPr>
            <a:lvl5pPr marL="2286000" lvl="4" indent="-317500" algn="ctr">
              <a:spcBef>
                <a:spcPts val="1600"/>
              </a:spcBef>
              <a:spcAft>
                <a:spcPts val="0"/>
              </a:spcAft>
              <a:buClr>
                <a:schemeClr val="lt1"/>
              </a:buClr>
              <a:buSzPts val="1400"/>
              <a:buChar char="○"/>
              <a:defRPr>
                <a:solidFill>
                  <a:schemeClr val="lt1"/>
                </a:solidFill>
              </a:defRPr>
            </a:lvl5pPr>
            <a:lvl6pPr marL="2743200" lvl="5" indent="-317500" algn="ctr">
              <a:spcBef>
                <a:spcPts val="1600"/>
              </a:spcBef>
              <a:spcAft>
                <a:spcPts val="0"/>
              </a:spcAft>
              <a:buClr>
                <a:schemeClr val="lt1"/>
              </a:buClr>
              <a:buSzPts val="1400"/>
              <a:buChar char="■"/>
              <a:defRPr>
                <a:solidFill>
                  <a:schemeClr val="lt1"/>
                </a:solidFill>
              </a:defRPr>
            </a:lvl6pPr>
            <a:lvl7pPr marL="3200400" lvl="6" indent="-317500" algn="ctr">
              <a:spcBef>
                <a:spcPts val="1600"/>
              </a:spcBef>
              <a:spcAft>
                <a:spcPts val="0"/>
              </a:spcAft>
              <a:buClr>
                <a:schemeClr val="lt1"/>
              </a:buClr>
              <a:buSzPts val="1400"/>
              <a:buChar char="●"/>
              <a:defRPr>
                <a:solidFill>
                  <a:schemeClr val="lt1"/>
                </a:solidFill>
              </a:defRPr>
            </a:lvl7pPr>
            <a:lvl8pPr marL="3657600" lvl="7" indent="-317500" algn="ctr">
              <a:spcBef>
                <a:spcPts val="1600"/>
              </a:spcBef>
              <a:spcAft>
                <a:spcPts val="0"/>
              </a:spcAft>
              <a:buClr>
                <a:schemeClr val="lt1"/>
              </a:buClr>
              <a:buSzPts val="1400"/>
              <a:buChar char="○"/>
              <a:defRPr>
                <a:solidFill>
                  <a:schemeClr val="lt1"/>
                </a:solidFill>
              </a:defRPr>
            </a:lvl8pPr>
            <a:lvl9pPr marL="4114800" lvl="8" indent="-317500" algn="ctr">
              <a:spcBef>
                <a:spcPts val="1600"/>
              </a:spcBef>
              <a:spcAft>
                <a:spcPts val="1600"/>
              </a:spcAft>
              <a:buClr>
                <a:schemeClr val="lt1"/>
              </a:buClr>
              <a:buSzPts val="1400"/>
              <a:buChar char="■"/>
              <a:defRPr>
                <a:solidFill>
                  <a:schemeClr val="lt1"/>
                </a:solidFill>
              </a:defRPr>
            </a:lvl9pPr>
          </a:lstStyle>
          <a:p>
            <a:endParaRPr/>
          </a:p>
        </p:txBody>
      </p:sp>
      <p:sp>
        <p:nvSpPr>
          <p:cNvPr id="79" name="Google Shape;79;p1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hyperlink" Target="https://uniwebsidad.com/libros/javascript?from=librosweb"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hyperlink" Target="https://developer.mozilla.org/es/docs/Web/JavaScript/Guide" TargetMode="External"/><Relationship Id="rId5" Type="http://schemas.openxmlformats.org/officeDocument/2006/relationships/hyperlink" Target="https://es.wikipedia.org/wiki/JavaScript" TargetMode="External"/><Relationship Id="rId4" Type="http://schemas.openxmlformats.org/officeDocument/2006/relationships/hyperlink" Target="http://www.w3schools.com/j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sz="2400">
                <a:solidFill>
                  <a:srgbClr val="FFFFFF"/>
                </a:solidFill>
              </a:rPr>
              <a:t>TEMA 1. Introducción a JavaScript</a:t>
            </a:r>
            <a:endParaRPr sz="2400">
              <a:solidFill>
                <a:srgbClr val="FFFFFF"/>
              </a:solidFill>
            </a:endParaRPr>
          </a:p>
        </p:txBody>
      </p:sp>
      <p:sp>
        <p:nvSpPr>
          <p:cNvPr id="87" name="Google Shape;87;p13"/>
          <p:cNvSpPr txBox="1">
            <a:spLocks noGrp="1"/>
          </p:cNvSpPr>
          <p:nvPr>
            <p:ph type="subTitle" idx="1"/>
          </p:nvPr>
        </p:nvSpPr>
        <p:spPr>
          <a:xfrm>
            <a:off x="421863" y="3872013"/>
            <a:ext cx="8222100" cy="4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400" dirty="0">
                <a:solidFill>
                  <a:srgbClr val="FFE599"/>
                </a:solidFill>
              </a:rPr>
              <a:t>Desarrollo Web en Entorno Cliente.</a:t>
            </a:r>
            <a:endParaRPr sz="1400" dirty="0">
              <a:solidFill>
                <a:srgbClr val="FFE599"/>
              </a:solidFill>
            </a:endParaRPr>
          </a:p>
          <a:p>
            <a:pPr marL="0" lvl="0" indent="0" algn="l" rtl="0">
              <a:spcBef>
                <a:spcPts val="0"/>
              </a:spcBef>
              <a:spcAft>
                <a:spcPts val="0"/>
              </a:spcAft>
              <a:buNone/>
            </a:pPr>
            <a:endParaRPr sz="1100" dirty="0">
              <a:solidFill>
                <a:srgbClr val="FFE599"/>
              </a:solidFill>
            </a:endParaRPr>
          </a:p>
          <a:p>
            <a:pPr marL="0" lvl="0" indent="0" algn="l" rtl="0">
              <a:spcBef>
                <a:spcPts val="0"/>
              </a:spcBef>
              <a:spcAft>
                <a:spcPts val="0"/>
              </a:spcAft>
              <a:buNone/>
            </a:pPr>
            <a:endParaRPr sz="1100" dirty="0">
              <a:solidFill>
                <a:srgbClr val="FFE599"/>
              </a:solidFill>
            </a:endParaRPr>
          </a:p>
          <a:p>
            <a:pPr marL="0" lvl="0" indent="0" algn="l" rtl="0">
              <a:spcBef>
                <a:spcPts val="0"/>
              </a:spcBef>
              <a:spcAft>
                <a:spcPts val="0"/>
              </a:spcAft>
              <a:buNone/>
            </a:pPr>
            <a:endParaRPr sz="1100" dirty="0">
              <a:solidFill>
                <a:srgbClr val="FFE5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265500" y="1151100"/>
            <a:ext cx="4045200" cy="1564500"/>
          </a:xfrm>
        </p:spPr>
        <p:txBody>
          <a:bodyPr spcFirstLastPara="1" wrap="square" lIns="91425" tIns="91425" rIns="91425" bIns="91425" anchor="b" anchorCtr="0">
            <a:normAutofit/>
          </a:bodyPr>
          <a:lstStyle/>
          <a:p>
            <a:pPr lvl="0"/>
            <a:r>
              <a:rPr lang="es-ES" dirty="0"/>
              <a:t>Índice :</a:t>
            </a:r>
          </a:p>
        </p:txBody>
      </p:sp>
      <p:sp>
        <p:nvSpPr>
          <p:cNvPr id="98" name="Subtitle 2">
            <a:extLst>
              <a:ext uri="{FF2B5EF4-FFF2-40B4-BE49-F238E27FC236}">
                <a16:creationId xmlns:a16="http://schemas.microsoft.com/office/drawing/2014/main" id="{7382EC93-4644-9475-68C4-782A7C1E2B5C}"/>
              </a:ext>
            </a:extLst>
          </p:cNvPr>
          <p:cNvSpPr>
            <a:spLocks noGrp="1"/>
          </p:cNvSpPr>
          <p:nvPr>
            <p:ph type="subTitle" idx="1"/>
          </p:nvPr>
        </p:nvSpPr>
        <p:spPr>
          <a:xfrm>
            <a:off x="265500" y="2769001"/>
            <a:ext cx="4045200" cy="1269300"/>
          </a:xfrm>
        </p:spPr>
        <p:txBody>
          <a:bodyPr/>
          <a:lstStyle/>
          <a:p>
            <a:endParaRPr lang="en-US"/>
          </a:p>
        </p:txBody>
      </p:sp>
      <p:sp>
        <p:nvSpPr>
          <p:cNvPr id="93" name="Google Shape;93;p14"/>
          <p:cNvSpPr txBox="1">
            <a:spLocks noGrp="1"/>
          </p:cNvSpPr>
          <p:nvPr>
            <p:ph type="body" idx="2"/>
          </p:nvPr>
        </p:nvSpPr>
        <p:spPr>
          <a:xfrm>
            <a:off x="4939500" y="724200"/>
            <a:ext cx="3837000" cy="3695100"/>
          </a:xfrm>
        </p:spPr>
        <p:txBody>
          <a:bodyPr spcFirstLastPara="1" wrap="square" lIns="91425" tIns="91425" rIns="91425" bIns="91425" anchor="ctr" anchorCtr="0">
            <a:normAutofit/>
          </a:bodyPr>
          <a:lstStyle/>
          <a:p>
            <a:pPr lvl="0">
              <a:spcAft>
                <a:spcPts val="600"/>
              </a:spcAft>
            </a:pPr>
            <a:r>
              <a:rPr lang="es-ES"/>
              <a:t>¿Qué es un Script?  </a:t>
            </a:r>
          </a:p>
          <a:p>
            <a:pPr lvl="0">
              <a:spcAft>
                <a:spcPts val="600"/>
              </a:spcAft>
            </a:pPr>
            <a:r>
              <a:rPr lang="es-ES"/>
              <a:t>¿Qué es JavaScript?  </a:t>
            </a:r>
          </a:p>
          <a:p>
            <a:pPr lvl="0">
              <a:spcAft>
                <a:spcPts val="600"/>
              </a:spcAft>
            </a:pPr>
            <a:r>
              <a:rPr lang="es-ES"/>
              <a:t>¿Cómo usar JavaScript?  </a:t>
            </a:r>
          </a:p>
          <a:p>
            <a:pPr lvl="0">
              <a:spcAft>
                <a:spcPts val="600"/>
              </a:spcAft>
            </a:pPr>
            <a:r>
              <a:rPr lang="es-ES"/>
              <a:t>Palabras reservadas en JavaScript  </a:t>
            </a:r>
          </a:p>
          <a:p>
            <a:pPr lvl="0">
              <a:spcAft>
                <a:spcPts val="600"/>
              </a:spcAft>
            </a:pPr>
            <a:r>
              <a:rPr lang="es-ES"/>
              <a:t>Tipos usados en JavaScript  </a:t>
            </a:r>
          </a:p>
          <a:p>
            <a:pPr lvl="0">
              <a:spcAft>
                <a:spcPts val="600"/>
              </a:spcAft>
            </a:pPr>
            <a:r>
              <a:rPr lang="es-ES"/>
              <a:t>Comentarios  </a:t>
            </a:r>
          </a:p>
          <a:p>
            <a:pPr lvl="0">
              <a:spcAft>
                <a:spcPts val="600"/>
              </a:spcAft>
            </a:pPr>
            <a:r>
              <a:rPr lang="es-ES"/>
              <a:t>Funciones básicas  </a:t>
            </a:r>
          </a:p>
          <a:p>
            <a:pPr lvl="0">
              <a:spcAft>
                <a:spcPts val="600"/>
              </a:spcAft>
            </a:pPr>
            <a:r>
              <a:rPr lang="es-ES"/>
              <a:t>Variables y Constantes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3" name="Title 1">
            <a:extLst>
              <a:ext uri="{FF2B5EF4-FFF2-40B4-BE49-F238E27FC236}">
                <a16:creationId xmlns:a16="http://schemas.microsoft.com/office/drawing/2014/main" id="{5755E592-ABAF-927F-212B-4DA5B5931769}"/>
              </a:ext>
            </a:extLst>
          </p:cNvPr>
          <p:cNvSpPr>
            <a:spLocks noGrp="1"/>
          </p:cNvSpPr>
          <p:nvPr>
            <p:ph type="title"/>
          </p:nvPr>
        </p:nvSpPr>
        <p:spPr>
          <a:xfrm>
            <a:off x="265500" y="1151100"/>
            <a:ext cx="4045200" cy="1564500"/>
          </a:xfrm>
        </p:spPr>
        <p:txBody>
          <a:bodyPr/>
          <a:lstStyle/>
          <a:p>
            <a:r>
              <a:rPr lang="en-US" dirty="0" err="1"/>
              <a:t>Índice</a:t>
            </a:r>
            <a:r>
              <a:rPr lang="en-US" dirty="0"/>
              <a:t> :</a:t>
            </a:r>
          </a:p>
        </p:txBody>
      </p:sp>
      <p:sp>
        <p:nvSpPr>
          <p:cNvPr id="105" name="Subtitle 2">
            <a:extLst>
              <a:ext uri="{FF2B5EF4-FFF2-40B4-BE49-F238E27FC236}">
                <a16:creationId xmlns:a16="http://schemas.microsoft.com/office/drawing/2014/main" id="{6DFA7F4F-BF5F-08BA-0194-70175023567B}"/>
              </a:ext>
            </a:extLst>
          </p:cNvPr>
          <p:cNvSpPr>
            <a:spLocks noGrp="1"/>
          </p:cNvSpPr>
          <p:nvPr>
            <p:ph type="subTitle" idx="1"/>
          </p:nvPr>
        </p:nvSpPr>
        <p:spPr>
          <a:xfrm>
            <a:off x="265500" y="2769001"/>
            <a:ext cx="4045200" cy="1269300"/>
          </a:xfrm>
        </p:spPr>
        <p:txBody>
          <a:bodyPr/>
          <a:lstStyle/>
          <a:p>
            <a:endParaRPr lang="en-US"/>
          </a:p>
        </p:txBody>
      </p:sp>
      <p:sp>
        <p:nvSpPr>
          <p:cNvPr id="98" name="Google Shape;98;p15"/>
          <p:cNvSpPr txBox="1">
            <a:spLocks noGrp="1"/>
          </p:cNvSpPr>
          <p:nvPr>
            <p:ph type="body" idx="2"/>
          </p:nvPr>
        </p:nvSpPr>
        <p:spPr>
          <a:xfrm>
            <a:off x="4939500" y="724200"/>
            <a:ext cx="3837000" cy="3695100"/>
          </a:xfrm>
        </p:spPr>
        <p:txBody>
          <a:bodyPr spcFirstLastPara="1" wrap="square" lIns="91425" tIns="91425" rIns="91425" bIns="91425" anchor="ctr" anchorCtr="0">
            <a:normAutofit/>
          </a:bodyPr>
          <a:lstStyle/>
          <a:p>
            <a:pPr marL="457200" lvl="0" indent="-342900" rtl="0">
              <a:lnSpc>
                <a:spcPct val="105000"/>
              </a:lnSpc>
              <a:spcBef>
                <a:spcPts val="0"/>
              </a:spcBef>
              <a:spcAft>
                <a:spcPts val="600"/>
              </a:spcAft>
              <a:buSzPts val="1800"/>
              <a:buChar char="●"/>
            </a:pPr>
            <a:r>
              <a:rPr lang="es-ES" sz="1300"/>
              <a:t>Operadores: </a:t>
            </a:r>
          </a:p>
          <a:p>
            <a:pPr marL="914400" lvl="1" indent="-317500" rtl="0">
              <a:lnSpc>
                <a:spcPct val="105000"/>
              </a:lnSpc>
              <a:spcBef>
                <a:spcPts val="0"/>
              </a:spcBef>
              <a:spcAft>
                <a:spcPts val="600"/>
              </a:spcAft>
              <a:buSzPts val="1400"/>
              <a:buChar char="○"/>
            </a:pPr>
            <a:r>
              <a:rPr lang="es-ES" sz="1300"/>
              <a:t>Operadores de asignación  </a:t>
            </a:r>
          </a:p>
          <a:p>
            <a:pPr marL="914400" lvl="1" indent="-317500" rtl="0">
              <a:lnSpc>
                <a:spcPct val="105000"/>
              </a:lnSpc>
              <a:spcBef>
                <a:spcPts val="0"/>
              </a:spcBef>
              <a:spcAft>
                <a:spcPts val="600"/>
              </a:spcAft>
              <a:buSzPts val="1400"/>
              <a:buChar char="○"/>
            </a:pPr>
            <a:r>
              <a:rPr lang="es-ES" sz="1300"/>
              <a:t>Operadores matemáticos  </a:t>
            </a:r>
          </a:p>
          <a:p>
            <a:pPr marL="914400" lvl="1" indent="-317500" rtl="0">
              <a:lnSpc>
                <a:spcPct val="105000"/>
              </a:lnSpc>
              <a:spcBef>
                <a:spcPts val="0"/>
              </a:spcBef>
              <a:spcAft>
                <a:spcPts val="600"/>
              </a:spcAft>
              <a:buSzPts val="1400"/>
              <a:buChar char="○"/>
            </a:pPr>
            <a:r>
              <a:rPr lang="es-ES" sz="1300"/>
              <a:t>Operadores lógicos o booleanos  </a:t>
            </a:r>
          </a:p>
          <a:p>
            <a:pPr marL="914400" lvl="1" indent="-317500" rtl="0">
              <a:lnSpc>
                <a:spcPct val="105000"/>
              </a:lnSpc>
              <a:spcBef>
                <a:spcPts val="0"/>
              </a:spcBef>
              <a:spcAft>
                <a:spcPts val="600"/>
              </a:spcAft>
              <a:buSzPts val="1400"/>
              <a:buChar char="○"/>
            </a:pPr>
            <a:r>
              <a:rPr lang="es-ES" sz="1300"/>
              <a:t>Operadores relacionales  </a:t>
            </a:r>
          </a:p>
          <a:p>
            <a:pPr marL="914400" lvl="1" indent="-317500" rtl="0">
              <a:lnSpc>
                <a:spcPct val="105000"/>
              </a:lnSpc>
              <a:spcBef>
                <a:spcPts val="0"/>
              </a:spcBef>
              <a:spcAft>
                <a:spcPts val="600"/>
              </a:spcAft>
              <a:buSzPts val="1400"/>
              <a:buChar char="○"/>
            </a:pPr>
            <a:r>
              <a:rPr lang="es-ES" sz="1300"/>
              <a:t>Operadores matemáticos especiales  </a:t>
            </a:r>
          </a:p>
          <a:p>
            <a:pPr marL="914400" lvl="1" indent="-317500" rtl="0">
              <a:lnSpc>
                <a:spcPct val="105000"/>
              </a:lnSpc>
              <a:spcBef>
                <a:spcPts val="0"/>
              </a:spcBef>
              <a:spcAft>
                <a:spcPts val="600"/>
              </a:spcAft>
              <a:buSzPts val="1400"/>
              <a:buChar char="○"/>
            </a:pPr>
            <a:r>
              <a:rPr lang="es-ES" sz="1300"/>
              <a:t>Operadores matemáticos reducidos  </a:t>
            </a:r>
          </a:p>
          <a:p>
            <a:pPr marL="914400" lvl="1" indent="-317500" rtl="0">
              <a:lnSpc>
                <a:spcPct val="105000"/>
              </a:lnSpc>
              <a:spcBef>
                <a:spcPts val="0"/>
              </a:spcBef>
              <a:spcAft>
                <a:spcPts val="600"/>
              </a:spcAft>
              <a:buSzPts val="1400"/>
              <a:buChar char="○"/>
            </a:pPr>
            <a:r>
              <a:rPr lang="es-ES" sz="1300"/>
              <a:t>Orden de ejecución de los operadores  </a:t>
            </a:r>
          </a:p>
          <a:p>
            <a:pPr marL="457200" lvl="0" indent="-342900" rtl="0">
              <a:lnSpc>
                <a:spcPct val="105000"/>
              </a:lnSpc>
              <a:spcBef>
                <a:spcPts val="0"/>
              </a:spcBef>
              <a:spcAft>
                <a:spcPts val="600"/>
              </a:spcAft>
              <a:buSzPts val="1800"/>
              <a:buChar char="●"/>
            </a:pPr>
            <a:r>
              <a:rPr lang="es-ES" sz="1300"/>
              <a:t>Caracteres especiales en JavaScript  </a:t>
            </a:r>
          </a:p>
          <a:p>
            <a:pPr marL="457200" lvl="0" indent="-342900" rtl="0">
              <a:lnSpc>
                <a:spcPct val="105000"/>
              </a:lnSpc>
              <a:spcBef>
                <a:spcPts val="0"/>
              </a:spcBef>
              <a:spcAft>
                <a:spcPts val="600"/>
              </a:spcAft>
              <a:buSzPts val="1800"/>
              <a:buChar char="●"/>
            </a:pPr>
            <a:r>
              <a:rPr lang="es-ES" sz="1300"/>
              <a:t>Bibliografía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idx="4294967295"/>
          </p:nvPr>
        </p:nvSpPr>
        <p:spPr>
          <a:xfrm>
            <a:off x="0" y="1047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¿Qué es un Script?</a:t>
            </a:r>
            <a:endParaRPr/>
          </a:p>
        </p:txBody>
      </p:sp>
      <p:sp>
        <p:nvSpPr>
          <p:cNvPr id="104" name="Google Shape;104;p16"/>
          <p:cNvSpPr txBox="1">
            <a:spLocks noGrp="1"/>
          </p:cNvSpPr>
          <p:nvPr>
            <p:ph type="body" idx="4294967295"/>
          </p:nvPr>
        </p:nvSpPr>
        <p:spPr>
          <a:xfrm>
            <a:off x="0" y="6207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La definición depende mucho del contexto, pero dentro de la informática se puede afirmar lo siguiente: Un script es un archivo de texto que contiene órdenes (o comandos) que se deben ejecutar secuencialmente en un ordenador. Los lenguajes de script son aquellos que no son compilados, son interpretados por la aplicación que los hace funcionar, en nuestro caso el navegador web (de ahí el nombre intérprete web).</a:t>
            </a:r>
            <a:endParaRPr dirty="0"/>
          </a:p>
          <a:p>
            <a:pPr marL="0" lvl="0" indent="0" algn="l" rtl="0">
              <a:spcBef>
                <a:spcPts val="1600"/>
              </a:spcBef>
              <a:spcAft>
                <a:spcPts val="0"/>
              </a:spcAft>
              <a:buNone/>
            </a:pPr>
            <a:endParaRPr dirty="0"/>
          </a:p>
          <a:p>
            <a:pPr marL="0" lvl="0" indent="0" algn="l" rtl="0">
              <a:spcBef>
                <a:spcPts val="1600"/>
              </a:spcBef>
              <a:spcAft>
                <a:spcPts val="1600"/>
              </a:spcAft>
              <a:buNone/>
            </a:pPr>
            <a:r>
              <a:rPr lang="es" dirty="0"/>
              <a:t>JavaScript (abreviado a JS) es un lenguaje de programación en entorno cliente. Es ejecutado dentro del navegador web, por lo que si se pierde conexión con el servidor o con la red, seguirá funcionando correctamente.</a:t>
            </a:r>
            <a:endParaRPr dirty="0"/>
          </a:p>
        </p:txBody>
      </p:sp>
      <p:sp>
        <p:nvSpPr>
          <p:cNvPr id="105" name="Google Shape;105;p16"/>
          <p:cNvSpPr txBox="1">
            <a:spLocks noGrp="1"/>
          </p:cNvSpPr>
          <p:nvPr>
            <p:ph type="title" idx="4294967295"/>
          </p:nvPr>
        </p:nvSpPr>
        <p:spPr>
          <a:xfrm>
            <a:off x="0" y="2695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¿Qué es JavaScript?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body" idx="4294967295"/>
          </p:nvPr>
        </p:nvSpPr>
        <p:spPr>
          <a:xfrm>
            <a:off x="0" y="288925"/>
            <a:ext cx="8521700" cy="42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Este lenguaje se iba a llamar inicialmente LiveScript, pero cuando salió al mercado laboral (1995), se cambió el nombre debido a que en aquella época la palabra Java estaba de moda en el mundo informático, en otras palabras, fue por marketing. Actualmente </a:t>
            </a:r>
            <a:r>
              <a:rPr lang="es" b="1" dirty="0"/>
              <a:t>ECMAScript </a:t>
            </a:r>
            <a:r>
              <a:rPr lang="es" dirty="0"/>
              <a:t>es la especificación estándar de </a:t>
            </a:r>
            <a:r>
              <a:rPr lang="es" b="1" dirty="0"/>
              <a:t>JavaScript</a:t>
            </a:r>
            <a:r>
              <a:rPr lang="es" dirty="0"/>
              <a:t>.</a:t>
            </a:r>
          </a:p>
          <a:p>
            <a:pPr marL="0" lvl="0" indent="0" algn="l" rtl="0">
              <a:spcBef>
                <a:spcPts val="0"/>
              </a:spcBef>
              <a:spcAft>
                <a:spcPts val="0"/>
              </a:spcAft>
              <a:buNone/>
            </a:pPr>
            <a:endParaRPr dirty="0"/>
          </a:p>
          <a:p>
            <a:pPr marL="0" lvl="0" indent="0" algn="l" rtl="0">
              <a:spcBef>
                <a:spcPts val="1600"/>
              </a:spcBef>
              <a:spcAft>
                <a:spcPts val="0"/>
              </a:spcAft>
              <a:buNone/>
            </a:pPr>
            <a:r>
              <a:rPr lang="es" dirty="0"/>
              <a:t>Las 4 cualidades de JavaScript son:  </a:t>
            </a:r>
            <a:endParaRPr dirty="0"/>
          </a:p>
          <a:p>
            <a:pPr marL="457200" lvl="0" indent="-342900" algn="l" rtl="0">
              <a:spcBef>
                <a:spcPts val="1600"/>
              </a:spcBef>
              <a:spcAft>
                <a:spcPts val="0"/>
              </a:spcAft>
              <a:buSzPts val="1800"/>
              <a:buChar char="●"/>
            </a:pPr>
            <a:r>
              <a:rPr lang="es" b="1" dirty="0"/>
              <a:t>Imperativo</a:t>
            </a:r>
            <a:r>
              <a:rPr lang="es" dirty="0"/>
              <a:t>, esto significa que ejecuta secuencialmente una serie sentencias (órdenes) para la realización de una tarea. Para separar una sentencia de la siguiente usaremos un carácter especial, el punto y coma (;) o el salto de línea.  </a:t>
            </a:r>
            <a:endParaRPr dirty="0"/>
          </a:p>
          <a:p>
            <a:pPr marL="457200" lvl="0" indent="-342900" algn="l" rtl="0">
              <a:spcBef>
                <a:spcPts val="0"/>
              </a:spcBef>
              <a:spcAft>
                <a:spcPts val="0"/>
              </a:spcAft>
              <a:buSzPts val="1800"/>
              <a:buChar char="●"/>
            </a:pPr>
            <a:r>
              <a:rPr lang="es" b="1" dirty="0"/>
              <a:t>Orientado a Objetos</a:t>
            </a:r>
            <a:r>
              <a:rPr lang="es" dirty="0"/>
              <a:t>, es una evolución en la programación imperativa que agrupa el estado y las posibles modificaciones.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body" idx="4294967295"/>
          </p:nvPr>
        </p:nvSpPr>
        <p:spPr>
          <a:xfrm>
            <a:off x="0" y="311150"/>
            <a:ext cx="8521700" cy="425767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b="1"/>
              <a:t>Débilmente tipado</a:t>
            </a:r>
            <a:r>
              <a:rPr lang="es"/>
              <a:t>, no es necesario declarar el tipo de una variable y además permite el cambio de tipos de variable durante la ejecución (tipos dinámicos).  </a:t>
            </a:r>
            <a:endParaRPr/>
          </a:p>
          <a:p>
            <a:pPr marL="457200" lvl="0" indent="-342900" algn="l" rtl="0">
              <a:spcBef>
                <a:spcPts val="0"/>
              </a:spcBef>
              <a:spcAft>
                <a:spcPts val="0"/>
              </a:spcAft>
              <a:buSzPts val="1800"/>
              <a:buChar char="●"/>
            </a:pPr>
            <a:r>
              <a:rPr lang="es" b="1"/>
              <a:t>Dinámico</a:t>
            </a:r>
            <a:r>
              <a:rPr lang="es"/>
              <a:t>, permite la modificación de la información durante la ejecución de las sentencias. En estos tiempos, esta propiedad parece evidente, pero hace no mucho tiempo fue una revolución la posibilidad de modificaciones en tiempo de ejecución.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¿Cómo usar JavaScript?</a:t>
            </a:r>
            <a:endParaRPr/>
          </a:p>
        </p:txBody>
      </p:sp>
      <p:sp>
        <p:nvSpPr>
          <p:cNvPr id="121" name="Google Shape;121;p19"/>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JavaScript debe incluirse dentro de un archivo HTML, pero existen 3 formas de utilizarlo (algo en común con CSS):  </a:t>
            </a:r>
            <a:endParaRPr/>
          </a:p>
          <a:p>
            <a:pPr marL="457200" lvl="0" indent="-342900" algn="l" rtl="0">
              <a:spcBef>
                <a:spcPts val="1600"/>
              </a:spcBef>
              <a:spcAft>
                <a:spcPts val="0"/>
              </a:spcAft>
              <a:buSzPts val="1800"/>
              <a:buChar char="●"/>
            </a:pPr>
            <a:r>
              <a:rPr lang="es"/>
              <a:t>En la cabecera del HTML,  </a:t>
            </a:r>
            <a:endParaRPr/>
          </a:p>
          <a:p>
            <a:pPr marL="457200" lvl="0" indent="-342900" algn="l" rtl="0">
              <a:spcBef>
                <a:spcPts val="0"/>
              </a:spcBef>
              <a:spcAft>
                <a:spcPts val="0"/>
              </a:spcAft>
              <a:buSzPts val="1800"/>
              <a:buChar char="●"/>
            </a:pPr>
            <a:r>
              <a:rPr lang="es"/>
              <a:t>Incrustado en el HTML,  </a:t>
            </a:r>
            <a:endParaRPr/>
          </a:p>
          <a:p>
            <a:pPr marL="457200" lvl="0" indent="-342900" algn="l" rtl="0">
              <a:spcBef>
                <a:spcPts val="0"/>
              </a:spcBef>
              <a:spcAft>
                <a:spcPts val="0"/>
              </a:spcAft>
              <a:buSzPts val="1800"/>
              <a:buChar char="●"/>
            </a:pPr>
            <a:r>
              <a:rPr lang="es"/>
              <a:t>O referenciado en un archivo externo.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body" idx="4294967295"/>
          </p:nvPr>
        </p:nvSpPr>
        <p:spPr>
          <a:xfrm>
            <a:off x="0" y="277813"/>
            <a:ext cx="8521700" cy="4581525"/>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s"/>
              <a:t>Para utilizarlo en la cabecera del HTML, lo guardaremos dentro de las etiquetas </a:t>
            </a:r>
            <a:r>
              <a:rPr lang="es">
                <a:solidFill>
                  <a:srgbClr val="4A86E8"/>
                </a:solidFill>
              </a:rPr>
              <a:t>&lt;script type=”text/javascript”&gt; y &lt;/script&gt;</a:t>
            </a:r>
            <a:r>
              <a:rPr lang="es"/>
              <a:t>. ó sin type.  Ejemplo:</a:t>
            </a:r>
            <a:endParaRPr/>
          </a:p>
        </p:txBody>
      </p:sp>
      <p:sp>
        <p:nvSpPr>
          <p:cNvPr id="127" name="Google Shape;127;p20"/>
          <p:cNvSpPr txBox="1"/>
          <p:nvPr/>
        </p:nvSpPr>
        <p:spPr>
          <a:xfrm>
            <a:off x="656000" y="1144200"/>
            <a:ext cx="5743500" cy="35052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DOCTYPE</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569CD6"/>
                </a:solidFill>
                <a:latin typeface="Courier New"/>
                <a:ea typeface="Courier New"/>
                <a:cs typeface="Courier New"/>
                <a:sym typeface="Courier New"/>
              </a:rPr>
              <a:t>function</a:t>
            </a:r>
            <a:r>
              <a:rPr lang="es" sz="1050">
                <a:solidFill>
                  <a:srgbClr val="D4D4D4"/>
                </a:solidFill>
                <a:latin typeface="Courier New"/>
                <a:ea typeface="Courier New"/>
                <a:cs typeface="Courier New"/>
                <a:sym typeface="Courier New"/>
              </a:rPr>
              <a:t> </a:t>
            </a:r>
            <a:r>
              <a:rPr lang="es" sz="1050">
                <a:solidFill>
                  <a:srgbClr val="DCDCAA"/>
                </a:solidFill>
                <a:latin typeface="Courier New"/>
                <a:ea typeface="Courier New"/>
                <a:cs typeface="Courier New"/>
                <a:sym typeface="Courier New"/>
              </a:rPr>
              <a:t>myFunction</a:t>
            </a:r>
            <a:r>
              <a:rPr lang="es" sz="1050">
                <a:solidFill>
                  <a:srgbClr val="D4D4D4"/>
                </a:solidFill>
                <a:latin typeface="Courier New"/>
                <a:ea typeface="Courier New"/>
                <a:cs typeface="Courier New"/>
                <a:sym typeface="Courier New"/>
              </a:rPr>
              <a:t>() {</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document</a:t>
            </a:r>
            <a:r>
              <a:rPr lang="es" sz="1050">
                <a:solidFill>
                  <a:srgbClr val="D4D4D4"/>
                </a:solidFill>
                <a:latin typeface="Courier New"/>
                <a:ea typeface="Courier New"/>
                <a:cs typeface="Courier New"/>
                <a:sym typeface="Courier New"/>
              </a:rPr>
              <a:t>.</a:t>
            </a:r>
            <a:r>
              <a:rPr lang="es" sz="1050">
                <a:solidFill>
                  <a:srgbClr val="DCDCAA"/>
                </a:solidFill>
                <a:latin typeface="Courier New"/>
                <a:ea typeface="Courier New"/>
                <a:cs typeface="Courier New"/>
                <a:sym typeface="Courier New"/>
              </a:rPr>
              <a:t>getElementById</a:t>
            </a:r>
            <a:r>
              <a:rPr lang="es" sz="1050">
                <a:solidFill>
                  <a:srgbClr val="D4D4D4"/>
                </a:solidFill>
                <a:latin typeface="Courier New"/>
                <a:ea typeface="Courier New"/>
                <a:cs typeface="Courier New"/>
                <a:sym typeface="Courier New"/>
              </a:rPr>
              <a:t>(</a:t>
            </a:r>
            <a:r>
              <a:rPr lang="es" sz="1050">
                <a:solidFill>
                  <a:srgbClr val="CE9178"/>
                </a:solidFill>
                <a:latin typeface="Courier New"/>
                <a:ea typeface="Courier New"/>
                <a:cs typeface="Courier New"/>
                <a:sym typeface="Courier New"/>
              </a:rPr>
              <a:t>"demo"</a:t>
            </a:r>
            <a:r>
              <a:rPr lang="es" sz="1050">
                <a:solidFill>
                  <a:srgbClr val="D4D4D4"/>
                </a:solidFill>
                <a:latin typeface="Courier New"/>
                <a:ea typeface="Courier New"/>
                <a:cs typeface="Courier New"/>
                <a:sym typeface="Courier New"/>
              </a:rPr>
              <a:t>).</a:t>
            </a:r>
            <a:r>
              <a:rPr lang="es" sz="1050">
                <a:solidFill>
                  <a:srgbClr val="9CDCFE"/>
                </a:solidFill>
                <a:latin typeface="Courier New"/>
                <a:ea typeface="Courier New"/>
                <a:cs typeface="Courier New"/>
                <a:sym typeface="Courier New"/>
              </a:rPr>
              <a:t>innerHTML</a:t>
            </a:r>
            <a:r>
              <a:rPr lang="es" sz="1050">
                <a:solidFill>
                  <a:srgbClr val="D4D4D4"/>
                </a:solidFill>
                <a:latin typeface="Courier New"/>
                <a:ea typeface="Courier New"/>
                <a:cs typeface="Courier New"/>
                <a:sym typeface="Courier New"/>
              </a:rPr>
              <a:t> = </a:t>
            </a:r>
            <a:r>
              <a:rPr lang="es" sz="1050">
                <a:solidFill>
                  <a:srgbClr val="CE9178"/>
                </a:solidFill>
                <a:latin typeface="Courier New"/>
                <a:ea typeface="Courier New"/>
                <a:cs typeface="Courier New"/>
                <a:sym typeface="Courier New"/>
              </a:rPr>
              <a:t>"Paragraph changed."</a:t>
            </a: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D4D4D4"/>
                </a:solidFill>
                <a:latin typeface="Courier New"/>
                <a:ea typeface="Courier New"/>
                <a:cs typeface="Courier New"/>
                <a:sym typeface="Courier New"/>
              </a:rPr>
              <a:t>}</a:t>
            </a:r>
            <a:endParaRPr sz="105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script</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head</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h1</a:t>
            </a:r>
            <a:r>
              <a:rPr lang="es" sz="1050">
                <a:solidFill>
                  <a:srgbClr val="808080"/>
                </a:solidFill>
                <a:latin typeface="Courier New"/>
                <a:ea typeface="Courier New"/>
                <a:cs typeface="Courier New"/>
                <a:sym typeface="Courier New"/>
              </a:rPr>
              <a:t>&gt;</a:t>
            </a:r>
            <a:r>
              <a:rPr lang="es" sz="1050">
                <a:solidFill>
                  <a:srgbClr val="D4D4D4"/>
                </a:solidFill>
                <a:latin typeface="Courier New"/>
                <a:ea typeface="Courier New"/>
                <a:cs typeface="Courier New"/>
                <a:sym typeface="Courier New"/>
              </a:rPr>
              <a:t>A Web Page</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h1</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p</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id</a:t>
            </a:r>
            <a:r>
              <a:rPr lang="es" sz="1050">
                <a:solidFill>
                  <a:srgbClr val="D4D4D4"/>
                </a:solidFill>
                <a:latin typeface="Courier New"/>
                <a:ea typeface="Courier New"/>
                <a:cs typeface="Courier New"/>
                <a:sym typeface="Courier New"/>
              </a:rPr>
              <a:t>=</a:t>
            </a:r>
            <a:r>
              <a:rPr lang="es" sz="1050">
                <a:solidFill>
                  <a:srgbClr val="CE9178"/>
                </a:solidFill>
                <a:latin typeface="Courier New"/>
                <a:ea typeface="Courier New"/>
                <a:cs typeface="Courier New"/>
                <a:sym typeface="Courier New"/>
              </a:rPr>
              <a:t>"demo"</a:t>
            </a:r>
            <a:r>
              <a:rPr lang="es" sz="1050">
                <a:solidFill>
                  <a:srgbClr val="808080"/>
                </a:solidFill>
                <a:latin typeface="Courier New"/>
                <a:ea typeface="Courier New"/>
                <a:cs typeface="Courier New"/>
                <a:sym typeface="Courier New"/>
              </a:rPr>
              <a:t>&gt;</a:t>
            </a:r>
            <a:r>
              <a:rPr lang="es" sz="1050">
                <a:solidFill>
                  <a:srgbClr val="D4D4D4"/>
                </a:solidFill>
                <a:latin typeface="Courier New"/>
                <a:ea typeface="Courier New"/>
                <a:cs typeface="Courier New"/>
                <a:sym typeface="Courier New"/>
              </a:rPr>
              <a:t>A Paragraph</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p</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button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type</a:t>
            </a:r>
            <a:r>
              <a:rPr lang="es" sz="1050">
                <a:solidFill>
                  <a:srgbClr val="D4D4D4"/>
                </a:solidFill>
                <a:latin typeface="Courier New"/>
                <a:ea typeface="Courier New"/>
                <a:cs typeface="Courier New"/>
                <a:sym typeface="Courier New"/>
              </a:rPr>
              <a:t>=</a:t>
            </a:r>
            <a:r>
              <a:rPr lang="es" sz="1050">
                <a:solidFill>
                  <a:srgbClr val="CE9178"/>
                </a:solidFill>
                <a:latin typeface="Courier New"/>
                <a:ea typeface="Courier New"/>
                <a:cs typeface="Courier New"/>
                <a:sym typeface="Courier New"/>
              </a:rPr>
              <a:t>"button"</a:t>
            </a:r>
            <a:r>
              <a:rPr lang="es" sz="1050">
                <a:solidFill>
                  <a:srgbClr val="D4D4D4"/>
                </a:solidFill>
                <a:latin typeface="Courier New"/>
                <a:ea typeface="Courier New"/>
                <a:cs typeface="Courier New"/>
                <a:sym typeface="Courier New"/>
              </a:rPr>
              <a:t> </a:t>
            </a:r>
            <a:r>
              <a:rPr lang="es" sz="1050">
                <a:solidFill>
                  <a:srgbClr val="9CDCFE"/>
                </a:solidFill>
                <a:latin typeface="Courier New"/>
                <a:ea typeface="Courier New"/>
                <a:cs typeface="Courier New"/>
                <a:sym typeface="Courier New"/>
              </a:rPr>
              <a:t>onclick</a:t>
            </a:r>
            <a:r>
              <a:rPr lang="es" sz="1050">
                <a:solidFill>
                  <a:srgbClr val="D4D4D4"/>
                </a:solidFill>
                <a:latin typeface="Courier New"/>
                <a:ea typeface="Courier New"/>
                <a:cs typeface="Courier New"/>
                <a:sym typeface="Courier New"/>
              </a:rPr>
              <a:t>=</a:t>
            </a:r>
            <a:r>
              <a:rPr lang="es" sz="1050">
                <a:solidFill>
                  <a:srgbClr val="CE9178"/>
                </a:solidFill>
                <a:latin typeface="Courier New"/>
                <a:ea typeface="Courier New"/>
                <a:cs typeface="Courier New"/>
                <a:sym typeface="Courier New"/>
              </a:rPr>
              <a:t>"</a:t>
            </a:r>
            <a:r>
              <a:rPr lang="es" sz="1050">
                <a:solidFill>
                  <a:srgbClr val="DCDCAA"/>
                </a:solidFill>
                <a:latin typeface="Courier New"/>
                <a:ea typeface="Courier New"/>
                <a:cs typeface="Courier New"/>
                <a:sym typeface="Courier New"/>
              </a:rPr>
              <a:t>myFunction</a:t>
            </a:r>
            <a:r>
              <a:rPr lang="es" sz="1050">
                <a:solidFill>
                  <a:srgbClr val="CE9178"/>
                </a:solidFill>
                <a:latin typeface="Courier New"/>
                <a:ea typeface="Courier New"/>
                <a:cs typeface="Courier New"/>
                <a:sym typeface="Courier New"/>
              </a:rPr>
              <a:t>()"</a:t>
            </a:r>
            <a:r>
              <a:rPr lang="es" sz="1050">
                <a:solidFill>
                  <a:srgbClr val="808080"/>
                </a:solidFill>
                <a:latin typeface="Courier New"/>
                <a:ea typeface="Courier New"/>
                <a:cs typeface="Courier New"/>
                <a:sym typeface="Courier New"/>
              </a:rPr>
              <a:t>&gt;</a:t>
            </a:r>
            <a:r>
              <a:rPr lang="es" sz="1050">
                <a:solidFill>
                  <a:srgbClr val="D4D4D4"/>
                </a:solidFill>
                <a:latin typeface="Courier New"/>
                <a:ea typeface="Courier New"/>
                <a:cs typeface="Courier New"/>
                <a:sym typeface="Courier New"/>
              </a:rPr>
              <a:t>Try it</a:t>
            </a: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button</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body</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a:solidFill>
                  <a:srgbClr val="808080"/>
                </a:solidFill>
                <a:latin typeface="Courier New"/>
                <a:ea typeface="Courier New"/>
                <a:cs typeface="Courier New"/>
                <a:sym typeface="Courier New"/>
              </a:rPr>
              <a:t>&lt;/</a:t>
            </a:r>
            <a:r>
              <a:rPr lang="es" sz="1050">
                <a:solidFill>
                  <a:srgbClr val="569CD6"/>
                </a:solidFill>
                <a:latin typeface="Courier New"/>
                <a:ea typeface="Courier New"/>
                <a:cs typeface="Courier New"/>
                <a:sym typeface="Courier New"/>
              </a:rPr>
              <a:t>html</a:t>
            </a:r>
            <a:r>
              <a:rPr lang="es" sz="1050">
                <a:solidFill>
                  <a:srgbClr val="808080"/>
                </a:solidFill>
                <a:latin typeface="Courier New"/>
                <a:ea typeface="Courier New"/>
                <a:cs typeface="Courier New"/>
                <a:sym typeface="Courier New"/>
              </a:rPr>
              <a:t>&gt;</a:t>
            </a:r>
            <a:endParaRPr sz="1050">
              <a:solidFill>
                <a:srgbClr val="808080"/>
              </a:solidFill>
              <a:latin typeface="Courier New"/>
              <a:ea typeface="Courier New"/>
              <a:cs typeface="Courier New"/>
              <a:sym typeface="Courier New"/>
            </a:endParaRPr>
          </a:p>
          <a:p>
            <a:pPr marL="0" lvl="0" indent="0" algn="l" rtl="0">
              <a:spcBef>
                <a:spcPts val="0"/>
              </a:spcBef>
              <a:spcAft>
                <a:spcPts val="0"/>
              </a:spcAft>
              <a:buNone/>
            </a:pPr>
            <a:endParaRPr>
              <a:solidFill>
                <a:srgbClr val="0000CD"/>
              </a:solidFill>
              <a:latin typeface="Courier New"/>
              <a:ea typeface="Courier New"/>
              <a:cs typeface="Courier New"/>
              <a:sym typeface="Courier New"/>
            </a:endParaRPr>
          </a:p>
          <a:p>
            <a:pPr marL="0" lvl="0" indent="0" algn="l" rtl="0">
              <a:spcBef>
                <a:spcPts val="0"/>
              </a:spcBef>
              <a:spcAft>
                <a:spcPts val="0"/>
              </a:spcAft>
              <a:buNone/>
            </a:pPr>
            <a:endParaRPr sz="12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a:spLocks noGrp="1"/>
          </p:cNvSpPr>
          <p:nvPr>
            <p:ph type="body" idx="4294967295"/>
          </p:nvPr>
        </p:nvSpPr>
        <p:spPr>
          <a:xfrm>
            <a:off x="0" y="311150"/>
            <a:ext cx="8521700" cy="4257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Dentro de un HTML pueden existir multitud de estas etiquetas (nunca anidadas), e incluso pueden estar dentro del body (no respetando ciertos estándares).</a:t>
            </a:r>
            <a:endParaRPr dirty="0"/>
          </a:p>
          <a:p>
            <a:pPr marL="0" lvl="0" indent="0" algn="l" rtl="0">
              <a:spcBef>
                <a:spcPts val="1600"/>
              </a:spcBef>
              <a:spcAft>
                <a:spcPts val="0"/>
              </a:spcAft>
              <a:buNone/>
            </a:pPr>
            <a:r>
              <a:rPr lang="es" dirty="0"/>
              <a:t>Al utilizarlo incrustado, debemos ayudarnos de los eventos que se producen en un HTML, los cuales los veremos más adelante, pero al menos veamos un ejemplo:</a:t>
            </a: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0"/>
              </a:spcAft>
              <a:buNone/>
            </a:pPr>
            <a:endParaRPr dirty="0"/>
          </a:p>
          <a:p>
            <a:pPr marL="0" lvl="0" indent="0" algn="l" rtl="0">
              <a:spcBef>
                <a:spcPts val="1600"/>
              </a:spcBef>
              <a:spcAft>
                <a:spcPts val="1600"/>
              </a:spcAft>
              <a:buNone/>
            </a:pPr>
            <a:endParaRPr dirty="0"/>
          </a:p>
        </p:txBody>
      </p:sp>
      <p:sp>
        <p:nvSpPr>
          <p:cNvPr id="133" name="Google Shape;133;p21"/>
          <p:cNvSpPr txBox="1"/>
          <p:nvPr/>
        </p:nvSpPr>
        <p:spPr>
          <a:xfrm>
            <a:off x="1812632" y="2439987"/>
            <a:ext cx="4252800" cy="17454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DOCTYPE</a:t>
            </a:r>
            <a:r>
              <a:rPr lang="es" sz="1200" dirty="0">
                <a:solidFill>
                  <a:srgbClr val="D4D4D4"/>
                </a:solidFill>
                <a:latin typeface="Courier New"/>
                <a:ea typeface="Courier New"/>
                <a:cs typeface="Courier New"/>
                <a:sym typeface="Courier New"/>
              </a:rPr>
              <a:t> </a:t>
            </a:r>
            <a:r>
              <a:rPr lang="es" sz="1200" dirty="0">
                <a:solidFill>
                  <a:srgbClr val="9CDCFE"/>
                </a:solidFill>
                <a:latin typeface="Courier New"/>
                <a:ea typeface="Courier New"/>
                <a:cs typeface="Courier New"/>
                <a:sym typeface="Courier New"/>
              </a:rPr>
              <a:t>html</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html</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head</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head</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body</a:t>
            </a:r>
            <a:r>
              <a:rPr lang="es" sz="1200" dirty="0">
                <a:solidFill>
                  <a:srgbClr val="D4D4D4"/>
                </a:solidFill>
                <a:latin typeface="Courier New"/>
                <a:ea typeface="Courier New"/>
                <a:cs typeface="Courier New"/>
                <a:sym typeface="Courier New"/>
              </a:rPr>
              <a:t> </a:t>
            </a:r>
            <a:r>
              <a:rPr lang="es" sz="1200" dirty="0">
                <a:solidFill>
                  <a:srgbClr val="9CDCFE"/>
                </a:solidFill>
                <a:latin typeface="Courier New"/>
                <a:ea typeface="Courier New"/>
                <a:cs typeface="Courier New"/>
                <a:sym typeface="Courier New"/>
              </a:rPr>
              <a:t>onloadeddata</a:t>
            </a:r>
            <a:r>
              <a:rPr lang="es" sz="1200" dirty="0">
                <a:solidFill>
                  <a:srgbClr val="D4D4D4"/>
                </a:solidFill>
                <a:latin typeface="Courier New"/>
                <a:ea typeface="Courier New"/>
                <a:cs typeface="Courier New"/>
                <a:sym typeface="Courier New"/>
              </a:rPr>
              <a:t>=</a:t>
            </a:r>
            <a:r>
              <a:rPr lang="es" sz="1200" dirty="0">
                <a:solidFill>
                  <a:srgbClr val="CE9178"/>
                </a:solidFill>
                <a:latin typeface="Courier New"/>
                <a:ea typeface="Courier New"/>
                <a:cs typeface="Courier New"/>
                <a:sym typeface="Courier New"/>
              </a:rPr>
              <a:t>"</a:t>
            </a:r>
            <a:r>
              <a:rPr lang="es" sz="1200" dirty="0">
                <a:solidFill>
                  <a:srgbClr val="DCDCAA"/>
                </a:solidFill>
                <a:latin typeface="Courier New"/>
                <a:ea typeface="Courier New"/>
                <a:cs typeface="Courier New"/>
                <a:sym typeface="Courier New"/>
              </a:rPr>
              <a:t>alert</a:t>
            </a:r>
            <a:r>
              <a:rPr lang="es" sz="1200" dirty="0">
                <a:solidFill>
                  <a:srgbClr val="CE9178"/>
                </a:solidFill>
                <a:latin typeface="Courier New"/>
                <a:ea typeface="Courier New"/>
                <a:cs typeface="Courier New"/>
                <a:sym typeface="Courier New"/>
              </a:rPr>
              <a:t>('Hola');"</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body</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dirty="0">
                <a:solidFill>
                  <a:srgbClr val="808080"/>
                </a:solidFill>
                <a:latin typeface="Courier New"/>
                <a:ea typeface="Courier New"/>
                <a:cs typeface="Courier New"/>
                <a:sym typeface="Courier New"/>
              </a:rPr>
              <a:t>&lt;/</a:t>
            </a:r>
            <a:r>
              <a:rPr lang="es" sz="1200" dirty="0">
                <a:solidFill>
                  <a:srgbClr val="569CD6"/>
                </a:solidFill>
                <a:latin typeface="Courier New"/>
                <a:ea typeface="Courier New"/>
                <a:cs typeface="Courier New"/>
                <a:sym typeface="Courier New"/>
              </a:rPr>
              <a:t>html</a:t>
            </a:r>
            <a:r>
              <a:rPr lang="es" sz="1200" dirty="0">
                <a:solidFill>
                  <a:srgbClr val="808080"/>
                </a:solidFill>
                <a:latin typeface="Courier New"/>
                <a:ea typeface="Courier New"/>
                <a:cs typeface="Courier New"/>
                <a:sym typeface="Courier New"/>
              </a:rPr>
              <a:t>&gt;</a:t>
            </a:r>
            <a:endParaRPr sz="1200" dirty="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200" dirty="0">
              <a:solidFill>
                <a:srgbClr val="D4D4D4"/>
              </a:solidFill>
              <a:latin typeface="Courier New"/>
              <a:ea typeface="Courier New"/>
              <a:cs typeface="Courier New"/>
              <a:sym typeface="Courier New"/>
            </a:endParaRPr>
          </a:p>
          <a:p>
            <a:pPr marL="0" lvl="0" indent="0" algn="l" rtl="0">
              <a:spcBef>
                <a:spcPts val="0"/>
              </a:spcBef>
              <a:spcAft>
                <a:spcPts val="0"/>
              </a:spcAft>
              <a:buNone/>
            </a:pPr>
            <a:endParaRPr sz="1200" dirty="0">
              <a:solidFill>
                <a:srgbClr val="0000CD"/>
              </a:solidFill>
              <a:latin typeface="Courier New"/>
              <a:ea typeface="Courier New"/>
              <a:cs typeface="Courier New"/>
              <a:sym typeface="Courier New"/>
            </a:endParaRPr>
          </a:p>
          <a:p>
            <a:pPr marL="0" lvl="0" indent="0" algn="l" rtl="0">
              <a:spcBef>
                <a:spcPts val="0"/>
              </a:spcBef>
              <a:spcAft>
                <a:spcPts val="0"/>
              </a:spcAft>
              <a:buNone/>
            </a:pPr>
            <a:endParaRPr sz="1200" dirty="0">
              <a:solidFill>
                <a:srgbClr val="0000CD"/>
              </a:solidFill>
              <a:latin typeface="Courier New"/>
              <a:ea typeface="Courier New"/>
              <a:cs typeface="Courier New"/>
              <a:sym typeface="Courier New"/>
            </a:endParaRPr>
          </a:p>
          <a:p>
            <a:pPr marL="0" lvl="0" indent="0" algn="l" rtl="0">
              <a:spcBef>
                <a:spcPts val="0"/>
              </a:spcBef>
              <a:spcAft>
                <a:spcPts val="0"/>
              </a:spcAft>
              <a:buNone/>
            </a:pPr>
            <a:endParaRPr sz="1200" dirty="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body" idx="4294967295"/>
          </p:nvPr>
        </p:nvSpPr>
        <p:spPr>
          <a:xfrm>
            <a:off x="0" y="322263"/>
            <a:ext cx="8521700" cy="424656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Para utilizar un archivo externo, utilizamos la misma etiqueta, añadiendo un nuevo atributo </a:t>
            </a:r>
            <a:r>
              <a:rPr lang="es" b="1"/>
              <a:t>src</a:t>
            </a:r>
            <a:r>
              <a:rPr lang="es"/>
              <a:t> (de source traducido como fuente u origen) que indica la posición del archivo. Ejemplo:</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
        <p:nvSpPr>
          <p:cNvPr id="139" name="Google Shape;139;p22"/>
          <p:cNvSpPr txBox="1"/>
          <p:nvPr/>
        </p:nvSpPr>
        <p:spPr>
          <a:xfrm>
            <a:off x="263125" y="1586325"/>
            <a:ext cx="5266200" cy="22998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DOCTYPE</a:t>
            </a:r>
            <a:r>
              <a:rPr lang="es" sz="1200">
                <a:solidFill>
                  <a:srgbClr val="D4D4D4"/>
                </a:solidFill>
                <a:latin typeface="Courier New"/>
                <a:ea typeface="Courier New"/>
                <a:cs typeface="Courier New"/>
                <a:sym typeface="Courier New"/>
              </a:rPr>
              <a:t> </a:t>
            </a:r>
            <a:r>
              <a:rPr lang="es" sz="1200">
                <a:solidFill>
                  <a:srgbClr val="9CDCFE"/>
                </a:solidFill>
                <a:latin typeface="Courier New"/>
                <a:ea typeface="Courier New"/>
                <a:cs typeface="Courier New"/>
                <a:sym typeface="Courier New"/>
              </a:rPr>
              <a:t>html</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html</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head</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D4D4D4"/>
                </a:solidFill>
                <a:latin typeface="Courier New"/>
                <a:ea typeface="Courier New"/>
                <a:cs typeface="Courier New"/>
                <a:sym typeface="Courier New"/>
              </a:rPr>
              <a:t>    </a:t>
            </a: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script</a:t>
            </a:r>
            <a:r>
              <a:rPr lang="es" sz="1200">
                <a:solidFill>
                  <a:srgbClr val="D4D4D4"/>
                </a:solidFill>
                <a:latin typeface="Courier New"/>
                <a:ea typeface="Courier New"/>
                <a:cs typeface="Courier New"/>
                <a:sym typeface="Courier New"/>
              </a:rPr>
              <a:t> </a:t>
            </a:r>
            <a:r>
              <a:rPr lang="es" sz="1200">
                <a:solidFill>
                  <a:srgbClr val="9CDCFE"/>
                </a:solidFill>
                <a:latin typeface="Courier New"/>
                <a:ea typeface="Courier New"/>
                <a:cs typeface="Courier New"/>
                <a:sym typeface="Courier New"/>
              </a:rPr>
              <a:t>charset</a:t>
            </a:r>
            <a:r>
              <a:rPr lang="es" sz="1200">
                <a:solidFill>
                  <a:srgbClr val="D4D4D4"/>
                </a:solidFill>
                <a:latin typeface="Courier New"/>
                <a:ea typeface="Courier New"/>
                <a:cs typeface="Courier New"/>
                <a:sym typeface="Courier New"/>
              </a:rPr>
              <a:t>=</a:t>
            </a:r>
            <a:r>
              <a:rPr lang="es" sz="1200">
                <a:solidFill>
                  <a:srgbClr val="CE9178"/>
                </a:solidFill>
                <a:latin typeface="Courier New"/>
                <a:ea typeface="Courier New"/>
                <a:cs typeface="Courier New"/>
                <a:sym typeface="Courier New"/>
              </a:rPr>
              <a:t>"UTF-8"</a:t>
            </a:r>
            <a:r>
              <a:rPr lang="es" sz="1200">
                <a:solidFill>
                  <a:srgbClr val="D4D4D4"/>
                </a:solidFill>
                <a:latin typeface="Courier New"/>
                <a:ea typeface="Courier New"/>
                <a:cs typeface="Courier New"/>
                <a:sym typeface="Courier New"/>
              </a:rPr>
              <a:t> </a:t>
            </a:r>
            <a:r>
              <a:rPr lang="es" sz="1200">
                <a:solidFill>
                  <a:srgbClr val="9CDCFE"/>
                </a:solidFill>
                <a:latin typeface="Courier New"/>
                <a:ea typeface="Courier New"/>
                <a:cs typeface="Courier New"/>
                <a:sym typeface="Courier New"/>
              </a:rPr>
              <a:t>src</a:t>
            </a:r>
            <a:r>
              <a:rPr lang="es" sz="1200">
                <a:solidFill>
                  <a:srgbClr val="D4D4D4"/>
                </a:solidFill>
                <a:latin typeface="Courier New"/>
                <a:ea typeface="Courier New"/>
                <a:cs typeface="Courier New"/>
                <a:sym typeface="Courier New"/>
              </a:rPr>
              <a:t>=</a:t>
            </a:r>
            <a:r>
              <a:rPr lang="es" sz="1200">
                <a:solidFill>
                  <a:srgbClr val="CE9178"/>
                </a:solidFill>
                <a:latin typeface="Courier New"/>
                <a:ea typeface="Courier New"/>
                <a:cs typeface="Courier New"/>
                <a:sym typeface="Courier New"/>
              </a:rPr>
              <a:t>"miScript.js"</a:t>
            </a:r>
            <a:r>
              <a:rPr lang="es" sz="1200">
                <a:solidFill>
                  <a:srgbClr val="808080"/>
                </a:solidFill>
                <a:latin typeface="Courier New"/>
                <a:ea typeface="Courier New"/>
                <a:cs typeface="Courier New"/>
                <a:sym typeface="Courier New"/>
              </a:rPr>
              <a:t>&gt;&lt;/</a:t>
            </a:r>
            <a:r>
              <a:rPr lang="es" sz="1200">
                <a:solidFill>
                  <a:srgbClr val="569CD6"/>
                </a:solidFill>
                <a:latin typeface="Courier New"/>
                <a:ea typeface="Courier New"/>
                <a:cs typeface="Courier New"/>
                <a:sym typeface="Courier New"/>
              </a:rPr>
              <a:t>script</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endParaRPr sz="120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head</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body</a:t>
            </a:r>
            <a:r>
              <a:rPr lang="es" sz="1200">
                <a:solidFill>
                  <a:srgbClr val="D4D4D4"/>
                </a:solidFill>
                <a:latin typeface="Courier New"/>
                <a:ea typeface="Courier New"/>
                <a:cs typeface="Courier New"/>
                <a:sym typeface="Courier New"/>
              </a:rPr>
              <a:t> </a:t>
            </a:r>
            <a:r>
              <a:rPr lang="es" sz="1200">
                <a:solidFill>
                  <a:srgbClr val="9CDCFE"/>
                </a:solidFill>
                <a:latin typeface="Courier New"/>
                <a:ea typeface="Courier New"/>
                <a:cs typeface="Courier New"/>
                <a:sym typeface="Courier New"/>
              </a:rPr>
              <a:t>onload</a:t>
            </a:r>
            <a:r>
              <a:rPr lang="es" sz="1200">
                <a:solidFill>
                  <a:srgbClr val="D4D4D4"/>
                </a:solidFill>
                <a:latin typeface="Courier New"/>
                <a:ea typeface="Courier New"/>
                <a:cs typeface="Courier New"/>
                <a:sym typeface="Courier New"/>
              </a:rPr>
              <a:t>=</a:t>
            </a:r>
            <a:r>
              <a:rPr lang="es" sz="1200">
                <a:solidFill>
                  <a:srgbClr val="CE9178"/>
                </a:solidFill>
                <a:latin typeface="Courier New"/>
                <a:ea typeface="Courier New"/>
                <a:cs typeface="Courier New"/>
                <a:sym typeface="Courier New"/>
              </a:rPr>
              <a:t>"</a:t>
            </a:r>
            <a:r>
              <a:rPr lang="es" sz="1200">
                <a:solidFill>
                  <a:srgbClr val="DCDCAA"/>
                </a:solidFill>
                <a:latin typeface="Courier New"/>
                <a:ea typeface="Courier New"/>
                <a:cs typeface="Courier New"/>
                <a:sym typeface="Courier New"/>
              </a:rPr>
              <a:t>alerta</a:t>
            </a:r>
            <a:r>
              <a:rPr lang="es" sz="1200">
                <a:solidFill>
                  <a:srgbClr val="CE9178"/>
                </a:solidFill>
                <a:latin typeface="Courier New"/>
                <a:ea typeface="Courier New"/>
                <a:cs typeface="Courier New"/>
                <a:sym typeface="Courier New"/>
              </a:rPr>
              <a:t>();"</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body</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200">
                <a:solidFill>
                  <a:srgbClr val="808080"/>
                </a:solidFill>
                <a:latin typeface="Courier New"/>
                <a:ea typeface="Courier New"/>
                <a:cs typeface="Courier New"/>
                <a:sym typeface="Courier New"/>
              </a:rPr>
              <a:t>&lt;/</a:t>
            </a:r>
            <a:r>
              <a:rPr lang="es" sz="1200">
                <a:solidFill>
                  <a:srgbClr val="569CD6"/>
                </a:solidFill>
                <a:latin typeface="Courier New"/>
                <a:ea typeface="Courier New"/>
                <a:cs typeface="Courier New"/>
                <a:sym typeface="Courier New"/>
              </a:rPr>
              <a:t>html</a:t>
            </a:r>
            <a:r>
              <a:rPr lang="es" sz="1200">
                <a:solidFill>
                  <a:srgbClr val="808080"/>
                </a:solidFill>
                <a:latin typeface="Courier New"/>
                <a:ea typeface="Courier New"/>
                <a:cs typeface="Courier New"/>
                <a:sym typeface="Courier New"/>
              </a:rPr>
              <a:t>&gt;</a:t>
            </a:r>
            <a:endParaRPr sz="1200">
              <a:solidFill>
                <a:srgbClr val="808080"/>
              </a:solidFill>
              <a:latin typeface="Courier New"/>
              <a:ea typeface="Courier New"/>
              <a:cs typeface="Courier New"/>
              <a:sym typeface="Courier New"/>
            </a:endParaRPr>
          </a:p>
          <a:p>
            <a:pPr marL="0" lvl="0" indent="0" algn="l" rtl="0">
              <a:spcBef>
                <a:spcPts val="0"/>
              </a:spcBef>
              <a:spcAft>
                <a:spcPts val="0"/>
              </a:spcAft>
              <a:buNone/>
            </a:pPr>
            <a:endParaRPr sz="1200">
              <a:solidFill>
                <a:srgbClr val="0000CD"/>
              </a:solidFill>
              <a:latin typeface="Courier New"/>
              <a:ea typeface="Courier New"/>
              <a:cs typeface="Courier New"/>
              <a:sym typeface="Courier New"/>
            </a:endParaRPr>
          </a:p>
          <a:p>
            <a:pPr marL="0" lvl="0" indent="0" algn="l" rtl="0">
              <a:spcBef>
                <a:spcPts val="0"/>
              </a:spcBef>
              <a:spcAft>
                <a:spcPts val="0"/>
              </a:spcAft>
              <a:buNone/>
            </a:pPr>
            <a:endParaRPr sz="1200">
              <a:latin typeface="Roboto"/>
              <a:ea typeface="Roboto"/>
              <a:cs typeface="Roboto"/>
              <a:sym typeface="Roboto"/>
            </a:endParaRPr>
          </a:p>
          <a:p>
            <a:pPr marL="0" lvl="0" indent="0" algn="l" rtl="0">
              <a:spcBef>
                <a:spcPts val="0"/>
              </a:spcBef>
              <a:spcAft>
                <a:spcPts val="0"/>
              </a:spcAft>
              <a:buNone/>
            </a:pPr>
            <a:endParaRPr sz="1200">
              <a:latin typeface="Roboto"/>
              <a:ea typeface="Roboto"/>
              <a:cs typeface="Roboto"/>
              <a:sym typeface="Roboto"/>
            </a:endParaRPr>
          </a:p>
          <a:p>
            <a:pPr marL="0" lvl="0" indent="0" algn="l" rtl="0">
              <a:spcBef>
                <a:spcPts val="0"/>
              </a:spcBef>
              <a:spcAft>
                <a:spcPts val="0"/>
              </a:spcAft>
              <a:buNone/>
            </a:pPr>
            <a:endParaRPr sz="1200">
              <a:latin typeface="Roboto"/>
              <a:ea typeface="Roboto"/>
              <a:cs typeface="Roboto"/>
              <a:sym typeface="Roboto"/>
            </a:endParaRPr>
          </a:p>
        </p:txBody>
      </p:sp>
      <p:sp>
        <p:nvSpPr>
          <p:cNvPr id="140" name="Google Shape;140;p22"/>
          <p:cNvSpPr txBox="1"/>
          <p:nvPr/>
        </p:nvSpPr>
        <p:spPr>
          <a:xfrm>
            <a:off x="5725725" y="1678700"/>
            <a:ext cx="3329100" cy="19716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a:solidFill>
                  <a:srgbClr val="569CD6"/>
                </a:solidFill>
                <a:latin typeface="Courier New"/>
                <a:ea typeface="Courier New"/>
                <a:cs typeface="Courier New"/>
                <a:sym typeface="Courier New"/>
              </a:rPr>
              <a:t>//</a:t>
            </a:r>
            <a:r>
              <a:rPr lang="es">
                <a:solidFill>
                  <a:srgbClr val="CE9178"/>
                </a:solidFill>
                <a:latin typeface="Courier New"/>
                <a:ea typeface="Courier New"/>
                <a:cs typeface="Courier New"/>
                <a:sym typeface="Courier New"/>
              </a:rPr>
              <a:t>miScript.js</a:t>
            </a:r>
            <a:endParaRPr>
              <a:solidFill>
                <a:srgbClr val="569CD6"/>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a:solidFill>
                  <a:srgbClr val="569CD6"/>
                </a:solidFill>
                <a:latin typeface="Courier New"/>
                <a:ea typeface="Courier New"/>
                <a:cs typeface="Courier New"/>
                <a:sym typeface="Courier New"/>
              </a:rPr>
              <a:t>function</a:t>
            </a:r>
            <a:r>
              <a:rPr lang="es">
                <a:solidFill>
                  <a:srgbClr val="D4D4D4"/>
                </a:solidFill>
                <a:latin typeface="Courier New"/>
                <a:ea typeface="Courier New"/>
                <a:cs typeface="Courier New"/>
                <a:sym typeface="Courier New"/>
              </a:rPr>
              <a:t> </a:t>
            </a:r>
            <a:r>
              <a:rPr lang="es">
                <a:solidFill>
                  <a:srgbClr val="DCDCAA"/>
                </a:solidFill>
                <a:latin typeface="Courier New"/>
                <a:ea typeface="Courier New"/>
                <a:cs typeface="Courier New"/>
                <a:sym typeface="Courier New"/>
              </a:rPr>
              <a:t>alerta</a:t>
            </a:r>
            <a:r>
              <a:rPr lang="es">
                <a:solidFill>
                  <a:srgbClr val="D4D4D4"/>
                </a:solidFill>
                <a:latin typeface="Courier New"/>
                <a:ea typeface="Courier New"/>
                <a:cs typeface="Courier New"/>
                <a:sym typeface="Courier New"/>
              </a:rPr>
              <a:t>() {</a:t>
            </a:r>
            <a:endParaRPr>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a:solidFill>
                  <a:srgbClr val="D4D4D4"/>
                </a:solidFill>
                <a:latin typeface="Courier New"/>
                <a:ea typeface="Courier New"/>
                <a:cs typeface="Courier New"/>
                <a:sym typeface="Courier New"/>
              </a:rPr>
              <a:t>    </a:t>
            </a:r>
            <a:r>
              <a:rPr lang="es">
                <a:solidFill>
                  <a:srgbClr val="DCDCAA"/>
                </a:solidFill>
                <a:latin typeface="Courier New"/>
                <a:ea typeface="Courier New"/>
                <a:cs typeface="Courier New"/>
                <a:sym typeface="Courier New"/>
              </a:rPr>
              <a:t>alert</a:t>
            </a:r>
            <a:r>
              <a:rPr lang="es">
                <a:solidFill>
                  <a:srgbClr val="D4D4D4"/>
                </a:solidFill>
                <a:latin typeface="Courier New"/>
                <a:ea typeface="Courier New"/>
                <a:cs typeface="Courier New"/>
                <a:sym typeface="Courier New"/>
              </a:rPr>
              <a:t> (</a:t>
            </a:r>
            <a:r>
              <a:rPr lang="es">
                <a:solidFill>
                  <a:srgbClr val="CE9178"/>
                </a:solidFill>
                <a:latin typeface="Courier New"/>
                <a:ea typeface="Courier New"/>
                <a:cs typeface="Courier New"/>
                <a:sym typeface="Courier New"/>
              </a:rPr>
              <a:t>"Hola mundo"</a:t>
            </a:r>
            <a:r>
              <a:rPr lang="es">
                <a:solidFill>
                  <a:srgbClr val="D4D4D4"/>
                </a:solidFill>
                <a:latin typeface="Courier New"/>
                <a:ea typeface="Courier New"/>
                <a:cs typeface="Courier New"/>
                <a:sym typeface="Courier New"/>
              </a:rPr>
              <a:t>);</a:t>
            </a:r>
            <a:endParaRPr>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a:solidFill>
                  <a:srgbClr val="D4D4D4"/>
                </a:solidFill>
                <a:latin typeface="Courier New"/>
                <a:ea typeface="Courier New"/>
                <a:cs typeface="Courier New"/>
                <a:sym typeface="Courier New"/>
              </a:rPr>
              <a:t>	</a:t>
            </a:r>
            <a:r>
              <a:rPr lang="es" sz="1300">
                <a:solidFill>
                  <a:srgbClr val="4EC9B0"/>
                </a:solidFill>
                <a:latin typeface="Courier New"/>
                <a:ea typeface="Courier New"/>
                <a:cs typeface="Courier New"/>
                <a:sym typeface="Courier New"/>
              </a:rPr>
              <a:t>console</a:t>
            </a:r>
            <a:r>
              <a:rPr lang="es" sz="1300">
                <a:solidFill>
                  <a:srgbClr val="D4D4D4"/>
                </a:solidFill>
                <a:latin typeface="Courier New"/>
                <a:ea typeface="Courier New"/>
                <a:cs typeface="Courier New"/>
                <a:sym typeface="Courier New"/>
              </a:rPr>
              <a:t>.</a:t>
            </a:r>
            <a:r>
              <a:rPr lang="es" sz="1300">
                <a:solidFill>
                  <a:srgbClr val="DCDCAA"/>
                </a:solidFill>
                <a:latin typeface="Courier New"/>
                <a:ea typeface="Courier New"/>
                <a:cs typeface="Courier New"/>
                <a:sym typeface="Courier New"/>
              </a:rPr>
              <a:t>log</a:t>
            </a:r>
            <a:r>
              <a:rPr lang="es" sz="1300">
                <a:solidFill>
                  <a:srgbClr val="D4D4D4"/>
                </a:solidFill>
                <a:latin typeface="Courier New"/>
                <a:ea typeface="Courier New"/>
                <a:cs typeface="Courier New"/>
                <a:sym typeface="Courier New"/>
              </a:rPr>
              <a:t>(</a:t>
            </a:r>
            <a:r>
              <a:rPr lang="es" sz="1300">
                <a:solidFill>
                  <a:srgbClr val="CE9178"/>
                </a:solidFill>
                <a:latin typeface="Courier New"/>
                <a:ea typeface="Courier New"/>
                <a:cs typeface="Courier New"/>
                <a:sym typeface="Courier New"/>
              </a:rPr>
              <a:t>"Hola mundo"</a:t>
            </a:r>
            <a:r>
              <a:rPr lang="es" sz="1300">
                <a:solidFill>
                  <a:srgbClr val="D4D4D4"/>
                </a:solidFill>
                <a:latin typeface="Courier New"/>
                <a:ea typeface="Courier New"/>
                <a:cs typeface="Courier New"/>
                <a:sym typeface="Courier New"/>
              </a:rPr>
              <a:t>);</a:t>
            </a:r>
            <a:endParaRPr sz="130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a:solidFill>
                  <a:srgbClr val="D4D4D4"/>
                </a:solidFill>
                <a:latin typeface="Courier New"/>
                <a:ea typeface="Courier New"/>
                <a:cs typeface="Courier New"/>
                <a:sym typeface="Courier New"/>
              </a:rPr>
              <a:t>}</a:t>
            </a:r>
            <a:endParaRPr>
              <a:solidFill>
                <a:srgbClr val="D4D4D4"/>
              </a:solidFill>
              <a:latin typeface="Courier New"/>
              <a:ea typeface="Courier New"/>
              <a:cs typeface="Courier New"/>
              <a:sym typeface="Courier New"/>
            </a:endParaRPr>
          </a:p>
          <a:p>
            <a:pPr marL="0" lvl="0" indent="0" algn="l"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Palabras reservadas en JavaScript.</a:t>
            </a:r>
            <a:endParaRPr/>
          </a:p>
        </p:txBody>
      </p:sp>
      <p:sp>
        <p:nvSpPr>
          <p:cNvPr id="146" name="Google Shape;146;p23"/>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todos los lenguajes de programación existen una serie de palabras que no se deben de usar porque tienen un sentido propio, en JS son:</a:t>
            </a:r>
            <a:endParaRPr/>
          </a:p>
          <a:p>
            <a:pPr marL="0" lvl="0" indent="0" algn="l" rtl="0">
              <a:spcBef>
                <a:spcPts val="1600"/>
              </a:spcBef>
              <a:spcAft>
                <a:spcPts val="0"/>
              </a:spcAft>
              <a:buNone/>
            </a:pPr>
            <a:r>
              <a:rPr lang="es">
                <a:solidFill>
                  <a:srgbClr val="4A86E8"/>
                </a:solidFill>
              </a:rPr>
              <a:t>break, case, catch, continue, default, delete, do, else, finally, for, function, if, in, instanceof, new, null, return, switch, this, throw, try, typeof, var, void, while, with. </a:t>
            </a:r>
            <a:endParaRPr>
              <a:solidFill>
                <a:srgbClr val="4A86E8"/>
              </a:solidFill>
            </a:endParaRPr>
          </a:p>
          <a:p>
            <a:pPr marL="0" lvl="0" indent="0" algn="l" rtl="0">
              <a:spcBef>
                <a:spcPts val="1600"/>
              </a:spcBef>
              <a:spcAft>
                <a:spcPts val="1600"/>
              </a:spcAft>
              <a:buNone/>
            </a:pPr>
            <a:r>
              <a:rPr lang="es"/>
              <a:t>JavaScript no se tratan los espacios en blanco, saltos de línea y tabuladores, de forma similar a cómo los tratan los navegadores web. En JavaScript se distinguen entre las mayúsculas y las minúsculas, las palabras “HOLA” y “hola” son palabras diferentes.</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4"/>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Tipos usados en JavaScript.</a:t>
            </a:r>
            <a:endParaRPr/>
          </a:p>
        </p:txBody>
      </p:sp>
      <p:sp>
        <p:nvSpPr>
          <p:cNvPr id="152" name="Google Shape;152;p24"/>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Hemos dicho que JavaScript es un lenguaje de programación débilmente tipado, eso no quiere decir que no tenga tipos. Estos tipos son soportados por una serie de datos. Un tipo datos es una restricción de valores dada, por ejemplo: un entero sólo puede tener valores de números positivos, negativos o cero… sin parte decimal.</a:t>
            </a:r>
            <a:endParaRPr/>
          </a:p>
          <a:p>
            <a:pPr marL="0" lvl="0" indent="0" algn="l" rtl="0">
              <a:spcBef>
                <a:spcPts val="1600"/>
              </a:spcBef>
              <a:spcAft>
                <a:spcPts val="0"/>
              </a:spcAft>
              <a:buNone/>
            </a:pPr>
            <a:r>
              <a:rPr lang="es"/>
              <a:t>En JavaScript tenemos los siguientes tipos principales:  </a:t>
            </a:r>
            <a:endParaRPr/>
          </a:p>
          <a:p>
            <a:pPr marL="457200" lvl="0" indent="-342900" algn="l" rtl="0">
              <a:spcBef>
                <a:spcPts val="1600"/>
              </a:spcBef>
              <a:spcAft>
                <a:spcPts val="0"/>
              </a:spcAft>
              <a:buSzPts val="1800"/>
              <a:buChar char="●"/>
            </a:pPr>
            <a:r>
              <a:rPr lang="es" b="1"/>
              <a:t>Numérico</a:t>
            </a:r>
            <a:r>
              <a:rPr lang="es"/>
              <a:t>: que admite todos los posibles valores de números (0, 12, -23.4, etc.),  </a:t>
            </a:r>
            <a:endParaRPr/>
          </a:p>
          <a:p>
            <a:pPr marL="457200" lvl="0" indent="-342900" algn="l" rtl="0">
              <a:spcBef>
                <a:spcPts val="0"/>
              </a:spcBef>
              <a:spcAft>
                <a:spcPts val="0"/>
              </a:spcAft>
              <a:buSzPts val="1800"/>
              <a:buChar char="●"/>
            </a:pPr>
            <a:r>
              <a:rPr lang="es" b="1"/>
              <a:t>Booleano</a:t>
            </a:r>
            <a:r>
              <a:rPr lang="es"/>
              <a:t>: que puede tomar valor SÍ (true) o NO (false).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body" idx="4294967295"/>
          </p:nvPr>
        </p:nvSpPr>
        <p:spPr>
          <a:xfrm>
            <a:off x="0" y="257175"/>
            <a:ext cx="8521700" cy="4543425"/>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b="1"/>
              <a:t>Carácter</a:t>
            </a:r>
            <a:r>
              <a:rPr lang="es"/>
              <a:t>: que guarda caracteres (¿, $, w, c, 8, etc.) para identificarlos se pone una comilla simple al principio y una comilla simple al final, los ejemplos anteriores serían: ‘¿’, ‘$’, ‘w’, ‘c’, ‘8’.</a:t>
            </a:r>
            <a:endParaRPr/>
          </a:p>
          <a:p>
            <a:pPr marL="457200" lvl="0" indent="-342900" algn="l" rtl="0">
              <a:spcBef>
                <a:spcPts val="0"/>
              </a:spcBef>
              <a:spcAft>
                <a:spcPts val="0"/>
              </a:spcAft>
              <a:buSzPts val="1800"/>
              <a:buChar char="●"/>
            </a:pPr>
            <a:r>
              <a:rPr lang="es" b="1"/>
              <a:t>String o cadena de caracteres</a:t>
            </a:r>
            <a:r>
              <a:rPr lang="es"/>
              <a:t>: son agrupaciones de caracteres que pueden formar palabras, frases, etc. Para distinguir que es una cadena de caracteres se antepone unas comillas dobles y otras que van al final. Nota: JavaScript permite utilizar comillas simples aunque lo más correcto es usar las comillas dobles. Ejemplo: “Esto es una cadena de caracteres”.</a:t>
            </a:r>
            <a:endParaRPr/>
          </a:p>
          <a:p>
            <a:pPr marL="457200" lvl="0" indent="-342900" algn="l" rtl="0">
              <a:spcBef>
                <a:spcPts val="0"/>
              </a:spcBef>
              <a:spcAft>
                <a:spcPts val="0"/>
              </a:spcAft>
              <a:buSzPts val="1800"/>
              <a:buChar char="●"/>
            </a:pPr>
            <a:r>
              <a:rPr lang="es" b="1"/>
              <a:t>Arrays</a:t>
            </a:r>
            <a:r>
              <a:rPr lang="es"/>
              <a:t>: son agrupaciones de objetos, se verán y explicarán más adelante.</a:t>
            </a:r>
            <a:endParaRPr/>
          </a:p>
          <a:p>
            <a:pPr marL="457200" lvl="0" indent="-342900" algn="l" rtl="0">
              <a:spcBef>
                <a:spcPts val="0"/>
              </a:spcBef>
              <a:spcAft>
                <a:spcPts val="0"/>
              </a:spcAft>
              <a:buSzPts val="1800"/>
              <a:buChar char="●"/>
            </a:pPr>
            <a:r>
              <a:rPr lang="es" b="1"/>
              <a:t>Definidos por el usuario</a:t>
            </a:r>
            <a:r>
              <a:rPr lang="es"/>
              <a:t>: son los que crean los programadores con estructuras de POO (objetos).</a:t>
            </a:r>
            <a:endParaRPr/>
          </a:p>
          <a:p>
            <a:pPr marL="0" lvl="0" indent="0" algn="l" rtl="0">
              <a:spcBef>
                <a:spcPts val="1600"/>
              </a:spcBef>
              <a:spcAft>
                <a:spcPts val="0"/>
              </a:spcAft>
              <a:buNone/>
            </a:pPr>
            <a:r>
              <a:rPr lang="es"/>
              <a:t>Ej: </a:t>
            </a:r>
            <a:r>
              <a:rPr lang="es">
                <a:solidFill>
                  <a:srgbClr val="569CD6"/>
                </a:solidFill>
              </a:rPr>
              <a:t>foo = “Hola”;</a:t>
            </a:r>
            <a:r>
              <a:rPr lang="es"/>
              <a:t>  ---&gt; Valor como cadena.</a:t>
            </a:r>
            <a:endParaRPr/>
          </a:p>
          <a:p>
            <a:pPr marL="0" lvl="0" indent="0" algn="l" rtl="0">
              <a:spcBef>
                <a:spcPts val="1600"/>
              </a:spcBef>
              <a:spcAft>
                <a:spcPts val="0"/>
              </a:spcAft>
              <a:buNone/>
            </a:pPr>
            <a:r>
              <a:rPr lang="es"/>
              <a:t>     </a:t>
            </a:r>
            <a:r>
              <a:rPr lang="es">
                <a:solidFill>
                  <a:srgbClr val="569CD6"/>
                </a:solidFill>
              </a:rPr>
              <a:t>foo = 3 ;</a:t>
            </a:r>
            <a:r>
              <a:rPr lang="es"/>
              <a:t>  ---&gt; Ahora como numérico.</a:t>
            </a:r>
            <a:endParaRPr/>
          </a:p>
          <a:p>
            <a:pPr marL="0" lvl="0" indent="0" algn="l" rtl="0">
              <a:spcBef>
                <a:spcPts val="1600"/>
              </a:spcBef>
              <a:spcAft>
                <a:spcPts val="0"/>
              </a:spcAft>
              <a:buNone/>
            </a:pPr>
            <a:endParaRPr/>
          </a:p>
          <a:p>
            <a:pPr marL="457200" lvl="0" indent="0" algn="l" rtl="0">
              <a:spcBef>
                <a:spcPts val="1600"/>
              </a:spcBef>
              <a:spcAft>
                <a:spcPts val="16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body" idx="4294967295"/>
          </p:nvPr>
        </p:nvSpPr>
        <p:spPr>
          <a:xfrm>
            <a:off x="522514" y="333375"/>
            <a:ext cx="7999186" cy="4235450"/>
          </a:xfrm>
          <a:prstGeom prst="rect">
            <a:avLst/>
          </a:prstGeom>
        </p:spPr>
        <p:txBody>
          <a:bodyPr spcFirstLastPara="1" wrap="square" lIns="91425" tIns="91425" rIns="91425" bIns="91425" anchor="t" anchorCtr="0">
            <a:noAutofit/>
          </a:bodyPr>
          <a:lstStyle/>
          <a:p>
            <a:pPr marL="0" lvl="0" indent="0">
              <a:spcAft>
                <a:spcPts val="1600"/>
              </a:spcAft>
              <a:buNone/>
            </a:pPr>
            <a:r>
              <a:rPr lang="es" b="1" dirty="0"/>
              <a:t>undefined</a:t>
            </a:r>
            <a:r>
              <a:rPr lang="es" dirty="0"/>
              <a:t> vs </a:t>
            </a:r>
            <a:r>
              <a:rPr lang="es" b="1" dirty="0"/>
              <a:t>null</a:t>
            </a:r>
            <a:endParaRPr lang="es" dirty="0"/>
          </a:p>
          <a:p>
            <a:pPr marL="0" lvl="0" indent="0" algn="l" rtl="0">
              <a:spcBef>
                <a:spcPts val="0"/>
              </a:spcBef>
              <a:spcAft>
                <a:spcPts val="1600"/>
              </a:spcAft>
              <a:buNone/>
            </a:pPr>
            <a:r>
              <a:rPr lang="es" dirty="0"/>
              <a:t>Muchos objetos creados en programación, inicialmente (antes de que se les asigne un valor), toman el valor</a:t>
            </a:r>
            <a:r>
              <a:rPr lang="es" b="1" dirty="0"/>
              <a:t> undefined</a:t>
            </a:r>
            <a:r>
              <a:rPr lang="es" dirty="0"/>
              <a:t>. Posteriormente podemos usar </a:t>
            </a:r>
            <a:r>
              <a:rPr lang="es" b="1" dirty="0"/>
              <a:t>null</a:t>
            </a:r>
            <a:r>
              <a:rPr lang="es" dirty="0"/>
              <a:t> para asignar “nada” a una variable. La diferencia entre </a:t>
            </a:r>
            <a:r>
              <a:rPr lang="es" b="1" dirty="0"/>
              <a:t>undefined</a:t>
            </a:r>
            <a:r>
              <a:rPr lang="es" dirty="0"/>
              <a:t> y </a:t>
            </a:r>
            <a:r>
              <a:rPr lang="es" b="1" dirty="0"/>
              <a:t>null</a:t>
            </a:r>
            <a:r>
              <a:rPr lang="es" dirty="0"/>
              <a:t>, es que el primero no necesita asignación y JS lo crea automáticamente, el segundo es una variable que podemos asignar y usar como variable vacía. Esto nos permite hacer asignaciones para anular, comparaciones, etc.</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Comentarios</a:t>
            </a:r>
            <a:endParaRPr/>
          </a:p>
        </p:txBody>
      </p:sp>
      <p:sp>
        <p:nvSpPr>
          <p:cNvPr id="168" name="Google Shape;168;p27"/>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JavaScript tenemos dos formas de poner comentarios:</a:t>
            </a:r>
            <a:endParaRPr/>
          </a:p>
          <a:p>
            <a:pPr marL="457200" lvl="0" indent="-342900" algn="l" rtl="0">
              <a:spcBef>
                <a:spcPts val="1600"/>
              </a:spcBef>
              <a:spcAft>
                <a:spcPts val="0"/>
              </a:spcAft>
              <a:buSzPts val="1800"/>
              <a:buChar char="●"/>
            </a:pPr>
            <a:r>
              <a:rPr lang="es" b="1"/>
              <a:t>En una sola línea</a:t>
            </a:r>
            <a:r>
              <a:rPr lang="es"/>
              <a:t> anteponiendo los caracteres //.  </a:t>
            </a:r>
            <a:endParaRPr/>
          </a:p>
          <a:p>
            <a:pPr marL="457200" lvl="0" indent="-342900" algn="l" rtl="0">
              <a:spcBef>
                <a:spcPts val="0"/>
              </a:spcBef>
              <a:spcAft>
                <a:spcPts val="0"/>
              </a:spcAft>
              <a:buSzPts val="1800"/>
              <a:buChar char="●"/>
            </a:pPr>
            <a:r>
              <a:rPr lang="es" b="1"/>
              <a:t>En múltiples líneas </a:t>
            </a:r>
            <a:r>
              <a:rPr lang="es"/>
              <a:t>al principio pondremos los caracteres /* y al final los caracteres */.</a:t>
            </a:r>
            <a:endParaRPr/>
          </a:p>
          <a:p>
            <a:pPr marL="0" lvl="0" indent="0" algn="l" rtl="0">
              <a:spcBef>
                <a:spcPts val="1600"/>
              </a:spcBef>
              <a:spcAft>
                <a:spcPts val="1600"/>
              </a:spcAft>
              <a:buNone/>
            </a:pPr>
            <a:endParaRPr/>
          </a:p>
        </p:txBody>
      </p:sp>
      <p:pic>
        <p:nvPicPr>
          <p:cNvPr id="169" name="Google Shape;169;p27"/>
          <p:cNvPicPr preferRelativeResize="0"/>
          <p:nvPr/>
        </p:nvPicPr>
        <p:blipFill rotWithShape="1">
          <a:blip r:embed="rId3">
            <a:alphaModFix/>
          </a:blip>
          <a:srcRect l="35156" t="36459" r="24768" b="35833"/>
          <a:stretch/>
        </p:blipFill>
        <p:spPr>
          <a:xfrm>
            <a:off x="782250" y="2786050"/>
            <a:ext cx="4584312" cy="17828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Funciones básicas: alert</a:t>
            </a:r>
            <a:endParaRPr/>
          </a:p>
        </p:txBody>
      </p:sp>
      <p:sp>
        <p:nvSpPr>
          <p:cNvPr id="175" name="Google Shape;175;p28"/>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La función </a:t>
            </a:r>
            <a:r>
              <a:rPr lang="es" b="1"/>
              <a:t>alert</a:t>
            </a:r>
            <a:r>
              <a:rPr lang="es"/>
              <a:t> muestra un mensaje de alerta, sólo tiene un argumento que el texto que queremos que muestre, se suele utilizar para mostrar información al usuario. Ejemplo:</a:t>
            </a:r>
            <a:endParaRPr/>
          </a:p>
          <a:p>
            <a:pPr marL="0" lvl="0" indent="0" algn="l" rtl="0">
              <a:spcBef>
                <a:spcPts val="1600"/>
              </a:spcBef>
              <a:spcAft>
                <a:spcPts val="1600"/>
              </a:spcAft>
              <a:buNone/>
            </a:pPr>
            <a:endParaRPr/>
          </a:p>
        </p:txBody>
      </p:sp>
      <p:pic>
        <p:nvPicPr>
          <p:cNvPr id="176" name="Google Shape;176;p28"/>
          <p:cNvPicPr preferRelativeResize="0"/>
          <p:nvPr/>
        </p:nvPicPr>
        <p:blipFill rotWithShape="1">
          <a:blip r:embed="rId3">
            <a:alphaModFix/>
          </a:blip>
          <a:srcRect l="14762" t="32917" r="16448" b="42917"/>
          <a:stretch/>
        </p:blipFill>
        <p:spPr>
          <a:xfrm>
            <a:off x="503625" y="2488425"/>
            <a:ext cx="6290074" cy="12429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Funciones básicas: confirm</a:t>
            </a:r>
            <a:endParaRPr/>
          </a:p>
        </p:txBody>
      </p:sp>
      <p:sp>
        <p:nvSpPr>
          <p:cNvPr id="182" name="Google Shape;182;p29"/>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La función </a:t>
            </a:r>
            <a:r>
              <a:rPr lang="es" b="1"/>
              <a:t>confirm </a:t>
            </a:r>
            <a:r>
              <a:rPr lang="es"/>
              <a:t>muestra un mensaje (el mensaje lo recibe como argumento), también muestra un par de botones de confirmación (aceptar y cancelar), esta función devuelve un valor booleanos (true si se pulsó aceptar o false si se pulsó cancelar). </a:t>
            </a:r>
            <a:endParaRPr/>
          </a:p>
          <a:p>
            <a:pPr marL="0" lvl="0" indent="0" algn="l" rtl="0">
              <a:spcBef>
                <a:spcPts val="1600"/>
              </a:spcBef>
              <a:spcAft>
                <a:spcPts val="1600"/>
              </a:spcAft>
              <a:buNone/>
            </a:pPr>
            <a:endParaRPr/>
          </a:p>
        </p:txBody>
      </p:sp>
      <p:pic>
        <p:nvPicPr>
          <p:cNvPr id="183" name="Google Shape;183;p29"/>
          <p:cNvPicPr preferRelativeResize="0"/>
          <p:nvPr/>
        </p:nvPicPr>
        <p:blipFill rotWithShape="1">
          <a:blip r:embed="rId3">
            <a:alphaModFix/>
          </a:blip>
          <a:srcRect l="20930" t="26613" r="24221" b="32223"/>
          <a:stretch/>
        </p:blipFill>
        <p:spPr>
          <a:xfrm>
            <a:off x="930325" y="2571750"/>
            <a:ext cx="5015198" cy="2117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idx="4294967295"/>
          </p:nvPr>
        </p:nvSpPr>
        <p:spPr>
          <a:xfrm>
            <a:off x="0" y="1047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Funciones básicas: prompt </a:t>
            </a:r>
            <a:endParaRPr/>
          </a:p>
        </p:txBody>
      </p:sp>
      <p:sp>
        <p:nvSpPr>
          <p:cNvPr id="189" name="Google Shape;189;p30"/>
          <p:cNvSpPr txBox="1">
            <a:spLocks noGrp="1"/>
          </p:cNvSpPr>
          <p:nvPr>
            <p:ph type="body" idx="4294967295"/>
          </p:nvPr>
        </p:nvSpPr>
        <p:spPr>
          <a:xfrm>
            <a:off x="0" y="620713"/>
            <a:ext cx="8521700" cy="412908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La función </a:t>
            </a:r>
            <a:r>
              <a:rPr lang="es" b="1" dirty="0"/>
              <a:t>prompt </a:t>
            </a:r>
            <a:r>
              <a:rPr lang="es" dirty="0"/>
              <a:t>muestra un mensaje recibido como parámetro y solicita al usuario la introducción de un texto. Permite aceptarlo (envía ese texto al código) o cancelarlo (envía null). Se puede sobrecargar la función introduciendo un valor predefinido para la respuesta. Ejemplo:</a:t>
            </a:r>
            <a:endParaRPr dirty="0"/>
          </a:p>
          <a:p>
            <a:pPr marL="0" marR="0" lvl="0" indent="0" algn="l" rtl="0">
              <a:lnSpc>
                <a:spcPct val="100000"/>
              </a:lnSpc>
              <a:spcBef>
                <a:spcPts val="1600"/>
              </a:spcBef>
              <a:spcAft>
                <a:spcPts val="0"/>
              </a:spcAft>
              <a:buNone/>
            </a:pPr>
            <a:endParaRPr sz="1200" dirty="0">
              <a:solidFill>
                <a:srgbClr val="000000"/>
              </a:solidFill>
              <a:highlight>
                <a:srgbClr val="F7F7F7"/>
              </a:highlight>
              <a:latin typeface="Courier New"/>
              <a:ea typeface="Courier New"/>
              <a:cs typeface="Courier New"/>
              <a:sym typeface="Courier New"/>
            </a:endParaRPr>
          </a:p>
          <a:p>
            <a:pPr marL="0" lvl="0" indent="0" algn="l" rtl="0">
              <a:spcBef>
                <a:spcPts val="0"/>
              </a:spcBef>
              <a:spcAft>
                <a:spcPts val="1600"/>
              </a:spcAft>
              <a:buNone/>
            </a:pPr>
            <a:endParaRPr dirty="0"/>
          </a:p>
        </p:txBody>
      </p:sp>
      <p:sp>
        <p:nvSpPr>
          <p:cNvPr id="190" name="Google Shape;190;p30"/>
          <p:cNvSpPr txBox="1"/>
          <p:nvPr/>
        </p:nvSpPr>
        <p:spPr>
          <a:xfrm>
            <a:off x="417900" y="1927775"/>
            <a:ext cx="5250600" cy="2898300"/>
          </a:xfrm>
          <a:prstGeom prst="rect">
            <a:avLst/>
          </a:prstGeom>
          <a:solidFill>
            <a:srgbClr val="434343"/>
          </a:solidFill>
          <a:ln>
            <a:noFill/>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s" sz="1050" b="1" dirty="0">
                <a:solidFill>
                  <a:srgbClr val="569CD6"/>
                </a:solidFill>
                <a:latin typeface="Courier New"/>
                <a:ea typeface="Courier New"/>
                <a:cs typeface="Courier New"/>
                <a:sym typeface="Courier New"/>
              </a:rPr>
              <a:t>function</a:t>
            </a:r>
            <a:r>
              <a:rPr lang="es" sz="1050" b="1" dirty="0">
                <a:solidFill>
                  <a:srgbClr val="D4D4D4"/>
                </a:solidFill>
                <a:latin typeface="Courier New"/>
                <a:ea typeface="Courier New"/>
                <a:cs typeface="Courier New"/>
                <a:sym typeface="Courier New"/>
              </a:rPr>
              <a:t> </a:t>
            </a:r>
            <a:r>
              <a:rPr lang="es" sz="1050" b="1" dirty="0">
                <a:solidFill>
                  <a:srgbClr val="DCDCAA"/>
                </a:solidFill>
                <a:latin typeface="Courier New"/>
                <a:ea typeface="Courier New"/>
                <a:cs typeface="Courier New"/>
                <a:sym typeface="Courier New"/>
              </a:rPr>
              <a:t>alerta</a:t>
            </a: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569CD6"/>
                </a:solidFill>
                <a:latin typeface="Courier New"/>
                <a:ea typeface="Courier New"/>
                <a:cs typeface="Courier New"/>
                <a:sym typeface="Courier New"/>
              </a:rPr>
              <a:t>var</a:t>
            </a:r>
            <a:r>
              <a:rPr lang="es" sz="1050" b="1" dirty="0">
                <a:solidFill>
                  <a:srgbClr val="D4D4D4"/>
                </a:solidFill>
                <a:latin typeface="Courier New"/>
                <a:ea typeface="Courier New"/>
                <a:cs typeface="Courier New"/>
                <a:sym typeface="Courier New"/>
              </a:rPr>
              <a:t> </a:t>
            </a:r>
            <a:r>
              <a:rPr lang="es" sz="1050" b="1" dirty="0">
                <a:solidFill>
                  <a:srgbClr val="9CDCFE"/>
                </a:solidFill>
                <a:latin typeface="Courier New"/>
                <a:ea typeface="Courier New"/>
                <a:cs typeface="Courier New"/>
                <a:sym typeface="Courier New"/>
              </a:rPr>
              <a:t>mensaje</a:t>
            </a: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569CD6"/>
                </a:solidFill>
                <a:latin typeface="Courier New"/>
                <a:ea typeface="Courier New"/>
                <a:cs typeface="Courier New"/>
                <a:sym typeface="Courier New"/>
              </a:rPr>
              <a:t>var</a:t>
            </a:r>
            <a:r>
              <a:rPr lang="es" sz="1050" b="1" dirty="0">
                <a:solidFill>
                  <a:srgbClr val="D4D4D4"/>
                </a:solidFill>
                <a:latin typeface="Courier New"/>
                <a:ea typeface="Courier New"/>
                <a:cs typeface="Courier New"/>
                <a:sym typeface="Courier New"/>
              </a:rPr>
              <a:t> </a:t>
            </a:r>
            <a:r>
              <a:rPr lang="es" sz="1050" b="1" dirty="0">
                <a:solidFill>
                  <a:srgbClr val="9CDCFE"/>
                </a:solidFill>
                <a:latin typeface="Courier New"/>
                <a:ea typeface="Courier New"/>
                <a:cs typeface="Courier New"/>
                <a:sym typeface="Courier New"/>
              </a:rPr>
              <a:t>opcion</a:t>
            </a:r>
            <a:r>
              <a:rPr lang="es" sz="1050" b="1" dirty="0">
                <a:solidFill>
                  <a:srgbClr val="D4D4D4"/>
                </a:solidFill>
                <a:latin typeface="Courier New"/>
                <a:ea typeface="Courier New"/>
                <a:cs typeface="Courier New"/>
                <a:sym typeface="Courier New"/>
              </a:rPr>
              <a:t> = </a:t>
            </a:r>
            <a:r>
              <a:rPr lang="es" sz="1050" b="1" dirty="0">
                <a:solidFill>
                  <a:srgbClr val="DCDCAA"/>
                </a:solidFill>
                <a:latin typeface="Courier New"/>
                <a:ea typeface="Courier New"/>
                <a:cs typeface="Courier New"/>
                <a:sym typeface="Courier New"/>
              </a:rPr>
              <a:t>prompt</a:t>
            </a:r>
            <a:r>
              <a:rPr lang="es" sz="1050" b="1" dirty="0">
                <a:solidFill>
                  <a:srgbClr val="D4D4D4"/>
                </a:solidFill>
                <a:latin typeface="Courier New"/>
                <a:ea typeface="Courier New"/>
                <a:cs typeface="Courier New"/>
                <a:sym typeface="Courier New"/>
              </a:rPr>
              <a:t>(</a:t>
            </a:r>
            <a:r>
              <a:rPr lang="es" sz="1050" b="1" dirty="0">
                <a:solidFill>
                  <a:srgbClr val="CE9178"/>
                </a:solidFill>
                <a:latin typeface="Courier New"/>
                <a:ea typeface="Courier New"/>
                <a:cs typeface="Courier New"/>
                <a:sym typeface="Courier New"/>
              </a:rPr>
              <a:t>"Introduzca su nombre:"</a:t>
            </a:r>
            <a:r>
              <a:rPr lang="es" sz="1050" b="1" dirty="0">
                <a:solidFill>
                  <a:srgbClr val="D4D4D4"/>
                </a:solidFill>
                <a:latin typeface="Courier New"/>
                <a:ea typeface="Courier New"/>
                <a:cs typeface="Courier New"/>
                <a:sym typeface="Courier New"/>
              </a:rPr>
              <a:t>, </a:t>
            </a:r>
            <a:r>
              <a:rPr lang="es" sz="1050" b="1" dirty="0">
                <a:solidFill>
                  <a:srgbClr val="CE9178"/>
                </a:solidFill>
                <a:latin typeface="Courier New"/>
                <a:ea typeface="Courier New"/>
                <a:cs typeface="Courier New"/>
                <a:sym typeface="Courier New"/>
              </a:rPr>
              <a:t>"Juan"</a:t>
            </a: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C586C0"/>
                </a:solidFill>
                <a:latin typeface="Courier New"/>
                <a:ea typeface="Courier New"/>
                <a:cs typeface="Courier New"/>
                <a:sym typeface="Courier New"/>
              </a:rPr>
              <a:t>if</a:t>
            </a:r>
            <a:r>
              <a:rPr lang="es" sz="1050" b="1" dirty="0">
                <a:solidFill>
                  <a:srgbClr val="D4D4D4"/>
                </a:solidFill>
                <a:latin typeface="Courier New"/>
                <a:ea typeface="Courier New"/>
                <a:cs typeface="Courier New"/>
                <a:sym typeface="Courier New"/>
              </a:rPr>
              <a:t> (</a:t>
            </a:r>
            <a:r>
              <a:rPr lang="es" sz="1050" b="1" dirty="0">
                <a:solidFill>
                  <a:srgbClr val="9CDCFE"/>
                </a:solidFill>
                <a:latin typeface="Courier New"/>
                <a:ea typeface="Courier New"/>
                <a:cs typeface="Courier New"/>
                <a:sym typeface="Courier New"/>
              </a:rPr>
              <a:t>opcion</a:t>
            </a:r>
            <a:r>
              <a:rPr lang="es" sz="1050" b="1" dirty="0">
                <a:solidFill>
                  <a:srgbClr val="D4D4D4"/>
                </a:solidFill>
                <a:latin typeface="Courier New"/>
                <a:ea typeface="Courier New"/>
                <a:cs typeface="Courier New"/>
                <a:sym typeface="Courier New"/>
              </a:rPr>
              <a:t> == </a:t>
            </a:r>
            <a:r>
              <a:rPr lang="es" sz="1050" b="1" dirty="0">
                <a:solidFill>
                  <a:srgbClr val="569CD6"/>
                </a:solidFill>
                <a:latin typeface="Courier New"/>
                <a:ea typeface="Courier New"/>
                <a:cs typeface="Courier New"/>
                <a:sym typeface="Courier New"/>
              </a:rPr>
              <a:t>null</a:t>
            </a:r>
            <a:r>
              <a:rPr lang="es" sz="1050" b="1" dirty="0">
                <a:solidFill>
                  <a:srgbClr val="D4D4D4"/>
                </a:solidFill>
                <a:latin typeface="Courier New"/>
                <a:ea typeface="Courier New"/>
                <a:cs typeface="Courier New"/>
                <a:sym typeface="Courier New"/>
              </a:rPr>
              <a:t> || </a:t>
            </a:r>
            <a:r>
              <a:rPr lang="es" sz="1050" b="1" dirty="0">
                <a:solidFill>
                  <a:srgbClr val="9CDCFE"/>
                </a:solidFill>
                <a:latin typeface="Courier New"/>
                <a:ea typeface="Courier New"/>
                <a:cs typeface="Courier New"/>
                <a:sym typeface="Courier New"/>
              </a:rPr>
              <a:t>opcion</a:t>
            </a:r>
            <a:r>
              <a:rPr lang="es" sz="1050" b="1" dirty="0">
                <a:solidFill>
                  <a:srgbClr val="D4D4D4"/>
                </a:solidFill>
                <a:latin typeface="Courier New"/>
                <a:ea typeface="Courier New"/>
                <a:cs typeface="Courier New"/>
                <a:sym typeface="Courier New"/>
              </a:rPr>
              <a:t> == </a:t>
            </a:r>
            <a:r>
              <a:rPr lang="es" sz="1050" b="1" dirty="0">
                <a:solidFill>
                  <a:srgbClr val="CE9178"/>
                </a:solidFill>
                <a:latin typeface="Courier New"/>
                <a:ea typeface="Courier New"/>
                <a:cs typeface="Courier New"/>
                <a:sym typeface="Courier New"/>
              </a:rPr>
              <a:t>""</a:t>
            </a:r>
            <a:r>
              <a:rPr lang="es" sz="1050" b="1" dirty="0">
                <a:solidFill>
                  <a:srgbClr val="D4D4D4"/>
                </a:solidFill>
                <a:latin typeface="Courier New"/>
                <a:ea typeface="Courier New"/>
                <a:cs typeface="Courier New"/>
                <a:sym typeface="Courier New"/>
              </a:rPr>
              <a:t>) {</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a:t>
            </a:r>
            <a:r>
              <a:rPr lang="es" sz="1050" b="1" dirty="0">
                <a:solidFill>
                  <a:srgbClr val="9CDCFE"/>
                </a:solidFill>
                <a:latin typeface="Courier New"/>
                <a:ea typeface="Courier New"/>
                <a:cs typeface="Courier New"/>
                <a:sym typeface="Courier New"/>
              </a:rPr>
              <a:t>mensaje</a:t>
            </a:r>
            <a:r>
              <a:rPr lang="es" sz="1050" b="1" dirty="0">
                <a:solidFill>
                  <a:srgbClr val="D4D4D4"/>
                </a:solidFill>
                <a:latin typeface="Courier New"/>
                <a:ea typeface="Courier New"/>
                <a:cs typeface="Courier New"/>
                <a:sym typeface="Courier New"/>
              </a:rPr>
              <a:t> =</a:t>
            </a:r>
            <a:r>
              <a:rPr lang="es" sz="1050" b="1" dirty="0">
                <a:solidFill>
                  <a:srgbClr val="CE9178"/>
                </a:solidFill>
                <a:latin typeface="Courier New"/>
                <a:ea typeface="Courier New"/>
                <a:cs typeface="Courier New"/>
                <a:sym typeface="Courier New"/>
              </a:rPr>
              <a:t>"Has cancelado o introducido el nombre vacío"</a:t>
            </a: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 </a:t>
            </a:r>
            <a:r>
              <a:rPr lang="es" sz="1050" b="1" dirty="0">
                <a:solidFill>
                  <a:srgbClr val="C586C0"/>
                </a:solidFill>
                <a:latin typeface="Courier New"/>
                <a:ea typeface="Courier New"/>
                <a:cs typeface="Courier New"/>
                <a:sym typeface="Courier New"/>
              </a:rPr>
              <a:t>else</a:t>
            </a:r>
            <a:r>
              <a:rPr lang="es" sz="1050" b="1" dirty="0">
                <a:solidFill>
                  <a:srgbClr val="D4D4D4"/>
                </a:solidFill>
                <a:latin typeface="Courier New"/>
                <a:ea typeface="Courier New"/>
                <a:cs typeface="Courier New"/>
                <a:sym typeface="Courier New"/>
              </a:rPr>
              <a:t> {</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a:t>
            </a:r>
            <a:r>
              <a:rPr lang="es" sz="1050" b="1" dirty="0">
                <a:solidFill>
                  <a:srgbClr val="9CDCFE"/>
                </a:solidFill>
                <a:latin typeface="Courier New"/>
                <a:ea typeface="Courier New"/>
                <a:cs typeface="Courier New"/>
                <a:sym typeface="Courier New"/>
              </a:rPr>
              <a:t>mensaje</a:t>
            </a:r>
            <a:r>
              <a:rPr lang="es" sz="1050" b="1" dirty="0">
                <a:solidFill>
                  <a:srgbClr val="D4D4D4"/>
                </a:solidFill>
                <a:latin typeface="Courier New"/>
                <a:ea typeface="Courier New"/>
                <a:cs typeface="Courier New"/>
                <a:sym typeface="Courier New"/>
              </a:rPr>
              <a:t> = </a:t>
            </a:r>
            <a:r>
              <a:rPr lang="es" sz="1050" b="1" dirty="0">
                <a:solidFill>
                  <a:srgbClr val="CE9178"/>
                </a:solidFill>
                <a:latin typeface="Courier New"/>
                <a:ea typeface="Courier New"/>
                <a:cs typeface="Courier New"/>
                <a:sym typeface="Courier New"/>
              </a:rPr>
              <a:t>"Hola "</a:t>
            </a:r>
            <a:r>
              <a:rPr lang="es" sz="1050" b="1" dirty="0">
                <a:solidFill>
                  <a:srgbClr val="D4D4D4"/>
                </a:solidFill>
                <a:latin typeface="Courier New"/>
                <a:ea typeface="Courier New"/>
                <a:cs typeface="Courier New"/>
                <a:sym typeface="Courier New"/>
              </a:rPr>
              <a:t> + </a:t>
            </a:r>
            <a:r>
              <a:rPr lang="es" sz="1050" b="1" dirty="0">
                <a:solidFill>
                  <a:srgbClr val="9CDCFE"/>
                </a:solidFill>
                <a:latin typeface="Courier New"/>
                <a:ea typeface="Courier New"/>
                <a:cs typeface="Courier New"/>
                <a:sym typeface="Courier New"/>
              </a:rPr>
              <a:t>opcion</a:t>
            </a: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            </a:t>
            </a:r>
            <a:r>
              <a:rPr lang="es" sz="1050" b="1" dirty="0">
                <a:solidFill>
                  <a:srgbClr val="DCDCAA"/>
                </a:solidFill>
                <a:latin typeface="Courier New"/>
                <a:ea typeface="Courier New"/>
                <a:cs typeface="Courier New"/>
                <a:sym typeface="Courier New"/>
              </a:rPr>
              <a:t>alert</a:t>
            </a:r>
            <a:r>
              <a:rPr lang="es" sz="1050" b="1" dirty="0">
                <a:solidFill>
                  <a:srgbClr val="D4D4D4"/>
                </a:solidFill>
                <a:latin typeface="Courier New"/>
                <a:ea typeface="Courier New"/>
                <a:cs typeface="Courier New"/>
                <a:sym typeface="Courier New"/>
              </a:rPr>
              <a:t>( </a:t>
            </a:r>
            <a:r>
              <a:rPr lang="es" sz="1050" b="1" dirty="0">
                <a:solidFill>
                  <a:srgbClr val="9CDCFE"/>
                </a:solidFill>
                <a:latin typeface="Courier New"/>
                <a:ea typeface="Courier New"/>
                <a:cs typeface="Courier New"/>
                <a:sym typeface="Courier New"/>
              </a:rPr>
              <a:t>mensaje</a:t>
            </a: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lnSpc>
                <a:spcPct val="135714"/>
              </a:lnSpc>
              <a:spcBef>
                <a:spcPts val="0"/>
              </a:spcBef>
              <a:spcAft>
                <a:spcPts val="0"/>
              </a:spcAft>
              <a:buNone/>
            </a:pPr>
            <a:r>
              <a:rPr lang="es" sz="1050" b="1" dirty="0">
                <a:solidFill>
                  <a:srgbClr val="D4D4D4"/>
                </a:solidFill>
                <a:latin typeface="Courier New"/>
                <a:ea typeface="Courier New"/>
                <a:cs typeface="Courier New"/>
                <a:sym typeface="Courier New"/>
              </a:rPr>
              <a:t>}</a:t>
            </a:r>
            <a:endParaRPr sz="1050" b="1" dirty="0">
              <a:solidFill>
                <a:srgbClr val="D4D4D4"/>
              </a:solidFill>
              <a:latin typeface="Courier New"/>
              <a:ea typeface="Courier New"/>
              <a:cs typeface="Courier New"/>
              <a:sym typeface="Courier New"/>
            </a:endParaRPr>
          </a:p>
          <a:p>
            <a:pPr marL="0" lvl="0" indent="0" algn="l" rtl="0">
              <a:spcBef>
                <a:spcPts val="0"/>
              </a:spcBef>
              <a:spcAft>
                <a:spcPts val="0"/>
              </a:spcAft>
              <a:buNone/>
            </a:pPr>
            <a:endParaRPr dirty="0">
              <a:latin typeface="Roboto"/>
              <a:ea typeface="Roboto"/>
              <a:cs typeface="Roboto"/>
              <a:sym typeface="Roboto"/>
            </a:endParaRPr>
          </a:p>
        </p:txBody>
      </p:sp>
      <p:pic>
        <p:nvPicPr>
          <p:cNvPr id="191" name="Google Shape;191;p30"/>
          <p:cNvPicPr preferRelativeResize="0"/>
          <p:nvPr/>
        </p:nvPicPr>
        <p:blipFill rotWithShape="1">
          <a:blip r:embed="rId3">
            <a:alphaModFix/>
          </a:blip>
          <a:srcRect l="35393" t="8334" r="35193" b="71666"/>
          <a:stretch/>
        </p:blipFill>
        <p:spPr>
          <a:xfrm>
            <a:off x="5822275" y="2057400"/>
            <a:ext cx="2689627" cy="1028700"/>
          </a:xfrm>
          <a:prstGeom prst="rect">
            <a:avLst/>
          </a:prstGeom>
          <a:noFill/>
          <a:ln>
            <a:noFill/>
          </a:ln>
        </p:spPr>
      </p:pic>
      <p:pic>
        <p:nvPicPr>
          <p:cNvPr id="192" name="Google Shape;192;p30"/>
          <p:cNvPicPr preferRelativeResize="0"/>
          <p:nvPr/>
        </p:nvPicPr>
        <p:blipFill rotWithShape="1">
          <a:blip r:embed="rId4">
            <a:alphaModFix/>
          </a:blip>
          <a:srcRect l="35363" t="7869" r="35222" b="76506"/>
          <a:stretch/>
        </p:blipFill>
        <p:spPr>
          <a:xfrm>
            <a:off x="5822275" y="3375425"/>
            <a:ext cx="2689627" cy="803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Variables y Constantes</a:t>
            </a:r>
            <a:endParaRPr/>
          </a:p>
        </p:txBody>
      </p:sp>
      <p:sp>
        <p:nvSpPr>
          <p:cNvPr id="198" name="Google Shape;198;p31"/>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Para crear variables y constantes debemos utilizar las palabras reservadas: </a:t>
            </a:r>
            <a:r>
              <a:rPr lang="es">
                <a:solidFill>
                  <a:srgbClr val="4A86E8"/>
                </a:solidFill>
              </a:rPr>
              <a:t>var/let</a:t>
            </a:r>
            <a:r>
              <a:rPr lang="es"/>
              <a:t> y </a:t>
            </a:r>
            <a:r>
              <a:rPr lang="es">
                <a:solidFill>
                  <a:srgbClr val="4A86E8"/>
                </a:solidFill>
              </a:rPr>
              <a:t>const </a:t>
            </a:r>
            <a:r>
              <a:rPr lang="es"/>
              <a:t>respectivamente. Se comportan igual que en los lenguajes en los que se basó JavaScript: Java y C. Ejemplo:</a:t>
            </a:r>
            <a:endParaRPr/>
          </a:p>
          <a:p>
            <a:pPr marL="0" lvl="0" indent="0" algn="l" rtl="0">
              <a:spcBef>
                <a:spcPts val="1600"/>
              </a:spcBef>
              <a:spcAft>
                <a:spcPts val="1600"/>
              </a:spcAft>
              <a:buNone/>
            </a:pPr>
            <a:endParaRPr/>
          </a:p>
        </p:txBody>
      </p:sp>
      <p:pic>
        <p:nvPicPr>
          <p:cNvPr id="199" name="Google Shape;199;p31"/>
          <p:cNvPicPr preferRelativeResize="0"/>
          <p:nvPr/>
        </p:nvPicPr>
        <p:blipFill rotWithShape="1">
          <a:blip r:embed="rId3">
            <a:alphaModFix/>
          </a:blip>
          <a:srcRect l="26197" t="41163" r="29596" b="38462"/>
          <a:stretch/>
        </p:blipFill>
        <p:spPr>
          <a:xfrm>
            <a:off x="1208325" y="2571750"/>
            <a:ext cx="4042099" cy="1047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Operadores de asignación</a:t>
            </a:r>
            <a:endParaRPr/>
          </a:p>
        </p:txBody>
      </p:sp>
      <p:sp>
        <p:nvSpPr>
          <p:cNvPr id="205" name="Google Shape;205;p32"/>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El operador de asignación es el igual = Ejemplo:</a:t>
            </a:r>
            <a:endParaRPr/>
          </a:p>
          <a:p>
            <a:pPr marL="0" lvl="0" indent="0" algn="l" rtl="0">
              <a:spcBef>
                <a:spcPts val="1600"/>
              </a:spcBef>
              <a:spcAft>
                <a:spcPts val="1600"/>
              </a:spcAft>
              <a:buNone/>
            </a:pPr>
            <a:endParaRPr/>
          </a:p>
        </p:txBody>
      </p:sp>
      <p:pic>
        <p:nvPicPr>
          <p:cNvPr id="206" name="Google Shape;206;p32"/>
          <p:cNvPicPr preferRelativeResize="0"/>
          <p:nvPr/>
        </p:nvPicPr>
        <p:blipFill rotWithShape="1">
          <a:blip r:embed="rId3">
            <a:alphaModFix/>
          </a:blip>
          <a:srcRect l="25379" t="55716" r="28428" b="22870"/>
          <a:stretch/>
        </p:blipFill>
        <p:spPr>
          <a:xfrm>
            <a:off x="780600" y="2106600"/>
            <a:ext cx="4223875" cy="1101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Operadores matemáticos</a:t>
            </a:r>
            <a:endParaRPr/>
          </a:p>
        </p:txBody>
      </p:sp>
      <p:sp>
        <p:nvSpPr>
          <p:cNvPr id="212" name="Google Shape;212;p33"/>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Las operaciones matemáticas se realizan con los siguientes símbolos: </a:t>
            </a:r>
            <a:endParaRPr/>
          </a:p>
          <a:p>
            <a:pPr marL="457200" lvl="0" indent="-342900" algn="l" rtl="0">
              <a:spcBef>
                <a:spcPts val="1600"/>
              </a:spcBef>
              <a:spcAft>
                <a:spcPts val="0"/>
              </a:spcAft>
              <a:buSzPts val="1800"/>
              <a:buChar char="●"/>
            </a:pPr>
            <a:r>
              <a:rPr lang="es"/>
              <a:t>Suma + </a:t>
            </a:r>
            <a:endParaRPr/>
          </a:p>
          <a:p>
            <a:pPr marL="457200" lvl="0" indent="-342900" algn="l" rtl="0">
              <a:spcBef>
                <a:spcPts val="0"/>
              </a:spcBef>
              <a:spcAft>
                <a:spcPts val="0"/>
              </a:spcAft>
              <a:buSzPts val="1800"/>
              <a:buChar char="●"/>
            </a:pPr>
            <a:r>
              <a:rPr lang="es"/>
              <a:t>Resta - </a:t>
            </a:r>
            <a:endParaRPr/>
          </a:p>
          <a:p>
            <a:pPr marL="457200" lvl="0" indent="-342900" algn="l" rtl="0">
              <a:spcBef>
                <a:spcPts val="0"/>
              </a:spcBef>
              <a:spcAft>
                <a:spcPts val="0"/>
              </a:spcAft>
              <a:buSzPts val="1800"/>
              <a:buChar char="●"/>
            </a:pPr>
            <a:r>
              <a:rPr lang="es"/>
              <a:t>Multiplicación * </a:t>
            </a:r>
            <a:endParaRPr/>
          </a:p>
          <a:p>
            <a:pPr marL="457200" lvl="0" indent="-342900" algn="l" rtl="0">
              <a:spcBef>
                <a:spcPts val="0"/>
              </a:spcBef>
              <a:spcAft>
                <a:spcPts val="0"/>
              </a:spcAft>
              <a:buSzPts val="1800"/>
              <a:buChar char="●"/>
            </a:pPr>
            <a:r>
              <a:rPr lang="es"/>
              <a:t>División / </a:t>
            </a:r>
            <a:endParaRPr/>
          </a:p>
          <a:p>
            <a:pPr marL="457200" lvl="0" indent="-342900" algn="l" rtl="0">
              <a:spcBef>
                <a:spcPts val="0"/>
              </a:spcBef>
              <a:spcAft>
                <a:spcPts val="0"/>
              </a:spcAft>
              <a:buSzPts val="1800"/>
              <a:buChar char="●"/>
            </a:pPr>
            <a:r>
              <a:rPr lang="es"/>
              <a:t>Resto de la división entera % </a:t>
            </a:r>
            <a:endParaRPr/>
          </a:p>
          <a:p>
            <a:pPr marL="457200" lvl="0" indent="0" algn="l" rtl="0">
              <a:spcBef>
                <a:spcPts val="1600"/>
              </a:spcBef>
              <a:spcAft>
                <a:spcPts val="1600"/>
              </a:spcAft>
              <a:buNone/>
            </a:pPr>
            <a:endParaRPr/>
          </a:p>
        </p:txBody>
      </p:sp>
      <p:pic>
        <p:nvPicPr>
          <p:cNvPr id="213" name="Google Shape;213;p33"/>
          <p:cNvPicPr preferRelativeResize="0"/>
          <p:nvPr/>
        </p:nvPicPr>
        <p:blipFill rotWithShape="1">
          <a:blip r:embed="rId3">
            <a:alphaModFix/>
          </a:blip>
          <a:srcRect l="27712" t="35969" r="28551" b="28688"/>
          <a:stretch/>
        </p:blipFill>
        <p:spPr>
          <a:xfrm>
            <a:off x="4491200" y="1990438"/>
            <a:ext cx="3999298" cy="1817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Operadores lógicos o booleanos</a:t>
            </a:r>
            <a:endParaRPr/>
          </a:p>
        </p:txBody>
      </p:sp>
      <p:sp>
        <p:nvSpPr>
          <p:cNvPr id="219" name="Google Shape;219;p34"/>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A nivel del tipo booleano:</a:t>
            </a:r>
            <a:endParaRPr/>
          </a:p>
          <a:p>
            <a:pPr marL="457200" lvl="0" indent="-342900" algn="l" rtl="0">
              <a:spcBef>
                <a:spcPts val="1600"/>
              </a:spcBef>
              <a:spcAft>
                <a:spcPts val="0"/>
              </a:spcAft>
              <a:buSzPts val="1800"/>
              <a:buChar char="●"/>
            </a:pPr>
            <a:r>
              <a:rPr lang="es" b="1"/>
              <a:t>Negación</a:t>
            </a:r>
            <a:r>
              <a:rPr lang="es"/>
              <a:t>: se utiliza el cierre de la exclamación: </a:t>
            </a:r>
            <a:r>
              <a:rPr lang="es">
                <a:solidFill>
                  <a:srgbClr val="4A86E8"/>
                </a:solidFill>
              </a:rPr>
              <a:t>!false</a:t>
            </a:r>
            <a:r>
              <a:rPr lang="es"/>
              <a:t> equivale a </a:t>
            </a:r>
            <a:r>
              <a:rPr lang="es">
                <a:solidFill>
                  <a:srgbClr val="4A86E8"/>
                </a:solidFill>
              </a:rPr>
              <a:t>true </a:t>
            </a:r>
            <a:r>
              <a:rPr lang="es"/>
              <a:t> </a:t>
            </a:r>
            <a:endParaRPr/>
          </a:p>
          <a:p>
            <a:pPr marL="457200" lvl="0" indent="-342900" algn="l" rtl="0">
              <a:spcBef>
                <a:spcPts val="0"/>
              </a:spcBef>
              <a:spcAft>
                <a:spcPts val="0"/>
              </a:spcAft>
              <a:buSzPts val="1800"/>
              <a:buChar char="●"/>
            </a:pPr>
            <a:r>
              <a:rPr lang="es" b="1"/>
              <a:t>AND lógico</a:t>
            </a:r>
            <a:r>
              <a:rPr lang="es"/>
              <a:t>: se utilizan 2 ampersand (&amp;&amp;) y será </a:t>
            </a:r>
            <a:r>
              <a:rPr lang="es">
                <a:solidFill>
                  <a:srgbClr val="4A86E8"/>
                </a:solidFill>
              </a:rPr>
              <a:t>true</a:t>
            </a:r>
            <a:r>
              <a:rPr lang="es"/>
              <a:t>, si ambas entradas son true: </a:t>
            </a:r>
            <a:r>
              <a:rPr lang="es">
                <a:solidFill>
                  <a:srgbClr val="4A86E8"/>
                </a:solidFill>
              </a:rPr>
              <a:t>true </a:t>
            </a:r>
            <a:r>
              <a:rPr lang="es"/>
              <a:t>&amp;&amp; </a:t>
            </a:r>
            <a:r>
              <a:rPr lang="es">
                <a:solidFill>
                  <a:srgbClr val="4A86E8"/>
                </a:solidFill>
              </a:rPr>
              <a:t>false</a:t>
            </a:r>
            <a:r>
              <a:rPr lang="es"/>
              <a:t> equivale a </a:t>
            </a:r>
            <a:r>
              <a:rPr lang="es">
                <a:solidFill>
                  <a:srgbClr val="4A86E8"/>
                </a:solidFill>
              </a:rPr>
              <a:t>false </a:t>
            </a:r>
            <a:r>
              <a:rPr lang="es"/>
              <a:t> </a:t>
            </a:r>
            <a:endParaRPr/>
          </a:p>
          <a:p>
            <a:pPr marL="457200" lvl="0" indent="-342900" algn="l" rtl="0">
              <a:spcBef>
                <a:spcPts val="0"/>
              </a:spcBef>
              <a:spcAft>
                <a:spcPts val="0"/>
              </a:spcAft>
              <a:buSzPts val="1800"/>
              <a:buChar char="●"/>
            </a:pPr>
            <a:r>
              <a:rPr lang="es" b="1"/>
              <a:t>OR lógico</a:t>
            </a:r>
            <a:r>
              <a:rPr lang="es"/>
              <a:t>: se utilizan 2 barras verticales (||) y será </a:t>
            </a:r>
            <a:r>
              <a:rPr lang="es">
                <a:solidFill>
                  <a:srgbClr val="4A86E8"/>
                </a:solidFill>
              </a:rPr>
              <a:t>true</a:t>
            </a:r>
            <a:r>
              <a:rPr lang="es"/>
              <a:t>, si alguna entrada es true: </a:t>
            </a:r>
            <a:r>
              <a:rPr lang="es">
                <a:solidFill>
                  <a:srgbClr val="4A86E8"/>
                </a:solidFill>
              </a:rPr>
              <a:t>true</a:t>
            </a:r>
            <a:r>
              <a:rPr lang="es"/>
              <a:t> || </a:t>
            </a:r>
            <a:r>
              <a:rPr lang="es">
                <a:solidFill>
                  <a:srgbClr val="4A86E8"/>
                </a:solidFill>
              </a:rPr>
              <a:t>false </a:t>
            </a:r>
            <a:r>
              <a:rPr lang="es"/>
              <a:t>equivale a </a:t>
            </a:r>
            <a:r>
              <a:rPr lang="es">
                <a:solidFill>
                  <a:srgbClr val="4A86E8"/>
                </a:solidFill>
              </a:rPr>
              <a:t>true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body" idx="4294967295"/>
          </p:nvPr>
        </p:nvSpPr>
        <p:spPr>
          <a:xfrm>
            <a:off x="0" y="288925"/>
            <a:ext cx="8521700" cy="427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A nivel de bits: </a:t>
            </a:r>
            <a:endParaRPr/>
          </a:p>
          <a:p>
            <a:pPr marL="457200" lvl="0" indent="-342900" algn="l" rtl="0">
              <a:spcBef>
                <a:spcPts val="1600"/>
              </a:spcBef>
              <a:spcAft>
                <a:spcPts val="0"/>
              </a:spcAft>
              <a:buSzPts val="1800"/>
              <a:buChar char="●"/>
            </a:pPr>
            <a:r>
              <a:rPr lang="es" b="1"/>
              <a:t>AND</a:t>
            </a:r>
            <a:r>
              <a:rPr lang="es"/>
              <a:t>: se utiliza 1 ampersan &amp;  </a:t>
            </a:r>
            <a:endParaRPr/>
          </a:p>
          <a:p>
            <a:pPr marL="457200" lvl="0" indent="-342900" algn="l" rtl="0">
              <a:spcBef>
                <a:spcPts val="0"/>
              </a:spcBef>
              <a:spcAft>
                <a:spcPts val="0"/>
              </a:spcAft>
              <a:buSzPts val="1800"/>
              <a:buChar char="●"/>
            </a:pPr>
            <a:r>
              <a:rPr lang="es" b="1"/>
              <a:t>OR</a:t>
            </a:r>
            <a:r>
              <a:rPr lang="es"/>
              <a:t>: se utiliza 1 barra vertical |  </a:t>
            </a:r>
            <a:endParaRPr/>
          </a:p>
          <a:p>
            <a:pPr marL="457200" lvl="0" indent="-342900" algn="l" rtl="0">
              <a:spcBef>
                <a:spcPts val="0"/>
              </a:spcBef>
              <a:spcAft>
                <a:spcPts val="0"/>
              </a:spcAft>
              <a:buSzPts val="1800"/>
              <a:buChar char="●"/>
            </a:pPr>
            <a:r>
              <a:rPr lang="es" b="1"/>
              <a:t>XOR</a:t>
            </a:r>
            <a:r>
              <a:rPr lang="es"/>
              <a:t>: se utiliza el acento circunflejo ^  </a:t>
            </a:r>
            <a:endParaRPr/>
          </a:p>
          <a:p>
            <a:pPr marL="457200" lvl="0" indent="-342900" algn="l" rtl="0">
              <a:spcBef>
                <a:spcPts val="0"/>
              </a:spcBef>
              <a:spcAft>
                <a:spcPts val="0"/>
              </a:spcAft>
              <a:buSzPts val="1800"/>
              <a:buChar char="●"/>
            </a:pPr>
            <a:r>
              <a:rPr lang="es" b="1"/>
              <a:t>NOT</a:t>
            </a:r>
            <a:r>
              <a:rPr lang="es"/>
              <a:t>: se utiliza la virgulilla ~ en modo prefijo  </a:t>
            </a:r>
            <a:endParaRPr/>
          </a:p>
          <a:p>
            <a:pPr marL="457200" lvl="0" indent="-342900" algn="l" rtl="0">
              <a:spcBef>
                <a:spcPts val="0"/>
              </a:spcBef>
              <a:spcAft>
                <a:spcPts val="0"/>
              </a:spcAft>
              <a:buSzPts val="1800"/>
              <a:buChar char="●"/>
            </a:pPr>
            <a:r>
              <a:rPr lang="es" b="1"/>
              <a:t>Desplazamiento a la izquierda</a:t>
            </a:r>
            <a:r>
              <a:rPr lang="es"/>
              <a:t>: se utilizan 2 menores que &lt;&lt;  </a:t>
            </a:r>
            <a:endParaRPr/>
          </a:p>
          <a:p>
            <a:pPr marL="457200" lvl="0" indent="-342900" algn="l" rtl="0">
              <a:spcBef>
                <a:spcPts val="0"/>
              </a:spcBef>
              <a:spcAft>
                <a:spcPts val="0"/>
              </a:spcAft>
              <a:buSzPts val="1800"/>
              <a:buChar char="●"/>
            </a:pPr>
            <a:r>
              <a:rPr lang="es" b="1"/>
              <a:t>Desplazamiento a la derecha</a:t>
            </a:r>
            <a:r>
              <a:rPr lang="es"/>
              <a:t> (propagando el valor más significativo): se utilizan 2 mayores que &gt;&gt;  </a:t>
            </a:r>
            <a:endParaRPr/>
          </a:p>
          <a:p>
            <a:pPr marL="457200" lvl="0" indent="-342900" algn="l" rtl="0">
              <a:spcBef>
                <a:spcPts val="0"/>
              </a:spcBef>
              <a:spcAft>
                <a:spcPts val="0"/>
              </a:spcAft>
              <a:buSzPts val="1800"/>
              <a:buChar char="●"/>
            </a:pPr>
            <a:r>
              <a:rPr lang="es" b="1"/>
              <a:t>Desplazamiento a la derecha</a:t>
            </a:r>
            <a:r>
              <a:rPr lang="es"/>
              <a:t> (</a:t>
            </a:r>
            <a:r>
              <a:rPr lang="es" b="1"/>
              <a:t>rellenando de ceros</a:t>
            </a:r>
            <a:r>
              <a:rPr lang="es"/>
              <a:t>): se utilizan 3 mayores que &gt;&gt;&gt;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6"/>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Operadores relacionales</a:t>
            </a:r>
            <a:endParaRPr/>
          </a:p>
        </p:txBody>
      </p:sp>
      <p:sp>
        <p:nvSpPr>
          <p:cNvPr id="230" name="Google Shape;230;p36"/>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Los operadores relacionales son los utilizados para comparar dos expresiones: mayor que (&gt;), menor que (&lt;), mayor o igual que (&gt;=), menor o igual que (&lt;=), igual que (= =) y distinto de (!=). Ejemplos:</a:t>
            </a:r>
            <a:endParaRPr/>
          </a:p>
          <a:p>
            <a:pPr marL="0" lvl="0" indent="0" algn="l" rtl="0">
              <a:spcBef>
                <a:spcPts val="1600"/>
              </a:spcBef>
              <a:spcAft>
                <a:spcPts val="1600"/>
              </a:spcAft>
              <a:buNone/>
            </a:pPr>
            <a:endParaRPr/>
          </a:p>
        </p:txBody>
      </p:sp>
      <p:pic>
        <p:nvPicPr>
          <p:cNvPr id="231" name="Google Shape;231;p36"/>
          <p:cNvPicPr preferRelativeResize="0"/>
          <p:nvPr/>
        </p:nvPicPr>
        <p:blipFill rotWithShape="1">
          <a:blip r:embed="rId3">
            <a:alphaModFix/>
          </a:blip>
          <a:srcRect l="20232" t="44074" r="21763" b="23701"/>
          <a:stretch/>
        </p:blipFill>
        <p:spPr>
          <a:xfrm>
            <a:off x="994474" y="2673325"/>
            <a:ext cx="5303899" cy="16574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7"/>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Operadores matemáticos especiales</a:t>
            </a:r>
            <a:endParaRPr/>
          </a:p>
        </p:txBody>
      </p:sp>
      <p:sp>
        <p:nvSpPr>
          <p:cNvPr id="237" name="Google Shape;237;p37"/>
          <p:cNvSpPr txBox="1">
            <a:spLocks noGrp="1"/>
          </p:cNvSpPr>
          <p:nvPr>
            <p:ph type="body" idx="4294967295"/>
          </p:nvPr>
        </p:nvSpPr>
        <p:spPr>
          <a:xfrm>
            <a:off x="0" y="11541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Para realizar incrementos o decrementos (en una unidad) usamos los símbolos: </a:t>
            </a:r>
            <a:r>
              <a:rPr lang="es">
                <a:solidFill>
                  <a:srgbClr val="4A86E8"/>
                </a:solidFill>
              </a:rPr>
              <a:t>++</a:t>
            </a:r>
            <a:r>
              <a:rPr lang="es"/>
              <a:t> y </a:t>
            </a:r>
            <a:r>
              <a:rPr lang="es">
                <a:solidFill>
                  <a:srgbClr val="4A86E8"/>
                </a:solidFill>
              </a:rPr>
              <a:t>--</a:t>
            </a:r>
            <a:r>
              <a:rPr lang="es"/>
              <a:t> antes (prefijo) o después (sufijo) de la expresión que queramos incrementar o decrementar en uno:</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r>
              <a:rPr lang="es"/>
              <a:t>La diferencia entre incrementar/decrementar  antes o después con ’++’ ó ‘--’ podemos apreciarla con los siguientes ejemplos:   </a:t>
            </a:r>
            <a:r>
              <a:rPr lang="es" b="1"/>
              <a:t>alert(num++) / alert (++num)</a:t>
            </a:r>
            <a:r>
              <a:rPr lang="es"/>
              <a:t> </a:t>
            </a:r>
            <a:endParaRPr/>
          </a:p>
          <a:p>
            <a:pPr marL="0" lvl="0" indent="0" algn="l" rtl="0">
              <a:spcBef>
                <a:spcPts val="1600"/>
              </a:spcBef>
              <a:spcAft>
                <a:spcPts val="1600"/>
              </a:spcAft>
              <a:buNone/>
            </a:pPr>
            <a:endParaRPr/>
          </a:p>
        </p:txBody>
      </p:sp>
      <p:pic>
        <p:nvPicPr>
          <p:cNvPr id="238" name="Google Shape;238;p37"/>
          <p:cNvPicPr preferRelativeResize="0"/>
          <p:nvPr/>
        </p:nvPicPr>
        <p:blipFill rotWithShape="1">
          <a:blip r:embed="rId3">
            <a:alphaModFix/>
          </a:blip>
          <a:srcRect l="21869" t="33470" r="24686" b="38671"/>
          <a:stretch/>
        </p:blipFill>
        <p:spPr>
          <a:xfrm>
            <a:off x="962400" y="2406000"/>
            <a:ext cx="4886875" cy="14329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8"/>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Operadores matemáticos reducidos</a:t>
            </a:r>
            <a:endParaRPr/>
          </a:p>
        </p:txBody>
      </p:sp>
      <p:sp>
        <p:nvSpPr>
          <p:cNvPr id="244" name="Google Shape;244;p38"/>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algunos lenguajes de programación (JavaScript, PHP, Java, etc.) se permite reducir los operadores básicos (suma, resta, multiplicación, división y módulo) siempre y cuando el primero de los argumentos sea la variable origen y destino, veamos las opciones existentes junto con sus traducciones: </a:t>
            </a:r>
            <a:endParaRPr/>
          </a:p>
          <a:p>
            <a:pPr marL="0" lvl="0" indent="0" algn="l" rtl="0">
              <a:spcBef>
                <a:spcPts val="1600"/>
              </a:spcBef>
              <a:spcAft>
                <a:spcPts val="1600"/>
              </a:spcAft>
              <a:buNone/>
            </a:pPr>
            <a:endParaRPr/>
          </a:p>
        </p:txBody>
      </p:sp>
      <p:pic>
        <p:nvPicPr>
          <p:cNvPr id="245" name="Google Shape;245;p38"/>
          <p:cNvPicPr preferRelativeResize="0"/>
          <p:nvPr/>
        </p:nvPicPr>
        <p:blipFill rotWithShape="1">
          <a:blip r:embed="rId3">
            <a:alphaModFix/>
          </a:blip>
          <a:srcRect l="25377" t="33057" r="26442" b="29313"/>
          <a:stretch/>
        </p:blipFill>
        <p:spPr>
          <a:xfrm>
            <a:off x="1871325" y="2633375"/>
            <a:ext cx="4405675" cy="1935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9"/>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Orden de ejecución de los operadores</a:t>
            </a:r>
            <a:endParaRPr/>
          </a:p>
        </p:txBody>
      </p:sp>
      <p:pic>
        <p:nvPicPr>
          <p:cNvPr id="251" name="Google Shape;251;p39"/>
          <p:cNvPicPr preferRelativeResize="0"/>
          <p:nvPr/>
        </p:nvPicPr>
        <p:blipFill rotWithShape="1">
          <a:blip r:embed="rId3">
            <a:alphaModFix/>
          </a:blip>
          <a:srcRect l="19062" t="20790" r="20712" b="10188"/>
          <a:stretch/>
        </p:blipFill>
        <p:spPr>
          <a:xfrm>
            <a:off x="652300" y="1124275"/>
            <a:ext cx="5507074" cy="3550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0"/>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Caracteres especiales en JavaScript</a:t>
            </a:r>
            <a:endParaRPr/>
          </a:p>
        </p:txBody>
      </p:sp>
      <p:sp>
        <p:nvSpPr>
          <p:cNvPr id="257" name="Google Shape;257;p40"/>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los lenguajes de programación existen caracteres que, o bien no se pueden representar, o bien son caracteres especiales que tienen un significado especial. Esto nos obligaría a no poder utilizarlos si no tuviéramos una forma de representarlos. Estos son:</a:t>
            </a:r>
            <a:endParaRPr/>
          </a:p>
          <a:p>
            <a:pPr marL="0" lvl="0" indent="0" algn="l" rtl="0">
              <a:spcBef>
                <a:spcPts val="1600"/>
              </a:spcBef>
              <a:spcAft>
                <a:spcPts val="1600"/>
              </a:spcAft>
              <a:buNone/>
            </a:pPr>
            <a:endParaRPr/>
          </a:p>
        </p:txBody>
      </p:sp>
      <p:pic>
        <p:nvPicPr>
          <p:cNvPr id="258" name="Google Shape;258;p40"/>
          <p:cNvPicPr preferRelativeResize="0"/>
          <p:nvPr/>
        </p:nvPicPr>
        <p:blipFill rotWithShape="1">
          <a:blip r:embed="rId3">
            <a:alphaModFix/>
          </a:blip>
          <a:srcRect l="17422" t="28320" r="19662" b="36995"/>
          <a:stretch/>
        </p:blipFill>
        <p:spPr>
          <a:xfrm>
            <a:off x="887525" y="2876525"/>
            <a:ext cx="5753026" cy="16923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1"/>
          <p:cNvSpPr txBox="1">
            <a:spLocks noGrp="1"/>
          </p:cNvSpPr>
          <p:nvPr>
            <p:ph type="title" idx="4294967295"/>
          </p:nvPr>
        </p:nvSpPr>
        <p:spPr>
          <a:xfrm>
            <a:off x="0" y="409575"/>
            <a:ext cx="8521700" cy="608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Bibliografía</a:t>
            </a:r>
            <a:endParaRPr/>
          </a:p>
        </p:txBody>
      </p:sp>
      <p:sp>
        <p:nvSpPr>
          <p:cNvPr id="264" name="Google Shape;264;p41"/>
          <p:cNvSpPr txBox="1">
            <a:spLocks noGrp="1"/>
          </p:cNvSpPr>
          <p:nvPr>
            <p:ph type="body" idx="4294967295"/>
          </p:nvPr>
        </p:nvSpPr>
        <p:spPr>
          <a:xfrm>
            <a:off x="0" y="1230313"/>
            <a:ext cx="8521700" cy="333851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u="sng">
                <a:solidFill>
                  <a:schemeClr val="hlink"/>
                </a:solidFill>
                <a:hlinkClick r:id="rId3"/>
              </a:rPr>
              <a:t>LibrosWeb</a:t>
            </a:r>
            <a:r>
              <a:rPr lang="es"/>
              <a:t>  </a:t>
            </a:r>
            <a:endParaRPr/>
          </a:p>
          <a:p>
            <a:pPr marL="457200" lvl="0" indent="-342900" algn="l" rtl="0">
              <a:spcBef>
                <a:spcPts val="0"/>
              </a:spcBef>
              <a:spcAft>
                <a:spcPts val="0"/>
              </a:spcAft>
              <a:buSzPts val="1800"/>
              <a:buChar char="●"/>
            </a:pPr>
            <a:r>
              <a:rPr lang="es" u="sng">
                <a:solidFill>
                  <a:schemeClr val="hlink"/>
                </a:solidFill>
                <a:hlinkClick r:id="rId4"/>
              </a:rPr>
              <a:t>W3Schools  </a:t>
            </a:r>
            <a:endParaRPr/>
          </a:p>
          <a:p>
            <a:pPr marL="457200" lvl="0" indent="-342900" algn="l" rtl="0">
              <a:spcBef>
                <a:spcPts val="0"/>
              </a:spcBef>
              <a:spcAft>
                <a:spcPts val="0"/>
              </a:spcAft>
              <a:buSzPts val="1800"/>
              <a:buChar char="●"/>
            </a:pPr>
            <a:r>
              <a:rPr lang="es" u="sng">
                <a:solidFill>
                  <a:schemeClr val="hlink"/>
                </a:solidFill>
                <a:hlinkClick r:id="rId5"/>
              </a:rPr>
              <a:t>Artículo sobre JavaScript de la wikipedia</a:t>
            </a:r>
            <a:r>
              <a:rPr lang="es"/>
              <a:t>  </a:t>
            </a:r>
            <a:endParaRPr/>
          </a:p>
          <a:p>
            <a:pPr marL="457200" lvl="0" indent="-342900" algn="l" rtl="0">
              <a:spcBef>
                <a:spcPts val="0"/>
              </a:spcBef>
              <a:spcAft>
                <a:spcPts val="0"/>
              </a:spcAft>
              <a:buSzPts val="1800"/>
              <a:buChar char="●"/>
            </a:pPr>
            <a:r>
              <a:rPr lang="es" u="sng">
                <a:solidFill>
                  <a:schemeClr val="hlink"/>
                </a:solidFill>
                <a:hlinkClick r:id="rId6"/>
              </a:rPr>
              <a:t>Manual de desarrollo de la fundación Mozilla</a:t>
            </a:r>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1940</Words>
  <Application>Microsoft Office PowerPoint</Application>
  <PresentationFormat>Presentación en pantalla (16:9)</PresentationFormat>
  <Paragraphs>173</Paragraphs>
  <Slides>29</Slides>
  <Notes>29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Courier New</vt:lpstr>
      <vt:lpstr>Arial</vt:lpstr>
      <vt:lpstr>Roboto</vt:lpstr>
      <vt:lpstr>Geometric</vt:lpstr>
      <vt:lpstr>TEMA 1. Introducción a JavaScript</vt:lpstr>
      <vt:lpstr>Índice :</vt:lpstr>
      <vt:lpstr>Índice :</vt:lpstr>
      <vt:lpstr>¿Qué es un Script?</vt:lpstr>
      <vt:lpstr>Presentación de PowerPoint</vt:lpstr>
      <vt:lpstr>Presentación de PowerPoint</vt:lpstr>
      <vt:lpstr>¿Cómo usar JavaScript?</vt:lpstr>
      <vt:lpstr>Presentación de PowerPoint</vt:lpstr>
      <vt:lpstr>Presentación de PowerPoint</vt:lpstr>
      <vt:lpstr>Presentación de PowerPoint</vt:lpstr>
      <vt:lpstr>Palabras reservadas en JavaScript.</vt:lpstr>
      <vt:lpstr>Tipos usados en JavaScript.</vt:lpstr>
      <vt:lpstr>Presentación de PowerPoint</vt:lpstr>
      <vt:lpstr>Presentación de PowerPoint</vt:lpstr>
      <vt:lpstr>Comentarios</vt:lpstr>
      <vt:lpstr>Funciones básicas: alert</vt:lpstr>
      <vt:lpstr>Funciones básicas: confirm</vt:lpstr>
      <vt:lpstr>Funciones básicas: prompt </vt:lpstr>
      <vt:lpstr>Variables y Constantes</vt:lpstr>
      <vt:lpstr>Operadores de asignación</vt:lpstr>
      <vt:lpstr>Operadores matemáticos</vt:lpstr>
      <vt:lpstr>Operadores lógicos o booleanos</vt:lpstr>
      <vt:lpstr>Presentación de PowerPoint</vt:lpstr>
      <vt:lpstr>Operadores relacionales</vt:lpstr>
      <vt:lpstr>Operadores matemáticos especiales</vt:lpstr>
      <vt:lpstr>Operadores matemáticos reducidos</vt:lpstr>
      <vt:lpstr>Orden de ejecución de los operadores</vt:lpstr>
      <vt:lpstr>Caracteres especiales en JavaScript</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Francisco  Jose</cp:lastModifiedBy>
  <cp:revision>5</cp:revision>
  <dcterms:modified xsi:type="dcterms:W3CDTF">2026-09-18T09:56:00Z</dcterms:modified>
</cp:coreProperties>
</file>