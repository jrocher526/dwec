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01bf07c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01bf07c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64b20d151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64b20d151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64b20d151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64b20d151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63167aa64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63167aa64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631fe0de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631fe0de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631fe0de9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631fe0de9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31fe0de9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31fe0de9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31fe0de9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31fe0de9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631fe0de9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631fe0de9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60437a1184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60437a1184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4497976"/>
            <a:ext cx="9144002" cy="645618"/>
            <a:chOff x="0" y="4497976"/>
            <a:chExt cx="9144002" cy="645618"/>
          </a:xfrm>
        </p:grpSpPr>
        <p:sp>
          <p:nvSpPr>
            <p:cNvPr id="30" name="Google Shape;30;p4"/>
            <p:cNvSpPr/>
            <p:nvPr/>
          </p:nvSpPr>
          <p:spPr>
            <a:xfrm>
              <a:off x="8154902" y="4499906"/>
              <a:ext cx="989100" cy="391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73" y="4499906"/>
              <a:ext cx="989100" cy="391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85" y="4499906"/>
              <a:ext cx="989100" cy="39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47" y="4497976"/>
              <a:ext cx="989100" cy="3936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169525" y="4826500"/>
            <a:ext cx="36408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CFE2F3"/>
                </a:solidFill>
                <a:latin typeface="Roboto"/>
                <a:ea typeface="Roboto"/>
                <a:cs typeface="Roboto"/>
                <a:sym typeface="Roboto"/>
              </a:rPr>
              <a:t>Profesor: Juan J. Gallego</a:t>
            </a:r>
            <a:endParaRPr sz="1000">
              <a:solidFill>
                <a:srgbClr val="CFE2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3" name="Google Shape;53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" name="Google Shape;6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2" name="Google Shape;72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FFFFFF"/>
                </a:solidFill>
              </a:rPr>
              <a:t>TEMA 4. Control de errores. Depuración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421863" y="38720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dirty="0">
                <a:solidFill>
                  <a:srgbClr val="FFE599"/>
                </a:solidFill>
              </a:rPr>
              <a:t>Desarrollo Web en Entorno Cliente.</a:t>
            </a:r>
            <a:endParaRPr sz="1400" dirty="0">
              <a:solidFill>
                <a:srgbClr val="FFE59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E59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E5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 idx="4294967295"/>
          </p:nvPr>
        </p:nvSpPr>
        <p:spPr>
          <a:xfrm>
            <a:off x="0" y="409575"/>
            <a:ext cx="8521700" cy="608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 :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4294967295"/>
          </p:nvPr>
        </p:nvSpPr>
        <p:spPr>
          <a:xfrm>
            <a:off x="0" y="1066800"/>
            <a:ext cx="8521700" cy="33385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Captura y lanzamiento de errores.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Depuración.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Bibliografía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 idx="4294967295"/>
          </p:nvPr>
        </p:nvSpPr>
        <p:spPr>
          <a:xfrm>
            <a:off x="0" y="409575"/>
            <a:ext cx="8521700" cy="608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Captura y lanzamientos de errores.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4294967295"/>
          </p:nvPr>
        </p:nvSpPr>
        <p:spPr>
          <a:xfrm>
            <a:off x="0" y="1230313"/>
            <a:ext cx="8521700" cy="3338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Podemos usar el conjunto de palabras claves </a:t>
            </a:r>
            <a:r>
              <a:rPr lang="es" b="1"/>
              <a:t>try</a:t>
            </a:r>
            <a:r>
              <a:rPr lang="es"/>
              <a:t>,</a:t>
            </a:r>
            <a:r>
              <a:rPr lang="es" b="1"/>
              <a:t>catch</a:t>
            </a:r>
            <a:r>
              <a:rPr lang="es"/>
              <a:t>,</a:t>
            </a:r>
            <a:r>
              <a:rPr lang="es" b="1"/>
              <a:t>throw </a:t>
            </a:r>
            <a:r>
              <a:rPr lang="es"/>
              <a:t>y </a:t>
            </a:r>
            <a:r>
              <a:rPr lang="es" b="1"/>
              <a:t>finally</a:t>
            </a:r>
            <a:r>
              <a:rPr lang="es"/>
              <a:t>, para probar un bloque de código en busca de errores y controlarlo. </a:t>
            </a: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try</a:t>
            </a:r>
            <a:r>
              <a:rPr lang="es"/>
              <a:t>, contiene el código a probar.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catch</a:t>
            </a:r>
            <a:r>
              <a:rPr lang="es"/>
              <a:t>, ejecuta el código en caso de darse alguna excepción o error.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throw, </a:t>
            </a:r>
            <a:r>
              <a:rPr lang="es"/>
              <a:t>puede generar excepciones o errores personalizados (opcional) 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b="1"/>
              <a:t>finally</a:t>
            </a:r>
            <a:r>
              <a:rPr lang="es"/>
              <a:t>, ejecuta el código independientemente a que se den errores (opcional).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(Ver sintaxis y ejemplos a continuación)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body" idx="4294967295"/>
          </p:nvPr>
        </p:nvSpPr>
        <p:spPr>
          <a:xfrm>
            <a:off x="0" y="311150"/>
            <a:ext cx="8521700" cy="4257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 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3311850" y="310750"/>
            <a:ext cx="15339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← El siguiente ejemplo devuelve un error al no estar definida la función.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El parámetro de error “</a:t>
            </a:r>
            <a:r>
              <a:rPr lang="es" sz="1200" b="1">
                <a:latin typeface="Roboto"/>
                <a:ea typeface="Roboto"/>
                <a:cs typeface="Roboto"/>
                <a:sym typeface="Roboto"/>
              </a:rPr>
              <a:t>err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” , se define como un objeto con dos propiedades : </a:t>
            </a:r>
            <a:r>
              <a:rPr lang="es" sz="1200" b="1">
                <a:latin typeface="Roboto"/>
                <a:ea typeface="Roboto"/>
                <a:cs typeface="Roboto"/>
                <a:sym typeface="Roboto"/>
              </a:rPr>
              <a:t>name 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y </a:t>
            </a:r>
            <a:r>
              <a:rPr lang="es" sz="1200" b="1">
                <a:latin typeface="Roboto"/>
                <a:ea typeface="Roboto"/>
                <a:cs typeface="Roboto"/>
                <a:sym typeface="Roboto"/>
              </a:rPr>
              <a:t>message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311700" y="310750"/>
            <a:ext cx="3000000" cy="418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"Hola"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noExisteFuncion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"Adiós"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4845825" y="181925"/>
            <a:ext cx="4275600" cy="3551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"Introduzca un número : 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"está vacío"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isNaN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"no es un número"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"Se ha introducido el número: 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"El valor 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err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s" sz="105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finally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" sz="105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"Siempre se ejecuta"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lang="es" sz="1050">
                <a:solidFill>
                  <a:srgbClr val="808080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80808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311700" y="2596750"/>
            <a:ext cx="1533900" cy="16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→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Roboto"/>
                <a:ea typeface="Roboto"/>
                <a:cs typeface="Roboto"/>
                <a:sym typeface="Roboto"/>
              </a:rPr>
              <a:t>El siguiente ejemplo muestra cómo generar un error personalizado con </a:t>
            </a:r>
            <a:r>
              <a:rPr lang="es" sz="1200" b="1">
                <a:latin typeface="Roboto"/>
                <a:ea typeface="Roboto"/>
                <a:cs typeface="Roboto"/>
                <a:sym typeface="Roboto"/>
              </a:rPr>
              <a:t>throw 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y el uso de </a:t>
            </a:r>
            <a:r>
              <a:rPr lang="es" sz="1200" b="1">
                <a:latin typeface="Roboto"/>
                <a:ea typeface="Roboto"/>
                <a:cs typeface="Roboto"/>
                <a:sym typeface="Roboto"/>
              </a:rPr>
              <a:t>finally</a:t>
            </a:r>
            <a:r>
              <a:rPr lang="es" sz="1200"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 idx="4294967295"/>
          </p:nvPr>
        </p:nvSpPr>
        <p:spPr>
          <a:xfrm>
            <a:off x="0" y="409575"/>
            <a:ext cx="8521700" cy="608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Tipos de errores nativos</a:t>
            </a:r>
            <a:endParaRPr sz="2400"/>
          </a:p>
        </p:txBody>
      </p:sp>
      <p:pic>
        <p:nvPicPr>
          <p:cNvPr id="114" name="Google Shape;114;p17"/>
          <p:cNvPicPr preferRelativeResize="0"/>
          <p:nvPr/>
        </p:nvPicPr>
        <p:blipFill rotWithShape="1">
          <a:blip r:embed="rId3">
            <a:alphaModFix/>
          </a:blip>
          <a:srcRect l="22500" t="25626" r="23007" b="20413"/>
          <a:stretch/>
        </p:blipFill>
        <p:spPr>
          <a:xfrm>
            <a:off x="1085850" y="925700"/>
            <a:ext cx="6340075" cy="3531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 idx="4294967295"/>
          </p:nvPr>
        </p:nvSpPr>
        <p:spPr>
          <a:xfrm>
            <a:off x="0" y="409575"/>
            <a:ext cx="8521700" cy="608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Depuración.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294967295"/>
          </p:nvPr>
        </p:nvSpPr>
        <p:spPr>
          <a:xfrm>
            <a:off x="0" y="1230313"/>
            <a:ext cx="8521700" cy="36242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ya sabemos, al codificar un programa en JS podemos obtener errores de difícil detección. Para la búsqueda de estos errores existen varios métodos.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1"/>
                </a:solidFill>
              </a:rPr>
              <a:t>Método  console.log ( )</a:t>
            </a: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La mayoría de los navegadores admiten el envío de valores a la ventana de depuración del navegador. Esto permite comprobar si esos valores son los esperados. Sintaxis:  </a:t>
            </a:r>
            <a:r>
              <a:rPr lang="es" b="1"/>
              <a:t>console.log ( mensaje )</a:t>
            </a:r>
            <a:endParaRPr b="1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Ej: 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1746650" y="3814800"/>
            <a:ext cx="3000000" cy="750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s" sz="10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05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( </a:t>
            </a:r>
            <a:r>
              <a:rPr lang="es" sz="105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" sz="10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0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250675" y="3771925"/>
            <a:ext cx="31398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"/>
                <a:ea typeface="Roboto"/>
                <a:cs typeface="Roboto"/>
                <a:sym typeface="Roboto"/>
              </a:rPr>
              <a:t>Pulsamos F12 en el navegador y nos vamos a la pestaña “</a:t>
            </a:r>
            <a:r>
              <a:rPr lang="es" b="1">
                <a:latin typeface="Roboto"/>
                <a:ea typeface="Roboto"/>
                <a:cs typeface="Roboto"/>
                <a:sym typeface="Roboto"/>
              </a:rPr>
              <a:t>Console</a:t>
            </a:r>
            <a:r>
              <a:rPr lang="es">
                <a:latin typeface="Roboto"/>
                <a:ea typeface="Roboto"/>
                <a:cs typeface="Roboto"/>
                <a:sym typeface="Roboto"/>
              </a:rPr>
              <a:t>”. Aparece el mensaje enviado...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 idx="4294967295"/>
          </p:nvPr>
        </p:nvSpPr>
        <p:spPr>
          <a:xfrm>
            <a:off x="0" y="28575"/>
            <a:ext cx="8521700" cy="608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 través del depurador del navegador.</a:t>
            </a:r>
            <a:endParaRPr sz="2400"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4294967295"/>
          </p:nvPr>
        </p:nvSpPr>
        <p:spPr>
          <a:xfrm>
            <a:off x="0" y="422275"/>
            <a:ext cx="8521700" cy="3748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Por lo general los principales navegadores poseen una serie de herramientas para la depuración.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dirty="0"/>
              <a:t>En este manual vamos a tomar como referencia las herramientas de depuración del Chrome.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" dirty="0"/>
              <a:t>Para depurar un programa en JS con el Chrome podemos seguir los siguientes pasos:</a:t>
            </a: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 dirty="0"/>
              <a:t>Abrimos o ejecutamos el archivo HTML en el navegador.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 dirty="0"/>
              <a:t>Pulsamos F12 para mostrar las herramientas de desarrollo y depuración.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body" idx="4294967295"/>
          </p:nvPr>
        </p:nvSpPr>
        <p:spPr>
          <a:xfrm>
            <a:off x="0" y="331788"/>
            <a:ext cx="8521700" cy="4522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s"/>
              <a:t>Seleccionamos la pestaña “</a:t>
            </a:r>
            <a:r>
              <a:rPr lang="es" b="1"/>
              <a:t>Sources/Fuentes”</a:t>
            </a:r>
            <a:r>
              <a:rPr lang="es"/>
              <a:t>. Podemos ver el código de nuestro archivo.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s"/>
              <a:t>Pulsamos                                 o F8 para entrar en modo pausa en la ejecución.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s"/>
              <a:t>Refrescamos con F5 la página para ejecutar de nuevo, esta vez en modo pausa. 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s"/>
              <a:t>Avanzamos con                                   o con F10 para recorrer las instrucciones sin entrar dentro de las funciones.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s"/>
              <a:t>Avanzamos con                                   o con F11 para recorrer las instrucciones una a una incluso dentro de cada función.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s"/>
              <a:t>Si pulsamos                                   o Shift + F11 salimos de la actual función y se ejecuta la siguiente línea de código.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646" y="1112046"/>
            <a:ext cx="1712100" cy="47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8197" y="2343147"/>
            <a:ext cx="1719526" cy="4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1825" y="3213488"/>
            <a:ext cx="1712271" cy="4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68200" y="4008838"/>
            <a:ext cx="1712271" cy="4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body" idx="4294967295"/>
          </p:nvPr>
        </p:nvSpPr>
        <p:spPr>
          <a:xfrm>
            <a:off x="0" y="277813"/>
            <a:ext cx="8521700" cy="42910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s"/>
              <a:t>Si pulsamos                                   o F9,  al igual que con F11 recorremos cada instrucción incluso dentro de las funciones pero añadiendo un comportamiento especial en funciones asíncronas (recorre las líneas de código cronológicamente).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s"/>
              <a:t>Para entrar de nuevo en modo normal (sin depuración), pulsaremos F8 estando en una línea de código de forma pausada.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Podemos crear o eliminar </a:t>
            </a:r>
            <a:r>
              <a:rPr lang="es" b="1"/>
              <a:t>puntos de interrupción</a:t>
            </a:r>
            <a:r>
              <a:rPr lang="es"/>
              <a:t> haciendo click en la línea de código correspondiente, o añadiendo la instrucción “</a:t>
            </a:r>
            <a:r>
              <a:rPr lang="es" b="1"/>
              <a:t>debugger ; </a:t>
            </a:r>
            <a:r>
              <a:rPr lang="es"/>
              <a:t>“  , al ejecutar el código hará una pausa permitiéndonos analizar los valores de las variables de dos formas, una colocando el puntero del ratón encima de la variable, y otra, añadiendo la variable en el apartado “</a:t>
            </a:r>
            <a:r>
              <a:rPr lang="es" b="1"/>
              <a:t>watch</a:t>
            </a:r>
            <a:r>
              <a:rPr lang="es"/>
              <a:t>” del depurador.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siguiente botón activa o desactiva los puntos de interrupción.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8613" y="278588"/>
            <a:ext cx="1712271" cy="4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0288" y="4375338"/>
            <a:ext cx="1712271" cy="4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body" idx="4294967295"/>
          </p:nvPr>
        </p:nvSpPr>
        <p:spPr>
          <a:xfrm>
            <a:off x="0" y="288925"/>
            <a:ext cx="8521700" cy="42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activar una pausa siempre que se de un error, con el botón :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0613" y="270263"/>
            <a:ext cx="1712271" cy="4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 rotWithShape="1">
          <a:blip r:embed="rId4">
            <a:alphaModFix/>
          </a:blip>
          <a:srcRect t="11408" b="17158"/>
          <a:stretch/>
        </p:blipFill>
        <p:spPr>
          <a:xfrm>
            <a:off x="76200" y="815575"/>
            <a:ext cx="8936827" cy="36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/>
        </p:nvSpPr>
        <p:spPr>
          <a:xfrm>
            <a:off x="2542900" y="4110200"/>
            <a:ext cx="12684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Salida consola</a:t>
            </a:r>
            <a:endParaRPr sz="1000">
              <a:highlight>
                <a:srgbClr val="00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76200" y="1041075"/>
            <a:ext cx="12684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Salida html</a:t>
            </a:r>
            <a:endParaRPr sz="1000">
              <a:highlight>
                <a:srgbClr val="00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2700150" y="2018300"/>
            <a:ext cx="9648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Punto de interrupción</a:t>
            </a:r>
            <a:endParaRPr sz="1000">
              <a:highlight>
                <a:srgbClr val="00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" name="Google Shape;155;p22"/>
          <p:cNvCxnSpPr>
            <a:endCxn id="154" idx="3"/>
          </p:cNvCxnSpPr>
          <p:nvPr/>
        </p:nvCxnSpPr>
        <p:spPr>
          <a:xfrm rot="10800000" flipH="1">
            <a:off x="3454950" y="2165300"/>
            <a:ext cx="210000" cy="4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6" name="Google Shape;156;p22"/>
          <p:cNvCxnSpPr/>
          <p:nvPr/>
        </p:nvCxnSpPr>
        <p:spPr>
          <a:xfrm rot="10800000">
            <a:off x="295775" y="1019450"/>
            <a:ext cx="93300" cy="8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157;p22"/>
          <p:cNvCxnSpPr/>
          <p:nvPr/>
        </p:nvCxnSpPr>
        <p:spPr>
          <a:xfrm rot="10800000">
            <a:off x="2350000" y="4209800"/>
            <a:ext cx="192900" cy="4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" name="Google Shape;158;p22"/>
          <p:cNvSpPr txBox="1"/>
          <p:nvPr/>
        </p:nvSpPr>
        <p:spPr>
          <a:xfrm>
            <a:off x="5743975" y="1061225"/>
            <a:ext cx="12684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Panel de avance</a:t>
            </a:r>
            <a:endParaRPr sz="1000">
              <a:highlight>
                <a:srgbClr val="00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rot="10800000" flipH="1">
            <a:off x="6777600" y="1167100"/>
            <a:ext cx="451200" cy="4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0" name="Google Shape;160;p22"/>
          <p:cNvSpPr txBox="1"/>
          <p:nvPr/>
        </p:nvSpPr>
        <p:spPr>
          <a:xfrm>
            <a:off x="6201175" y="1670825"/>
            <a:ext cx="10680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Alcance de las variables</a:t>
            </a:r>
            <a:endParaRPr sz="1000">
              <a:highlight>
                <a:srgbClr val="00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" name="Google Shape;161;p22"/>
          <p:cNvCxnSpPr/>
          <p:nvPr/>
        </p:nvCxnSpPr>
        <p:spPr>
          <a:xfrm>
            <a:off x="6887575" y="1964825"/>
            <a:ext cx="381600" cy="15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" name="Google Shape;162;p22"/>
          <p:cNvSpPr/>
          <p:nvPr/>
        </p:nvSpPr>
        <p:spPr>
          <a:xfrm>
            <a:off x="7252250" y="902650"/>
            <a:ext cx="1229400" cy="264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 txBox="1"/>
          <p:nvPr/>
        </p:nvSpPr>
        <p:spPr>
          <a:xfrm>
            <a:off x="7822925" y="1338125"/>
            <a:ext cx="8688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highlight>
                  <a:srgbClr val="00FFFF"/>
                </a:highlight>
                <a:latin typeface="Roboto"/>
                <a:ea typeface="Roboto"/>
                <a:cs typeface="Roboto"/>
                <a:sym typeface="Roboto"/>
              </a:rPr>
              <a:t>Variables analizadas</a:t>
            </a:r>
            <a:endParaRPr sz="1000">
              <a:highlight>
                <a:srgbClr val="00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" name="Google Shape;164;p22"/>
          <p:cNvCxnSpPr/>
          <p:nvPr/>
        </p:nvCxnSpPr>
        <p:spPr>
          <a:xfrm rot="10800000">
            <a:off x="7610300" y="1587275"/>
            <a:ext cx="210000" cy="5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5" name="Google Shape;165;p22"/>
          <p:cNvSpPr txBox="1"/>
          <p:nvPr/>
        </p:nvSpPr>
        <p:spPr>
          <a:xfrm>
            <a:off x="311700" y="4344276"/>
            <a:ext cx="702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NOTA: Para desactivar la entrada del depurador en archivos anónimos (VMxx) ir a </a:t>
            </a:r>
            <a:endParaRPr sz="1000"/>
          </a:p>
        </p:txBody>
      </p:sp>
      <p:sp>
        <p:nvSpPr>
          <p:cNvPr id="166" name="Google Shape;166;p22"/>
          <p:cNvSpPr txBox="1"/>
          <p:nvPr/>
        </p:nvSpPr>
        <p:spPr>
          <a:xfrm>
            <a:off x="334276" y="4546625"/>
            <a:ext cx="7488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Configuración del depurador      / Lista de ignorados / Activar casilla “Secuen..Anónimas</a:t>
            </a:r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5539" y="4611788"/>
            <a:ext cx="243758" cy="2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 idx="4294967295"/>
          </p:nvPr>
        </p:nvSpPr>
        <p:spPr>
          <a:xfrm>
            <a:off x="0" y="409575"/>
            <a:ext cx="8521700" cy="608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Bibliografía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4294967295"/>
          </p:nvPr>
        </p:nvSpPr>
        <p:spPr>
          <a:xfrm>
            <a:off x="0" y="1230313"/>
            <a:ext cx="8521700" cy="3338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LibrosWeb 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W3Schools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Developer Mozilla Docs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813</Words>
  <Application>Microsoft Office PowerPoint</Application>
  <PresentationFormat>Presentación en pantalla (16:9)</PresentationFormat>
  <Paragraphs>89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Courier New</vt:lpstr>
      <vt:lpstr>Roboto</vt:lpstr>
      <vt:lpstr>Arial</vt:lpstr>
      <vt:lpstr>Geometric</vt:lpstr>
      <vt:lpstr>TEMA 4. Control de errores. Depuración</vt:lpstr>
      <vt:lpstr>Índice :</vt:lpstr>
      <vt:lpstr>Captura y lanzamientos de errores.</vt:lpstr>
      <vt:lpstr>Presentación de PowerPoint</vt:lpstr>
      <vt:lpstr>Tipos de errores nativos</vt:lpstr>
      <vt:lpstr>Depuración.</vt:lpstr>
      <vt:lpstr>A través del depurador del navegador.</vt:lpstr>
      <vt:lpstr>Presentación de PowerPoint</vt:lpstr>
      <vt:lpstr>Presentación de PowerPoint</vt:lpstr>
      <vt:lpstr>Presentación de PowerPoint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Francisco  Jose</cp:lastModifiedBy>
  <cp:revision>1</cp:revision>
  <dcterms:modified xsi:type="dcterms:W3CDTF">2026-10-02T08:14:10Z</dcterms:modified>
</cp:coreProperties>
</file>